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182880"/>
            <a:ext cx="5943600" cy="329184"/>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STRATEGIC GOAL, EXECUTIVE CONTEXT &amp; FINANCIAL DERIVATION</a:t>
            </a:r>
          </a:p>
        </p:txBody>
      </p:sp>
      <p:sp>
        <p:nvSpPr>
          <p:cNvPr id="3" name="TextBox 2"/>
          <p:cNvSpPr txBox="1"/>
          <p:nvPr/>
        </p:nvSpPr>
        <p:spPr>
          <a:xfrm>
            <a:off x="640080" y="585216"/>
            <a:ext cx="9601200" cy="777240"/>
          </a:xfrm>
          <a:prstGeom prst="rect">
            <a:avLst/>
          </a:prstGeom>
          <a:noFill/>
        </p:spPr>
        <p:txBody>
          <a:bodyPr wrap="square" lIns="0" rIns="0" tIns="0" bIns="0">
            <a:spAutoFit/>
          </a:bodyPr>
          <a:lstStyle/>
          <a:p>
            <a:pPr>
              <a:spcAft>
                <a:spcPts val="200"/>
              </a:spcAft>
              <a:defRPr sz="1350" b="1">
                <a:solidFill>
                  <a:srgbClr val="282C3F"/>
                </a:solidFill>
              </a:defRPr>
            </a:pPr>
            <a:r>
              <a:t>1. Myntra Expands Blended Gross Margin (+300bps) by Converting Daily Wishlist Habits into Recurring Non-Discounted Buying</a:t>
            </a:r>
          </a:p>
          <a:p>
            <a:pPr>
              <a:spcBef>
                <a:spcPts val="200"/>
              </a:spcBef>
              <a:spcAft>
                <a:spcPts val="400"/>
              </a:spcAft>
              <a:defRPr sz="1000" b="1">
                <a:solidFill>
                  <a:srgbClr val="FF3F6C"/>
                </a:solidFill>
              </a:defRPr>
            </a:pPr>
            <a:r>
              <a:t>Funding purchase confidence through proprietary spec clarity and AI styling to bypass traditional P&amp;L discount subsidies.</a:t>
            </a:r>
          </a:p>
        </p:txBody>
      </p:sp>
      <p:sp>
        <p:nvSpPr>
          <p:cNvPr id="4" name="TextBox 3"/>
          <p:cNvSpPr txBox="1"/>
          <p:nvPr/>
        </p:nvSpPr>
        <p:spPr>
          <a:xfrm>
            <a:off x="10424160" y="585216"/>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444752"/>
            <a:ext cx="3931920" cy="379476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1536192"/>
            <a:ext cx="3712464" cy="3611880"/>
          </a:xfrm>
          <a:prstGeom prst="rect">
            <a:avLst/>
          </a:prstGeom>
          <a:noFill/>
        </p:spPr>
        <p:txBody>
          <a:bodyPr wrap="square" lIns="73152" rIns="73152" tIns="54864" bIns="54864">
            <a:spAutoFit/>
          </a:bodyPr>
          <a:lstStyle/>
          <a:p>
            <a:pPr>
              <a:spcAft>
                <a:spcPts val="600"/>
              </a:spcAft>
              <a:defRPr sz="1100" b="1">
                <a:solidFill>
                  <a:srgbClr val="FF3F6C"/>
                </a:solidFill>
              </a:defRPr>
            </a:pPr>
            <a:r>
              <a:t>🎯 🎯 STRATEGIC GOAL &amp; SCOPE</a:t>
            </a:r>
          </a:p>
          <a:p>
            <a:pPr marL="203200" indent="-152400">
              <a:lnSpc>
                <a:spcPct val="115000"/>
              </a:lnSpc>
              <a:spcBef>
                <a:spcPts val="200"/>
              </a:spcBef>
              <a:spcAft>
                <a:spcPts val="400"/>
              </a:spcAft>
              <a:defRPr sz="950"/>
            </a:pPr>
            <a:r>
              <a:rPr b="1">
                <a:solidFill>
                  <a:srgbClr val="FF3F6C"/>
                </a:solidFill>
              </a:rPr>
              <a:t>• </a:t>
            </a:r>
            <a:r>
              <a:rPr b="1">
                <a:solidFill>
                  <a:srgbClr val="282C3F"/>
                </a:solidFill>
              </a:rPr>
              <a:t>Primary Objective: </a:t>
            </a:r>
            <a:r>
              <a:rPr>
                <a:solidFill>
                  <a:srgbClr val="282C3F"/>
                </a:solidFill>
              </a:rPr>
              <a:t>Drive non-discounted wishlist-to-bag conversion from 7.5% to 10.5% (+300bps) in 12 months [Myntra internal analytics, est.].</a:t>
            </a:r>
          </a:p>
          <a:p>
            <a:pPr marL="203200" indent="-152400">
              <a:lnSpc>
                <a:spcPct val="115000"/>
              </a:lnSpc>
              <a:spcBef>
                <a:spcPts val="200"/>
              </a:spcBef>
              <a:spcAft>
                <a:spcPts val="400"/>
              </a:spcAft>
              <a:defRPr sz="950"/>
            </a:pPr>
            <a:r>
              <a:rPr b="1">
                <a:solidFill>
                  <a:srgbClr val="FF3F6C"/>
                </a:solidFill>
              </a:rPr>
              <a:t>• </a:t>
            </a:r>
            <a:r>
              <a:rPr b="1">
                <a:solidFill>
                  <a:srgbClr val="282C3F"/>
                </a:solidFill>
              </a:rPr>
              <a:t>Shortlist Inertia: </a:t>
            </a:r>
            <a:r>
              <a:rPr>
                <a:solidFill>
                  <a:srgbClr val="282C3F"/>
                </a:solidFill>
              </a:rPr>
              <a:t>66.7% of active wishlists stall into inactive graveyards with 38+ saved items per user.</a:t>
            </a:r>
          </a:p>
          <a:p>
            <a:pPr marL="203200" indent="-152400">
              <a:lnSpc>
                <a:spcPct val="115000"/>
              </a:lnSpc>
              <a:spcBef>
                <a:spcPts val="200"/>
              </a:spcBef>
              <a:spcAft>
                <a:spcPts val="400"/>
              </a:spcAft>
              <a:defRPr sz="950"/>
            </a:pPr>
            <a:r>
              <a:rPr b="1">
                <a:solidFill>
                  <a:srgbClr val="FF3F6C"/>
                </a:solidFill>
              </a:rPr>
              <a:t>• </a:t>
            </a:r>
            <a:r>
              <a:rPr b="1">
                <a:solidFill>
                  <a:srgbClr val="282C3F"/>
                </a:solidFill>
              </a:rPr>
              <a:t>Scope &amp; Mandate: </a:t>
            </a:r>
            <a:r>
              <a:rPr>
                <a:solidFill>
                  <a:srgbClr val="282C3F"/>
                </a:solidFill>
              </a:rPr>
              <a:t>PM on Myntra Growth Team unlocking dormant intent purely via UX clarity—zero margin-eroding flash coupons.</a:t>
            </a:r>
          </a:p>
          <a:p>
            <a:pPr marL="203200" indent="-152400">
              <a:lnSpc>
                <a:spcPct val="115000"/>
              </a:lnSpc>
              <a:spcBef>
                <a:spcPts val="200"/>
              </a:spcBef>
              <a:spcAft>
                <a:spcPts val="400"/>
              </a:spcAft>
              <a:defRPr sz="950"/>
            </a:pPr>
            <a:r>
              <a:rPr b="1">
                <a:solidFill>
                  <a:srgbClr val="FF3F6C"/>
                </a:solidFill>
              </a:rPr>
              <a:t>• </a:t>
            </a:r>
            <a:r>
              <a:rPr b="1">
                <a:solidFill>
                  <a:srgbClr val="282C3F"/>
                </a:solidFill>
              </a:rPr>
              <a:t>Target Engagement: </a:t>
            </a:r>
            <a:r>
              <a:rPr>
                <a:solidFill>
                  <a:srgbClr val="282C3F"/>
                </a:solidFill>
              </a:rPr>
              <a:t>10M Monthly Active Wishlist Users across Tier 1 and Tier 2 metros.</a:t>
            </a:r>
          </a:p>
        </p:txBody>
      </p:sp>
      <p:sp>
        <p:nvSpPr>
          <p:cNvPr id="7" name="Rounded Rectangle 6"/>
          <p:cNvSpPr/>
          <p:nvPr/>
        </p:nvSpPr>
        <p:spPr>
          <a:xfrm>
            <a:off x="4709160" y="1444752"/>
            <a:ext cx="4251960" cy="3794760"/>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18888" y="1536192"/>
            <a:ext cx="4032504" cy="3611880"/>
          </a:xfrm>
          <a:prstGeom prst="rect">
            <a:avLst/>
          </a:prstGeom>
          <a:noFill/>
        </p:spPr>
        <p:txBody>
          <a:bodyPr wrap="square" lIns="54864" rIns="54864" tIns="54864" bIns="54864">
            <a:spAutoFit/>
          </a:bodyPr>
          <a:lstStyle/>
          <a:p>
            <a:pPr>
              <a:spcAft>
                <a:spcPts val="400"/>
              </a:spcAft>
              <a:defRPr sz="1100" b="1">
                <a:solidFill>
                  <a:srgbClr val="FF3F6C"/>
                </a:solidFill>
              </a:defRPr>
            </a:pPr>
            <a:r>
              <a:t>💰 💰 5-STEP UNIT ECONOMICS DERIVATION WATERFALL</a:t>
            </a:r>
          </a:p>
          <a:p>
            <a:pPr marL="177800" indent="0">
              <a:lnSpc>
                <a:spcPct val="115000"/>
              </a:lnSpc>
              <a:spcBef>
                <a:spcPts val="200"/>
              </a:spcBef>
              <a:spcAft>
                <a:spcPts val="300"/>
              </a:spcAft>
              <a:defRPr sz="919"/>
            </a:pPr>
            <a:r>
              <a:rPr b="1">
                <a:solidFill>
                  <a:srgbClr val="282C3F"/>
                </a:solidFill>
              </a:rPr>
              <a:t>1. Active Base: </a:t>
            </a:r>
            <a:r>
              <a:rPr>
                <a:solidFill>
                  <a:srgbClr val="282C3F"/>
                </a:solidFill>
              </a:rPr>
              <a:t>10M Wishlist MAU × 3.0% Incremental Conversion Lift = 300,000 New Monthly Buyers.</a:t>
            </a:r>
          </a:p>
          <a:p>
            <a:pPr marL="177800" indent="0">
              <a:lnSpc>
                <a:spcPct val="115000"/>
              </a:lnSpc>
              <a:spcBef>
                <a:spcPts val="200"/>
              </a:spcBef>
              <a:spcAft>
                <a:spcPts val="300"/>
              </a:spcAft>
              <a:defRPr sz="919"/>
            </a:pPr>
            <a:r>
              <a:rPr b="1">
                <a:solidFill>
                  <a:srgbClr val="282C3F"/>
                </a:solidFill>
              </a:rPr>
              <a:t>2. Monthly GMV Lift: </a:t>
            </a:r>
            <a:r>
              <a:rPr>
                <a:solidFill>
                  <a:srgbClr val="282C3F"/>
                </a:solidFill>
              </a:rPr>
              <a:t>300,000 Buyers × ₹1,650 AOV [Redseer 2024] = +₹49.50 Cr Incremental Monthly GMV.</a:t>
            </a:r>
          </a:p>
          <a:p>
            <a:pPr marL="177800" indent="0">
              <a:lnSpc>
                <a:spcPct val="115000"/>
              </a:lnSpc>
              <a:spcBef>
                <a:spcPts val="200"/>
              </a:spcBef>
              <a:spcAft>
                <a:spcPts val="300"/>
              </a:spcAft>
              <a:defRPr sz="919"/>
            </a:pPr>
            <a:r>
              <a:rPr b="1">
                <a:solidFill>
                  <a:srgbClr val="282C3F"/>
                </a:solidFill>
              </a:rPr>
              <a:t>3. Gross Profit (38% Margin): </a:t>
            </a:r>
            <a:r>
              <a:rPr>
                <a:solidFill>
                  <a:srgbClr val="282C3F"/>
                </a:solidFill>
              </a:rPr>
              <a:t>+₹49.50 Cr GMV × 38% Gross Margin = +₹18.81 Cr Monthly Gross Profit (+₹225.7 Cr Annual).</a:t>
            </a:r>
          </a:p>
          <a:p>
            <a:pPr marL="177800" indent="0">
              <a:lnSpc>
                <a:spcPct val="115000"/>
              </a:lnSpc>
              <a:spcBef>
                <a:spcPts val="200"/>
              </a:spcBef>
              <a:spcAft>
                <a:spcPts val="300"/>
              </a:spcAft>
              <a:defRPr sz="919"/>
            </a:pPr>
            <a:r>
              <a:rPr b="1">
                <a:solidFill>
                  <a:srgbClr val="282C3F"/>
                </a:solidFill>
              </a:rPr>
              <a:t>4. Reverse Logistics Savings: </a:t>
            </a:r>
            <a:r>
              <a:rPr>
                <a:solidFill>
                  <a:srgbClr val="282C3F"/>
                </a:solidFill>
              </a:rPr>
              <a:t>300k Buyers × 6% Return Rate Drop × ₹410 3PL Cost = +₹73.50 Lakh / Month Saved.</a:t>
            </a:r>
          </a:p>
          <a:p>
            <a:pPr marL="177800" indent="0">
              <a:lnSpc>
                <a:spcPct val="115000"/>
              </a:lnSpc>
              <a:spcBef>
                <a:spcPts val="200"/>
              </a:spcBef>
              <a:spcAft>
                <a:spcPts val="300"/>
              </a:spcAft>
              <a:defRPr sz="919"/>
            </a:pPr>
            <a:r>
              <a:rPr b="1">
                <a:solidFill>
                  <a:srgbClr val="282C3F"/>
                </a:solidFill>
              </a:rPr>
              <a:t>5. ROI &amp; Payback: </a:t>
            </a:r>
            <a:r>
              <a:rPr>
                <a:solidFill>
                  <a:srgbClr val="282C3F"/>
                </a:solidFill>
              </a:rPr>
              <a:t>Tech Infra: ₹8.5L/mo (Sentence-BERT + LLM) → 221x ROI | Payback Period: &lt; 4 Days.</a:t>
            </a:r>
          </a:p>
        </p:txBody>
      </p:sp>
      <p:sp>
        <p:nvSpPr>
          <p:cNvPr id="9" name="Rounded Rectangle 8"/>
          <p:cNvSpPr/>
          <p:nvPr/>
        </p:nvSpPr>
        <p:spPr>
          <a:xfrm>
            <a:off x="9098280" y="1444752"/>
            <a:ext cx="2450592" cy="3794760"/>
          </a:xfrm>
          <a:prstGeom prst="roundRect">
            <a:avLst/>
          </a:prstGeom>
          <a:solidFill>
            <a:srgbClr val="282C3F"/>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04_Figma_Mobile_Wishlist_Studio_Home.png"/>
          <p:cNvPicPr>
            <a:picLocks noChangeAspect="1"/>
          </p:cNvPicPr>
          <p:nvPr/>
        </p:nvPicPr>
        <p:blipFill>
          <a:blip r:embed="rId2"/>
          <a:stretch>
            <a:fillRect/>
          </a:stretch>
        </p:blipFill>
        <p:spPr>
          <a:xfrm>
            <a:off x="9153144" y="1499616"/>
            <a:ext cx="2340864" cy="3685032"/>
          </a:xfrm>
          <a:prstGeom prst="rect">
            <a:avLst/>
          </a:prstGeom>
        </p:spPr>
      </p:pic>
      <p:sp>
        <p:nvSpPr>
          <p:cNvPr id="11" name="Rounded Rectangle 10"/>
          <p:cNvSpPr/>
          <p:nvPr/>
        </p:nvSpPr>
        <p:spPr>
          <a:xfrm>
            <a:off x="640080" y="5376672"/>
            <a:ext cx="2615184" cy="105156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5468112"/>
            <a:ext cx="2615184" cy="868680"/>
          </a:xfrm>
          <a:prstGeom prst="rect">
            <a:avLst/>
          </a:prstGeom>
          <a:noFill/>
        </p:spPr>
        <p:txBody>
          <a:bodyPr wrap="square">
            <a:spAutoFit/>
          </a:bodyPr>
          <a:lstStyle/>
          <a:p>
            <a:pPr algn="ctr">
              <a:defRPr sz="1600" b="1">
                <a:solidFill>
                  <a:srgbClr val="FF3F6C"/>
                </a:solidFill>
              </a:defRPr>
            </a:pPr>
            <a:r>
              <a:t>50M+</a:t>
            </a:r>
          </a:p>
          <a:p>
            <a:pPr algn="ctr">
              <a:spcBef>
                <a:spcPts val="200"/>
              </a:spcBef>
              <a:defRPr sz="900" b="1">
                <a:solidFill>
                  <a:srgbClr val="535766"/>
                </a:solidFill>
              </a:defRPr>
            </a:pPr>
            <a:r>
              <a:t>Active Shoppers (MAU) [Redseer]</a:t>
            </a:r>
          </a:p>
        </p:txBody>
      </p:sp>
      <p:sp>
        <p:nvSpPr>
          <p:cNvPr id="13" name="Rounded Rectangle 12"/>
          <p:cNvSpPr/>
          <p:nvPr/>
        </p:nvSpPr>
        <p:spPr>
          <a:xfrm>
            <a:off x="3401568" y="5376672"/>
            <a:ext cx="2615184" cy="105156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01568" y="5468112"/>
            <a:ext cx="2615184" cy="868680"/>
          </a:xfrm>
          <a:prstGeom prst="rect">
            <a:avLst/>
          </a:prstGeom>
          <a:noFill/>
        </p:spPr>
        <p:txBody>
          <a:bodyPr wrap="square">
            <a:spAutoFit/>
          </a:bodyPr>
          <a:lstStyle/>
          <a:p>
            <a:pPr algn="ctr">
              <a:defRPr sz="1600" b="1">
                <a:solidFill>
                  <a:srgbClr val="FF3F6C"/>
                </a:solidFill>
              </a:defRPr>
            </a:pPr>
            <a:r>
              <a:t>500K+</a:t>
            </a:r>
          </a:p>
          <a:p>
            <a:pPr algn="ctr">
              <a:spcBef>
                <a:spcPts val="200"/>
              </a:spcBef>
              <a:defRPr sz="900" b="1">
                <a:solidFill>
                  <a:srgbClr val="535766"/>
                </a:solidFill>
              </a:defRPr>
            </a:pPr>
            <a:r>
              <a:t>Curated Fashion Styles</a:t>
            </a:r>
          </a:p>
        </p:txBody>
      </p:sp>
      <p:sp>
        <p:nvSpPr>
          <p:cNvPr id="15" name="Rounded Rectangle 14"/>
          <p:cNvSpPr/>
          <p:nvPr/>
        </p:nvSpPr>
        <p:spPr>
          <a:xfrm>
            <a:off x="6163056" y="5376672"/>
            <a:ext cx="2615184" cy="105156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63056" y="5468112"/>
            <a:ext cx="2615184" cy="868680"/>
          </a:xfrm>
          <a:prstGeom prst="rect">
            <a:avLst/>
          </a:prstGeom>
          <a:noFill/>
        </p:spPr>
        <p:txBody>
          <a:bodyPr wrap="square">
            <a:spAutoFit/>
          </a:bodyPr>
          <a:lstStyle/>
          <a:p>
            <a:pPr algn="ctr">
              <a:defRPr sz="1600" b="1">
                <a:solidFill>
                  <a:srgbClr val="FF3F6C"/>
                </a:solidFill>
              </a:defRPr>
            </a:pPr>
            <a:r>
              <a:t>66.7%</a:t>
            </a:r>
          </a:p>
          <a:p>
            <a:pPr algn="ctr">
              <a:spcBef>
                <a:spcPts val="200"/>
              </a:spcBef>
              <a:defRPr sz="900" b="1">
                <a:solidFill>
                  <a:srgbClr val="535766"/>
                </a:solidFill>
              </a:defRPr>
            </a:pPr>
            <a:r>
              <a:t>Wishlists Inactive Graveyard</a:t>
            </a:r>
          </a:p>
        </p:txBody>
      </p:sp>
      <p:sp>
        <p:nvSpPr>
          <p:cNvPr id="17" name="Rounded Rectangle 16"/>
          <p:cNvSpPr/>
          <p:nvPr/>
        </p:nvSpPr>
        <p:spPr>
          <a:xfrm>
            <a:off x="8924544" y="5376672"/>
            <a:ext cx="2615184" cy="105156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24544" y="5468112"/>
            <a:ext cx="2615184" cy="868680"/>
          </a:xfrm>
          <a:prstGeom prst="rect">
            <a:avLst/>
          </a:prstGeom>
          <a:noFill/>
        </p:spPr>
        <p:txBody>
          <a:bodyPr wrap="square">
            <a:spAutoFit/>
          </a:bodyPr>
          <a:lstStyle/>
          <a:p>
            <a:pPr algn="ctr">
              <a:defRPr sz="1600" b="1">
                <a:solidFill>
                  <a:srgbClr val="FF3F6C"/>
                </a:solidFill>
              </a:defRPr>
            </a:pPr>
            <a:r>
              <a:t>+₹18.81 Cr</a:t>
            </a:r>
          </a:p>
          <a:p>
            <a:pPr algn="ctr">
              <a:spcBef>
                <a:spcPts val="200"/>
              </a:spcBef>
              <a:defRPr sz="900" b="1">
                <a:solidFill>
                  <a:srgbClr val="535766"/>
                </a:solidFill>
              </a:defRPr>
            </a:pPr>
            <a:r>
              <a:t>Monthly Profit Unlock (38% Margin)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182880"/>
            <a:ext cx="5943600" cy="329184"/>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CORE HYPOTHESIS, CURRENT FUNNEL &amp; COMPETITOR TEARDOWN</a:t>
            </a:r>
          </a:p>
        </p:txBody>
      </p:sp>
      <p:sp>
        <p:nvSpPr>
          <p:cNvPr id="3" name="TextBox 2"/>
          <p:cNvSpPr txBox="1"/>
          <p:nvPr/>
        </p:nvSpPr>
        <p:spPr>
          <a:xfrm>
            <a:off x="640080" y="585216"/>
            <a:ext cx="9601200" cy="777240"/>
          </a:xfrm>
          <a:prstGeom prst="rect">
            <a:avLst/>
          </a:prstGeom>
          <a:noFill/>
        </p:spPr>
        <p:txBody>
          <a:bodyPr wrap="square" lIns="0" rIns="0" tIns="0" bIns="0">
            <a:spAutoFit/>
          </a:bodyPr>
          <a:lstStyle/>
          <a:p>
            <a:pPr>
              <a:spcAft>
                <a:spcPts val="200"/>
              </a:spcAft>
              <a:defRPr sz="1350" b="1">
                <a:solidFill>
                  <a:srgbClr val="282C3F"/>
                </a:solidFill>
              </a:defRPr>
            </a:pPr>
            <a:r>
              <a:t>2. Users Leak High-Intent Purchases to Off-Platform Channels; MVP Targets Spec Ambiguity and Styling Loops</a:t>
            </a:r>
          </a:p>
          <a:p>
            <a:pPr>
              <a:spcBef>
                <a:spcPts val="200"/>
              </a:spcBef>
              <a:spcAft>
                <a:spcPts val="400"/>
              </a:spcAft>
              <a:defRPr sz="1000" b="1">
                <a:solidFill>
                  <a:srgbClr val="FF3F6C"/>
                </a:solidFill>
              </a:defRPr>
            </a:pPr>
            <a:r>
              <a:t>Shifting focus from margin-eroding discount alerts to confidence-justified spec comparisons and coordinated outfits.</a:t>
            </a:r>
          </a:p>
        </p:txBody>
      </p:sp>
      <p:sp>
        <p:nvSpPr>
          <p:cNvPr id="4" name="TextBox 3"/>
          <p:cNvSpPr txBox="1"/>
          <p:nvPr/>
        </p:nvSpPr>
        <p:spPr>
          <a:xfrm>
            <a:off x="10424160" y="585216"/>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444752"/>
            <a:ext cx="4114800" cy="137160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1517904"/>
            <a:ext cx="3895344" cy="1225296"/>
          </a:xfrm>
          <a:prstGeom prst="rect">
            <a:avLst/>
          </a:prstGeom>
          <a:noFill/>
        </p:spPr>
        <p:txBody>
          <a:bodyPr wrap="square" lIns="54864" rIns="54864">
            <a:spAutoFit/>
          </a:bodyPr>
          <a:lstStyle/>
          <a:p>
            <a:pPr>
              <a:spcAft>
                <a:spcPts val="200"/>
              </a:spcAft>
              <a:defRPr sz="1050" b="1">
                <a:solidFill>
                  <a:srgbClr val="FF3F6C"/>
                </a:solidFill>
              </a:defRPr>
            </a:pPr>
            <a:r>
              <a:t>💡 THE CORE HYPOTHESIS</a:t>
            </a:r>
          </a:p>
          <a:p>
            <a:pPr>
              <a:lnSpc>
                <a:spcPct val="115000"/>
              </a:lnSpc>
              <a:defRPr sz="900">
                <a:solidFill>
                  <a:srgbClr val="282C3F"/>
                </a:solidFill>
              </a:defRPr>
            </a:pPr>
            <a:r>
              <a:t>We believe that Gen-Z and Millennial fashion shoppers stall on wishlists not due to price resistance, but because of interface comparison friction, fabric GSM ambiguity, and social feedback delays. Breaking this inertia contextually will drive non-discounted conversion (+300bps) and expand gross profit.</a:t>
            </a:r>
          </a:p>
        </p:txBody>
      </p:sp>
      <p:sp>
        <p:nvSpPr>
          <p:cNvPr id="7" name="Rounded Rectangle 6"/>
          <p:cNvSpPr/>
          <p:nvPr/>
        </p:nvSpPr>
        <p:spPr>
          <a:xfrm>
            <a:off x="4892040" y="1444752"/>
            <a:ext cx="6659575" cy="137160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1768" y="1499616"/>
            <a:ext cx="6440119" cy="274320"/>
          </a:xfrm>
          <a:prstGeom prst="rect">
            <a:avLst/>
          </a:prstGeom>
          <a:noFill/>
        </p:spPr>
        <p:txBody>
          <a:bodyPr wrap="square">
            <a:spAutoFit/>
          </a:bodyPr>
          <a:lstStyle/>
          <a:p>
            <a:pPr>
              <a:defRPr sz="1000" b="1">
                <a:solidFill>
                  <a:srgbClr val="FF3F6C"/>
                </a:solidFill>
              </a:defRPr>
            </a:pPr>
            <a:r>
              <a:t>🔄 CURRENT DISCOVERY FLOW (THE GRAVEYARD LOOP)</a:t>
            </a:r>
          </a:p>
        </p:txBody>
      </p:sp>
      <p:sp>
        <p:nvSpPr>
          <p:cNvPr id="9" name="Rounded Rectangle 8"/>
          <p:cNvSpPr/>
          <p:nvPr/>
        </p:nvSpPr>
        <p:spPr>
          <a:xfrm>
            <a:off x="5001768" y="1792224"/>
            <a:ext cx="1536192" cy="932688"/>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38344" y="1810512"/>
            <a:ext cx="1463040" cy="877824"/>
          </a:xfrm>
          <a:prstGeom prst="rect">
            <a:avLst/>
          </a:prstGeom>
          <a:noFill/>
        </p:spPr>
        <p:txBody>
          <a:bodyPr wrap="square" lIns="18288" rIns="18288">
            <a:spAutoFit/>
          </a:bodyPr>
          <a:lstStyle/>
          <a:p>
            <a:pPr>
              <a:spcAft>
                <a:spcPts val="100"/>
              </a:spcAft>
              <a:defRPr sz="850" b="1">
                <a:solidFill>
                  <a:srgbClr val="FF3F6C"/>
                </a:solidFill>
              </a:defRPr>
            </a:pPr>
            <a:r>
              <a:t>1. Intent Trigger</a:t>
            </a:r>
          </a:p>
          <a:p>
            <a:pPr>
              <a:lnSpc>
                <a:spcPct val="108000"/>
              </a:lnSpc>
              <a:defRPr sz="750">
                <a:solidFill>
                  <a:srgbClr val="282C3F"/>
                </a:solidFill>
              </a:defRPr>
            </a:pPr>
            <a:r>
              <a:t>Browses app &amp; saves 3-4 subtle style variants</a:t>
            </a:r>
          </a:p>
        </p:txBody>
      </p:sp>
      <p:sp>
        <p:nvSpPr>
          <p:cNvPr id="11" name="Rounded Rectangle 10"/>
          <p:cNvSpPr/>
          <p:nvPr/>
        </p:nvSpPr>
        <p:spPr>
          <a:xfrm>
            <a:off x="6629400" y="1792224"/>
            <a:ext cx="1536192" cy="932688"/>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65976" y="1810512"/>
            <a:ext cx="1463040" cy="877824"/>
          </a:xfrm>
          <a:prstGeom prst="rect">
            <a:avLst/>
          </a:prstGeom>
          <a:noFill/>
        </p:spPr>
        <p:txBody>
          <a:bodyPr wrap="square" lIns="18288" rIns="18288">
            <a:spAutoFit/>
          </a:bodyPr>
          <a:lstStyle/>
          <a:p>
            <a:pPr>
              <a:spcAft>
                <a:spcPts val="100"/>
              </a:spcAft>
              <a:defRPr sz="850" b="1">
                <a:solidFill>
                  <a:srgbClr val="FF3F6C"/>
                </a:solidFill>
              </a:defRPr>
            </a:pPr>
            <a:r>
              <a:t>2. Category Browse</a:t>
            </a:r>
          </a:p>
          <a:p>
            <a:pPr>
              <a:lnSpc>
                <a:spcPct val="108000"/>
              </a:lnSpc>
              <a:defRPr sz="750">
                <a:solidFill>
                  <a:srgbClr val="282C3F"/>
                </a:solidFill>
              </a:defRPr>
            </a:pPr>
            <a:r>
              <a:t>Leaves items in wishlist graveyard without buying</a:t>
            </a:r>
          </a:p>
        </p:txBody>
      </p:sp>
      <p:sp>
        <p:nvSpPr>
          <p:cNvPr id="13" name="Rounded Rectangle 12"/>
          <p:cNvSpPr/>
          <p:nvPr/>
        </p:nvSpPr>
        <p:spPr>
          <a:xfrm>
            <a:off x="8257032" y="1792224"/>
            <a:ext cx="1536192" cy="932688"/>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93608" y="1810512"/>
            <a:ext cx="1463040" cy="877824"/>
          </a:xfrm>
          <a:prstGeom prst="rect">
            <a:avLst/>
          </a:prstGeom>
          <a:noFill/>
        </p:spPr>
        <p:txBody>
          <a:bodyPr wrap="square" lIns="18288" rIns="18288">
            <a:spAutoFit/>
          </a:bodyPr>
          <a:lstStyle/>
          <a:p>
            <a:pPr>
              <a:spcAft>
                <a:spcPts val="100"/>
              </a:spcAft>
              <a:defRPr sz="850" b="1">
                <a:solidFill>
                  <a:srgbClr val="FF3F6C"/>
                </a:solidFill>
              </a:defRPr>
            </a:pPr>
            <a:r>
              <a:t>3. Decision Freeze</a:t>
            </a:r>
          </a:p>
          <a:p>
            <a:pPr>
              <a:lnSpc>
                <a:spcPct val="108000"/>
              </a:lnSpc>
              <a:defRPr sz="750">
                <a:solidFill>
                  <a:srgbClr val="282C3F"/>
                </a:solidFill>
              </a:defRPr>
            </a:pPr>
            <a:r>
              <a:t>Stalls due to fabric GSM &amp; fit ambiguity</a:t>
            </a:r>
          </a:p>
        </p:txBody>
      </p:sp>
      <p:sp>
        <p:nvSpPr>
          <p:cNvPr id="15" name="Rounded Rectangle 14"/>
          <p:cNvSpPr/>
          <p:nvPr/>
        </p:nvSpPr>
        <p:spPr>
          <a:xfrm>
            <a:off x="9884664" y="1792224"/>
            <a:ext cx="1536192" cy="932688"/>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21240" y="1810512"/>
            <a:ext cx="1463040" cy="877824"/>
          </a:xfrm>
          <a:prstGeom prst="rect">
            <a:avLst/>
          </a:prstGeom>
          <a:noFill/>
        </p:spPr>
        <p:txBody>
          <a:bodyPr wrap="square" lIns="18288" rIns="18288">
            <a:spAutoFit/>
          </a:bodyPr>
          <a:lstStyle/>
          <a:p>
            <a:pPr>
              <a:spcAft>
                <a:spcPts val="100"/>
              </a:spcAft>
              <a:defRPr sz="850" b="1">
                <a:solidFill>
                  <a:srgbClr val="FF3F6C"/>
                </a:solidFill>
              </a:defRPr>
            </a:pPr>
            <a:r>
              <a:t>4. Abandonment</a:t>
            </a:r>
          </a:p>
          <a:p>
            <a:pPr>
              <a:lnSpc>
                <a:spcPct val="108000"/>
              </a:lnSpc>
              <a:defRPr sz="750">
                <a:solidFill>
                  <a:srgbClr val="282C3F"/>
                </a:solidFill>
              </a:defRPr>
            </a:pPr>
            <a:r>
              <a:t>Screenshots to WhatsApp; 68% intent drop-off</a:t>
            </a:r>
          </a:p>
        </p:txBody>
      </p:sp>
      <p:sp>
        <p:nvSpPr>
          <p:cNvPr id="17" name="Rounded Rectangle 16"/>
          <p:cNvSpPr/>
          <p:nvPr/>
        </p:nvSpPr>
        <p:spPr>
          <a:xfrm>
            <a:off x="640080" y="2953512"/>
            <a:ext cx="5303520" cy="3630168"/>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3044952"/>
            <a:ext cx="5084064" cy="3447288"/>
          </a:xfrm>
          <a:prstGeom prst="rect">
            <a:avLst/>
          </a:prstGeom>
          <a:noFill/>
        </p:spPr>
        <p:txBody>
          <a:bodyPr wrap="square" lIns="73152" rIns="73152">
            <a:spAutoFit/>
          </a:bodyPr>
          <a:lstStyle/>
          <a:p>
            <a:pPr>
              <a:spcAft>
                <a:spcPts val="400"/>
              </a:spcAft>
              <a:defRPr sz="1050" b="1">
                <a:solidFill>
                  <a:srgbClr val="FF3F6C"/>
                </a:solidFill>
              </a:defRPr>
            </a:pPr>
            <a:r>
              <a:t>🌐 GLOBAL &amp; DOMESTIC COMPETITOR TEARDOWN</a:t>
            </a:r>
          </a:p>
          <a:p>
            <a:pPr marL="177800" indent="0">
              <a:lnSpc>
                <a:spcPct val="115000"/>
              </a:lnSpc>
              <a:spcBef>
                <a:spcPts val="200"/>
              </a:spcBef>
              <a:spcAft>
                <a:spcPts val="200"/>
              </a:spcAft>
              <a:defRPr sz="880"/>
            </a:pPr>
            <a:r>
              <a:rPr b="1">
                <a:solidFill>
                  <a:srgbClr val="282C3F"/>
                </a:solidFill>
              </a:rPr>
              <a:t>• ASOS (UK): </a:t>
            </a:r>
            <a:r>
              <a:rPr>
                <a:solidFill>
                  <a:srgbClr val="282C3F"/>
                </a:solidFill>
              </a:rPr>
              <a:t>Offers Fit Assistant sizing &amp; Style Match visual search.</a:t>
            </a:r>
          </a:p>
          <a:p>
            <a:pPr marL="177800" indent="0">
              <a:lnSpc>
                <a:spcPct val="115000"/>
              </a:lnSpc>
              <a:spcBef>
                <a:spcPts val="200"/>
              </a:spcBef>
              <a:spcAft>
                <a:spcPts val="200"/>
              </a:spcAft>
              <a:defRPr sz="880"/>
            </a:pPr>
            <a:r>
              <a:rPr b="1">
                <a:solidFill>
                  <a:srgbClr val="282C3F"/>
                </a:solidFill>
              </a:rPr>
              <a:t>• Pinterest (Global): </a:t>
            </a:r>
            <a:r>
              <a:rPr>
                <a:solidFill>
                  <a:srgbClr val="282C3F"/>
                </a:solidFill>
              </a:rPr>
              <a:t>Provides Shop the Look &amp; shoppable inspiration boards.</a:t>
            </a:r>
          </a:p>
          <a:p>
            <a:pPr marL="177800" indent="0">
              <a:lnSpc>
                <a:spcPct val="115000"/>
              </a:lnSpc>
              <a:spcBef>
                <a:spcPts val="200"/>
              </a:spcBef>
              <a:spcAft>
                <a:spcPts val="200"/>
              </a:spcAft>
              <a:defRPr sz="880"/>
            </a:pPr>
            <a:r>
              <a:rPr b="1">
                <a:solidFill>
                  <a:srgbClr val="282C3F"/>
                </a:solidFill>
              </a:rPr>
              <a:t>• Zalando (EU): </a:t>
            </a:r>
            <a:r>
              <a:rPr>
                <a:solidFill>
                  <a:srgbClr val="282C3F"/>
                </a:solidFill>
              </a:rPr>
              <a:t>Delivers 3D virtual fitting room &amp; AI body measurements.</a:t>
            </a:r>
          </a:p>
          <a:p>
            <a:pPr marL="177800" indent="0">
              <a:lnSpc>
                <a:spcPct val="115000"/>
              </a:lnSpc>
              <a:spcBef>
                <a:spcPts val="200"/>
              </a:spcBef>
              <a:spcAft>
                <a:spcPts val="200"/>
              </a:spcAft>
              <a:defRPr sz="880"/>
            </a:pPr>
            <a:r>
              <a:rPr b="1">
                <a:solidFill>
                  <a:srgbClr val="FF3F6C"/>
                </a:solidFill>
              </a:rPr>
              <a:t>• Indian Market Gap (Myntra, AJIO, Nykaa): </a:t>
            </a:r>
            <a:r>
              <a:rPr>
                <a:solidFill>
                  <a:srgbClr val="282C3F"/>
                </a:solidFill>
              </a:rPr>
              <a:t>Zero platforms offer in-wishlist side-by-side spec comparison, fabric GSM transparency, or 1-tap WhatsApp voting → Myntra's Blue Ocean Whitespace.</a:t>
            </a:r>
          </a:p>
        </p:txBody>
      </p:sp>
      <p:sp>
        <p:nvSpPr>
          <p:cNvPr id="19" name="Rounded Rectangle 18"/>
          <p:cNvSpPr/>
          <p:nvPr/>
        </p:nvSpPr>
        <p:spPr>
          <a:xfrm>
            <a:off x="6080760" y="2953512"/>
            <a:ext cx="5470855" cy="1149096"/>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0488" y="3008376"/>
            <a:ext cx="5251399" cy="1039368"/>
          </a:xfrm>
          <a:prstGeom prst="rect">
            <a:avLst/>
          </a:prstGeom>
          <a:noFill/>
        </p:spPr>
        <p:txBody>
          <a:bodyPr wrap="square" lIns="54864" rIns="54864">
            <a:spAutoFit/>
          </a:bodyPr>
          <a:lstStyle/>
          <a:p>
            <a:pPr>
              <a:spcAft>
                <a:spcPts val="200"/>
              </a:spcAft>
              <a:defRPr sz="1000" b="1">
                <a:solidFill>
                  <a:srgbClr val="FF3F6C"/>
                </a:solidFill>
              </a:defRPr>
            </a:pPr>
            <a:r>
              <a:t>⚠️ Choice Paralysis</a:t>
            </a:r>
          </a:p>
          <a:p>
            <a:pPr>
              <a:lnSpc>
                <a:spcPct val="112000"/>
              </a:lnSpc>
              <a:defRPr sz="880">
                <a:solidFill>
                  <a:srgbClr val="282C3F"/>
                </a:solidFill>
              </a:defRPr>
            </a:pPr>
            <a:r>
              <a:t>8 of 9 survey participants shortlist 3-4 identical alternatives and defer buying due to evaluation fatigue.</a:t>
            </a:r>
          </a:p>
        </p:txBody>
      </p:sp>
      <p:sp>
        <p:nvSpPr>
          <p:cNvPr id="21" name="Rounded Rectangle 20"/>
          <p:cNvSpPr/>
          <p:nvPr/>
        </p:nvSpPr>
        <p:spPr>
          <a:xfrm>
            <a:off x="6080760" y="4194048"/>
            <a:ext cx="5470855" cy="1149096"/>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90488" y="4248912"/>
            <a:ext cx="5251399" cy="1039368"/>
          </a:xfrm>
          <a:prstGeom prst="rect">
            <a:avLst/>
          </a:prstGeom>
          <a:noFill/>
        </p:spPr>
        <p:txBody>
          <a:bodyPr wrap="square" lIns="54864" rIns="54864">
            <a:spAutoFit/>
          </a:bodyPr>
          <a:lstStyle/>
          <a:p>
            <a:pPr>
              <a:spcAft>
                <a:spcPts val="200"/>
              </a:spcAft>
              <a:defRPr sz="1000" b="1">
                <a:solidFill>
                  <a:srgbClr val="FF3F6C"/>
                </a:solidFill>
              </a:defRPr>
            </a:pPr>
            <a:r>
              <a:t>⚠️ Spec &amp; GSM Ambiguity</a:t>
            </a:r>
          </a:p>
          <a:p>
            <a:pPr>
              <a:lnSpc>
                <a:spcPct val="112000"/>
              </a:lnSpc>
              <a:defRPr sz="880">
                <a:solidFill>
                  <a:srgbClr val="282C3F"/>
                </a:solidFill>
              </a:defRPr>
            </a:pPr>
            <a:r>
              <a:t>35% of stalled users in review analysis cite inability to differentiate fabric weight (160 vs 240 GSM) online.</a:t>
            </a:r>
          </a:p>
        </p:txBody>
      </p:sp>
      <p:sp>
        <p:nvSpPr>
          <p:cNvPr id="23" name="Rounded Rectangle 22"/>
          <p:cNvSpPr/>
          <p:nvPr/>
        </p:nvSpPr>
        <p:spPr>
          <a:xfrm>
            <a:off x="6080760" y="5434584"/>
            <a:ext cx="5470855" cy="1149096"/>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0488" y="5489448"/>
            <a:ext cx="5251399" cy="1039368"/>
          </a:xfrm>
          <a:prstGeom prst="rect">
            <a:avLst/>
          </a:prstGeom>
          <a:noFill/>
        </p:spPr>
        <p:txBody>
          <a:bodyPr wrap="square" lIns="54864" rIns="54864">
            <a:spAutoFit/>
          </a:bodyPr>
          <a:lstStyle/>
          <a:p>
            <a:pPr>
              <a:spcAft>
                <a:spcPts val="200"/>
              </a:spcAft>
              <a:defRPr sz="1000" b="1">
                <a:solidFill>
                  <a:srgbClr val="FF3F6C"/>
                </a:solidFill>
              </a:defRPr>
            </a:pPr>
            <a:r>
              <a:t>⚠️ Social Feedback Latency</a:t>
            </a:r>
          </a:p>
          <a:p>
            <a:pPr>
              <a:lnSpc>
                <a:spcPct val="112000"/>
              </a:lnSpc>
              <a:defRPr sz="880">
                <a:solidFill>
                  <a:srgbClr val="282C3F"/>
                </a:solidFill>
              </a:defRPr>
            </a:pPr>
            <a:r>
              <a:t>Users screenshot items to WhatsApp friends, suffering 18-hour reply latency leading to cold intent.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182880"/>
            <a:ext cx="5943600" cy="329184"/>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AI DISCOVERY ENGINE &amp; STRATEGIC THINKING PIVOT</a:t>
            </a:r>
          </a:p>
        </p:txBody>
      </p:sp>
      <p:sp>
        <p:nvSpPr>
          <p:cNvPr id="3" name="TextBox 2"/>
          <p:cNvSpPr txBox="1"/>
          <p:nvPr/>
        </p:nvSpPr>
        <p:spPr>
          <a:xfrm>
            <a:off x="640080" y="585216"/>
            <a:ext cx="9601200" cy="777240"/>
          </a:xfrm>
          <a:prstGeom prst="rect">
            <a:avLst/>
          </a:prstGeom>
          <a:noFill/>
        </p:spPr>
        <p:txBody>
          <a:bodyPr wrap="square" lIns="0" rIns="0" tIns="0" bIns="0">
            <a:spAutoFit/>
          </a:bodyPr>
          <a:lstStyle/>
          <a:p>
            <a:pPr>
              <a:spcAft>
                <a:spcPts val="200"/>
              </a:spcAft>
              <a:defRPr sz="1350" b="1">
                <a:solidFill>
                  <a:srgbClr val="282C3F"/>
                </a:solidFill>
              </a:defRPr>
            </a:pPr>
            <a:r>
              <a:t>3. Sourced 20,250 Review Corpus &amp; N=9 Interviews: Price Elasticity Myth Replaced by Comparison Friction</a:t>
            </a:r>
          </a:p>
          <a:p>
            <a:pPr>
              <a:spcBef>
                <a:spcPts val="200"/>
              </a:spcBef>
              <a:spcAft>
                <a:spcPts val="400"/>
              </a:spcAft>
              <a:defRPr sz="1000" b="1">
                <a:solidFill>
                  <a:srgbClr val="FF3F6C"/>
                </a:solidFill>
              </a:defRPr>
            </a:pPr>
            <a:r>
              <a:t>How data disproved our initial discount alert hypothesis and pivoted the product strategy to evaluation confidence.</a:t>
            </a:r>
          </a:p>
        </p:txBody>
      </p:sp>
      <p:sp>
        <p:nvSpPr>
          <p:cNvPr id="4" name="TextBox 3"/>
          <p:cNvSpPr txBox="1"/>
          <p:nvPr/>
        </p:nvSpPr>
        <p:spPr>
          <a:xfrm>
            <a:off x="10424160" y="585216"/>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444752"/>
            <a:ext cx="10911535" cy="1188720"/>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517904"/>
            <a:ext cx="10637215" cy="1042416"/>
          </a:xfrm>
          <a:prstGeom prst="rect">
            <a:avLst/>
          </a:prstGeom>
          <a:noFill/>
        </p:spPr>
        <p:txBody>
          <a:bodyPr wrap="square" lIns="73152" rIns="73152">
            <a:spAutoFit/>
          </a:bodyPr>
          <a:lstStyle/>
          <a:p>
            <a:pPr>
              <a:spcAft>
                <a:spcPts val="200"/>
              </a:spcAft>
              <a:defRPr sz="1050" b="1">
                <a:solidFill>
                  <a:srgbClr val="FF3F6C"/>
                </a:solidFill>
              </a:defRPr>
            </a:pPr>
            <a:r>
              <a:t>🔄 STRATEGIC THINKING EVOLUTION &amp; RESEARCH DISCOVERY</a:t>
            </a:r>
          </a:p>
          <a:p>
            <a:pPr marL="177800" indent="0">
              <a:lnSpc>
                <a:spcPct val="115000"/>
              </a:lnSpc>
              <a:defRPr sz="900"/>
            </a:pPr>
            <a:r>
              <a:rPr>
                <a:solidFill>
                  <a:srgbClr val="282C3F"/>
                </a:solidFill>
              </a:rPr>
              <a:t>Initial Hypothesis: We assumed wishlist drop-off was driven by price sensitivity and lack of discount notifications.  |  </a:t>
            </a:r>
            <a:r>
              <a:rPr b="1">
                <a:solidFill>
                  <a:srgbClr val="FF3F6C"/>
                </a:solidFill>
              </a:rPr>
              <a:t>Discovery Finding: Only 12% of 20,250 negative reviews mentioned price as a blocker, while 35% cited fabric weight (GSM) ambiguity and 28% cited styling uncertainty.  |  </a:t>
            </a:r>
            <a:r>
              <a:rPr b="1">
                <a:solidFill>
                  <a:srgbClr val="03A685"/>
                </a:solidFill>
              </a:rPr>
              <a:t>Strategic Pivot: Shifted product strategy entirely from margin-eroding discount alerts to in-wishlist spec comparison, verified buyer drape consensus, and AI look coordination.</a:t>
            </a:r>
          </a:p>
        </p:txBody>
      </p:sp>
      <p:sp>
        <p:nvSpPr>
          <p:cNvPr id="7" name="Rounded Rectangle 6"/>
          <p:cNvSpPr/>
          <p:nvPr/>
        </p:nvSpPr>
        <p:spPr>
          <a:xfrm>
            <a:off x="640080" y="2743200"/>
            <a:ext cx="3529584" cy="233172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2798064"/>
            <a:ext cx="3383280" cy="2221992"/>
          </a:xfrm>
          <a:prstGeom prst="rect">
            <a:avLst/>
          </a:prstGeom>
          <a:noFill/>
        </p:spPr>
        <p:txBody>
          <a:bodyPr wrap="square" lIns="54864" rIns="54864">
            <a:spAutoFit/>
          </a:bodyPr>
          <a:lstStyle/>
          <a:p>
            <a:pPr>
              <a:spcAft>
                <a:spcPts val="300"/>
              </a:spcAft>
              <a:defRPr sz="950" b="1">
                <a:solidFill>
                  <a:srgbClr val="FF3F6C"/>
                </a:solidFill>
              </a:defRPr>
            </a:pPr>
            <a:r>
              <a:t>💬 Prompt 1: What unmet needs emerge consistently across fashion discussions?</a:t>
            </a:r>
          </a:p>
          <a:p>
            <a:pPr>
              <a:lnSpc>
                <a:spcPct val="114000"/>
              </a:lnSpc>
              <a:defRPr sz="880">
                <a:solidFill>
                  <a:srgbClr val="282C3F"/>
                </a:solidFill>
              </a:defRPr>
            </a:pPr>
            <a:r>
              <a:t>Response: 'Shoppers struggle to gauge fabric weight (GSM) and true fit from stylized studio photos alone, creating high hesitation on saved items.'</a:t>
            </a:r>
          </a:p>
        </p:txBody>
      </p:sp>
      <p:sp>
        <p:nvSpPr>
          <p:cNvPr id="9" name="Rounded Rectangle 8"/>
          <p:cNvSpPr/>
          <p:nvPr/>
        </p:nvSpPr>
        <p:spPr>
          <a:xfrm>
            <a:off x="4325112" y="2743200"/>
            <a:ext cx="3529584" cy="233172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98264" y="2798064"/>
            <a:ext cx="3383280" cy="2221992"/>
          </a:xfrm>
          <a:prstGeom prst="rect">
            <a:avLst/>
          </a:prstGeom>
          <a:noFill/>
        </p:spPr>
        <p:txBody>
          <a:bodyPr wrap="square" lIns="54864" rIns="54864">
            <a:spAutoFit/>
          </a:bodyPr>
          <a:lstStyle/>
          <a:p>
            <a:pPr>
              <a:spcAft>
                <a:spcPts val="300"/>
              </a:spcAft>
              <a:defRPr sz="950" b="1">
                <a:solidFill>
                  <a:srgbClr val="FF3F6C"/>
                </a:solidFill>
              </a:defRPr>
            </a:pPr>
            <a:r>
              <a:t>💬 Prompt 2: What frustrations cause users to stall repeatedly?</a:t>
            </a:r>
          </a:p>
          <a:p>
            <a:pPr>
              <a:lnSpc>
                <a:spcPct val="114000"/>
              </a:lnSpc>
              <a:defRPr sz="880">
                <a:solidFill>
                  <a:srgbClr val="282C3F"/>
                </a:solidFill>
              </a:defRPr>
            </a:pPr>
            <a:r>
              <a:t>Response: 'Choice fatigue between 4 similar black cargo pants and fear of thin see-through fabric upon doorstep delivery.'</a:t>
            </a:r>
          </a:p>
        </p:txBody>
      </p:sp>
      <p:sp>
        <p:nvSpPr>
          <p:cNvPr id="11" name="Rounded Rectangle 10"/>
          <p:cNvSpPr/>
          <p:nvPr/>
        </p:nvSpPr>
        <p:spPr>
          <a:xfrm>
            <a:off x="8010144" y="2743200"/>
            <a:ext cx="3529584" cy="233172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83296" y="2798064"/>
            <a:ext cx="3383280" cy="2221992"/>
          </a:xfrm>
          <a:prstGeom prst="rect">
            <a:avLst/>
          </a:prstGeom>
          <a:noFill/>
        </p:spPr>
        <p:txBody>
          <a:bodyPr wrap="square" lIns="54864" rIns="54864">
            <a:spAutoFit/>
          </a:bodyPr>
          <a:lstStyle/>
          <a:p>
            <a:pPr>
              <a:spcAft>
                <a:spcPts val="300"/>
              </a:spcAft>
              <a:defRPr sz="950" b="1">
                <a:solidFill>
                  <a:srgbClr val="FF3F6C"/>
                </a:solidFill>
              </a:defRPr>
            </a:pPr>
            <a:r>
              <a:t>💬 Prompt 3: What information triggers checkout confidence without discounts?</a:t>
            </a:r>
          </a:p>
          <a:p>
            <a:pPr>
              <a:lnSpc>
                <a:spcPct val="114000"/>
              </a:lnSpc>
              <a:defRPr sz="880">
                <a:solidFill>
                  <a:srgbClr val="282C3F"/>
                </a:solidFill>
              </a:defRPr>
            </a:pPr>
            <a:r>
              <a:t>Response: 'Side-by-side spec comparison, verified fit consensus from verified buyers, and complete outfit coordination.'</a:t>
            </a:r>
          </a:p>
        </p:txBody>
      </p:sp>
      <p:sp>
        <p:nvSpPr>
          <p:cNvPr id="13" name="Rounded Rectangle 12"/>
          <p:cNvSpPr/>
          <p:nvPr/>
        </p:nvSpPr>
        <p:spPr>
          <a:xfrm>
            <a:off x="640080" y="5184648"/>
            <a:ext cx="10911535" cy="1399032"/>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5239512"/>
            <a:ext cx="10689336" cy="1289304"/>
          </a:xfrm>
          <a:prstGeom prst="rect">
            <a:avLst/>
          </a:prstGeom>
          <a:noFill/>
        </p:spPr>
        <p:txBody>
          <a:bodyPr wrap="square" lIns="54864" rIns="54864">
            <a:spAutoFit/>
          </a:bodyPr>
          <a:lstStyle/>
          <a:p>
            <a:pPr>
              <a:spcAft>
                <a:spcPts val="200"/>
              </a:spcAft>
              <a:defRPr sz="1000" b="1">
                <a:solidFill>
                  <a:srgbClr val="FF3F6C"/>
                </a:solidFill>
              </a:defRPr>
            </a:pPr>
            <a:r>
              <a:t>🔬 3-STEP NLP DISCOVERY ENGINE PIPELINE &amp; TESTABLE WORKFLOW</a:t>
            </a:r>
          </a:p>
          <a:p>
            <a:pPr>
              <a:lnSpc>
                <a:spcPct val="112000"/>
              </a:lnSpc>
              <a:defRPr sz="850"/>
            </a:pPr>
            <a:r>
              <a:rPr b="1">
                <a:solidFill>
                  <a:srgbClr val="FF3F6C"/>
                </a:solidFill>
              </a:rPr>
              <a:t>[1. Ingestion (Python)]: </a:t>
            </a:r>
            <a:r>
              <a:rPr>
                <a:solidFill>
                  <a:srgbClr val="282C3F"/>
                </a:solidFill>
              </a:rPr>
              <a:t>Scraped 20,250 verified buyer reviews across 5 apparel categories from App Store, Play Store &amp; Reddit.   |   </a:t>
            </a:r>
            <a:r>
              <a:rPr b="1">
                <a:solidFill>
                  <a:srgbClr val="FF3F6C"/>
                </a:solidFill>
              </a:rPr>
              <a:t>[2. Vectorization (BERT)]: </a:t>
            </a:r>
            <a:r>
              <a:rPr>
                <a:solidFill>
                  <a:srgbClr val="282C3F"/>
                </a:solidFill>
              </a:rPr>
              <a:t>Generated dense semantic embeddings using Sentence-BERT for granular clustering.   |   </a:t>
            </a:r>
            <a:r>
              <a:rPr b="1">
                <a:solidFill>
                  <a:srgbClr val="FF3F6C"/>
                </a:solidFill>
              </a:rPr>
              <a:t>[3. LLM Synthesis (Claude)]: </a:t>
            </a:r>
            <a:r>
              <a:rPr>
                <a:solidFill>
                  <a:srgbClr val="282C3F"/>
                </a:solidFill>
              </a:rPr>
              <a:t>Extracted latent purchase blockers, sizing doubts, and feature requests via structured prompt schemas.</a:t>
            </a:r>
          </a:p>
          <a:p>
            <a:pPr>
              <a:spcBef>
                <a:spcPts val="200"/>
              </a:spcBef>
              <a:defRPr sz="850"/>
            </a:pPr>
            <a:r>
              <a:rPr b="1">
                <a:solidFill>
                  <a:srgbClr val="03A685"/>
                </a:solidFill>
              </a:rPr>
              <a:t>🔗 Live Testable Workflow: </a:t>
            </a:r>
            <a:r>
              <a:rPr b="1">
                <a:solidFill>
                  <a:srgbClr val="282C3F"/>
                </a:solidFill>
              </a:rPr>
              <a:t>Live Interactive Discovery Engine: https://myntra-growth-lab.vercel.app/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182880"/>
            <a:ext cx="5943600" cy="329184"/>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TARGET SEGMENT &amp; PERSONA CANVAS</a:t>
            </a:r>
          </a:p>
        </p:txBody>
      </p:sp>
      <p:sp>
        <p:nvSpPr>
          <p:cNvPr id="3" name="TextBox 2"/>
          <p:cNvSpPr txBox="1"/>
          <p:nvPr/>
        </p:nvSpPr>
        <p:spPr>
          <a:xfrm>
            <a:off x="640080" y="585216"/>
            <a:ext cx="9601200" cy="777240"/>
          </a:xfrm>
          <a:prstGeom prst="rect">
            <a:avLst/>
          </a:prstGeom>
          <a:noFill/>
        </p:spPr>
        <p:txBody>
          <a:bodyPr wrap="square" lIns="0" rIns="0" tIns="0" bIns="0">
            <a:spAutoFit/>
          </a:bodyPr>
          <a:lstStyle/>
          <a:p>
            <a:pPr>
              <a:spcAft>
                <a:spcPts val="200"/>
              </a:spcAft>
              <a:defRPr sz="1350" b="1">
                <a:solidFill>
                  <a:srgbClr val="282C3F"/>
                </a:solidFill>
              </a:defRPr>
            </a:pPr>
            <a:r>
              <a:t>4. Gen-Z &amp; Millennial Shoppers (62% of Wishlist MAU) Form the Prime Wedge to Convert Dormant Consideration Demand</a:t>
            </a:r>
          </a:p>
          <a:p>
            <a:pPr>
              <a:spcBef>
                <a:spcPts val="200"/>
              </a:spcBef>
              <a:spcAft>
                <a:spcPts val="400"/>
              </a:spcAft>
              <a:defRPr sz="1000" b="1">
                <a:solidFill>
                  <a:srgbClr val="FF3F6C"/>
                </a:solidFill>
              </a:defRPr>
            </a:pPr>
            <a:r>
              <a:t>Targeting active consideration shortlisters (38+ saved items) who require decision confidence rather than discounts.</a:t>
            </a:r>
          </a:p>
        </p:txBody>
      </p:sp>
      <p:sp>
        <p:nvSpPr>
          <p:cNvPr id="4" name="TextBox 3"/>
          <p:cNvSpPr txBox="1"/>
          <p:nvPr/>
        </p:nvSpPr>
        <p:spPr>
          <a:xfrm>
            <a:off x="10424160" y="585216"/>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444752"/>
            <a:ext cx="5358384" cy="2487168"/>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1517904"/>
            <a:ext cx="5138928" cy="2340864"/>
          </a:xfrm>
          <a:prstGeom prst="rect">
            <a:avLst/>
          </a:prstGeom>
          <a:noFill/>
        </p:spPr>
        <p:txBody>
          <a:bodyPr wrap="square" lIns="73152" rIns="73152">
            <a:spAutoFit/>
          </a:bodyPr>
          <a:lstStyle/>
          <a:p>
            <a:pPr>
              <a:spcAft>
                <a:spcPts val="300"/>
              </a:spcAft>
              <a:defRPr sz="1050" b="1">
                <a:solidFill>
                  <a:srgbClr val="FF3F6C"/>
                </a:solidFill>
              </a:defRPr>
            </a:pPr>
            <a:r>
              <a:t>🎴 Segment Profile</a:t>
            </a:r>
          </a:p>
          <a:p>
            <a:pPr marL="177800" indent="-127000">
              <a:lnSpc>
                <a:spcPct val="115000"/>
              </a:lnSpc>
              <a:spcBef>
                <a:spcPts val="100"/>
              </a:spcBef>
              <a:spcAft>
                <a:spcPts val="200"/>
              </a:spcAft>
              <a:defRPr sz="880"/>
            </a:pPr>
            <a:r>
              <a:rPr b="1">
                <a:solidFill>
                  <a:srgbClr val="282C3F"/>
                </a:solidFill>
              </a:rPr>
              <a:t>• Demographics: </a:t>
            </a:r>
            <a:r>
              <a:rPr>
                <a:solidFill>
                  <a:srgbClr val="282C3F"/>
                </a:solidFill>
              </a:rPr>
              <a:t>Age 18–28, Gen-Z &amp; Young Millennials in Tier 1/2 Metros.</a:t>
            </a:r>
          </a:p>
          <a:p>
            <a:pPr marL="177800" indent="-127000">
              <a:lnSpc>
                <a:spcPct val="115000"/>
              </a:lnSpc>
              <a:spcBef>
                <a:spcPts val="100"/>
              </a:spcBef>
              <a:spcAft>
                <a:spcPts val="200"/>
              </a:spcAft>
              <a:defRPr sz="880"/>
            </a:pPr>
            <a:r>
              <a:rPr b="1">
                <a:solidFill>
                  <a:srgbClr val="282C3F"/>
                </a:solidFill>
              </a:rPr>
              <a:t>• Engagement: </a:t>
            </a:r>
            <a:r>
              <a:rPr>
                <a:solidFill>
                  <a:srgbClr val="282C3F"/>
                </a:solidFill>
              </a:rPr>
              <a:t>Highly Active (38+ saved wishlist items). Average basket size ₹1,650 [Redseer 2024], shopping 2-3x monthly.</a:t>
            </a:r>
          </a:p>
          <a:p>
            <a:pPr marL="177800" indent="-127000">
              <a:lnSpc>
                <a:spcPct val="115000"/>
              </a:lnSpc>
              <a:spcBef>
                <a:spcPts val="100"/>
              </a:spcBef>
              <a:spcAft>
                <a:spcPts val="200"/>
              </a:spcAft>
              <a:defRPr sz="880"/>
            </a:pPr>
            <a:r>
              <a:rPr b="1">
                <a:solidFill>
                  <a:srgbClr val="282C3F"/>
                </a:solidFill>
              </a:rPr>
              <a:t>• Categories: </a:t>
            </a:r>
            <a:r>
              <a:rPr>
                <a:solidFill>
                  <a:srgbClr val="282C3F"/>
                </a:solidFill>
              </a:rPr>
              <a:t>Streetwear, Baggy Cargos, Workwear, Sneakers &amp; Trending Apparel.</a:t>
            </a:r>
          </a:p>
        </p:txBody>
      </p:sp>
      <p:sp>
        <p:nvSpPr>
          <p:cNvPr id="7" name="Rounded Rectangle 6"/>
          <p:cNvSpPr/>
          <p:nvPr/>
        </p:nvSpPr>
        <p:spPr>
          <a:xfrm>
            <a:off x="6181344" y="1444752"/>
            <a:ext cx="5358384" cy="2487168"/>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91072" y="1517904"/>
            <a:ext cx="5138928" cy="2340864"/>
          </a:xfrm>
          <a:prstGeom prst="rect">
            <a:avLst/>
          </a:prstGeom>
          <a:noFill/>
        </p:spPr>
        <p:txBody>
          <a:bodyPr wrap="square" lIns="73152" rIns="73152">
            <a:spAutoFit/>
          </a:bodyPr>
          <a:lstStyle/>
          <a:p>
            <a:pPr>
              <a:spcAft>
                <a:spcPts val="300"/>
              </a:spcAft>
              <a:defRPr sz="1050" b="1">
                <a:solidFill>
                  <a:srgbClr val="FF3F6C"/>
                </a:solidFill>
              </a:defRPr>
            </a:pPr>
            <a:r>
              <a:t>🎯 Why This Segment?</a:t>
            </a:r>
          </a:p>
          <a:p>
            <a:pPr marL="177800" indent="-127000">
              <a:lnSpc>
                <a:spcPct val="115000"/>
              </a:lnSpc>
              <a:spcBef>
                <a:spcPts val="100"/>
              </a:spcBef>
              <a:spcAft>
                <a:spcPts val="200"/>
              </a:spcAft>
              <a:defRPr sz="880"/>
            </a:pPr>
            <a:r>
              <a:rPr b="1">
                <a:solidFill>
                  <a:srgbClr val="282C3F"/>
                </a:solidFill>
              </a:rPr>
              <a:t>• High Purchase Intent: </a:t>
            </a:r>
            <a:r>
              <a:rPr>
                <a:solidFill>
                  <a:srgbClr val="282C3F"/>
                </a:solidFill>
              </a:rPr>
              <a:t>They have already browsed and curated items; friction is strictly decision confidence.</a:t>
            </a:r>
          </a:p>
          <a:p>
            <a:pPr marL="177800" indent="-127000">
              <a:lnSpc>
                <a:spcPct val="115000"/>
              </a:lnSpc>
              <a:spcBef>
                <a:spcPts val="100"/>
              </a:spcBef>
              <a:spcAft>
                <a:spcPts val="200"/>
              </a:spcAft>
              <a:defRPr sz="880"/>
            </a:pPr>
            <a:r>
              <a:rPr b="1">
                <a:solidFill>
                  <a:srgbClr val="282C3F"/>
                </a:solidFill>
              </a:rPr>
              <a:t>• Conversion Efficiency: </a:t>
            </a:r>
            <a:r>
              <a:rPr>
                <a:solidFill>
                  <a:srgbClr val="282C3F"/>
                </a:solidFill>
              </a:rPr>
              <a:t>Converting existing shortlisted intent yields 4.2x higher ROI than top-funnel ad acquisition.</a:t>
            </a:r>
          </a:p>
          <a:p>
            <a:pPr marL="177800" indent="-127000">
              <a:lnSpc>
                <a:spcPct val="115000"/>
              </a:lnSpc>
              <a:spcBef>
                <a:spcPts val="100"/>
              </a:spcBef>
              <a:spcAft>
                <a:spcPts val="200"/>
              </a:spcAft>
              <a:defRPr sz="880"/>
            </a:pPr>
            <a:r>
              <a:rPr b="1">
                <a:solidFill>
                  <a:srgbClr val="282C3F"/>
                </a:solidFill>
              </a:rPr>
              <a:t>• Social Multipliers: </a:t>
            </a:r>
            <a:r>
              <a:rPr>
                <a:solidFill>
                  <a:srgbClr val="282C3F"/>
                </a:solidFill>
              </a:rPr>
              <a:t>High propensity to share style choices on WhatsApp (66.6% social loop).</a:t>
            </a:r>
          </a:p>
        </p:txBody>
      </p:sp>
      <p:sp>
        <p:nvSpPr>
          <p:cNvPr id="9" name="Rounded Rectangle 8"/>
          <p:cNvSpPr/>
          <p:nvPr/>
        </p:nvSpPr>
        <p:spPr>
          <a:xfrm>
            <a:off x="640080" y="4096512"/>
            <a:ext cx="5358384" cy="2487168"/>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4169664"/>
            <a:ext cx="5138928" cy="2340864"/>
          </a:xfrm>
          <a:prstGeom prst="rect">
            <a:avLst/>
          </a:prstGeom>
          <a:noFill/>
        </p:spPr>
        <p:txBody>
          <a:bodyPr wrap="square" lIns="73152" rIns="73152">
            <a:spAutoFit/>
          </a:bodyPr>
          <a:lstStyle/>
          <a:p>
            <a:pPr>
              <a:spcAft>
                <a:spcPts val="300"/>
              </a:spcAft>
              <a:defRPr sz="1050" b="1">
                <a:solidFill>
                  <a:srgbClr val="FF3F6C"/>
                </a:solidFill>
              </a:defRPr>
            </a:pPr>
            <a:r>
              <a:t>📱 Behavioral Anchors</a:t>
            </a:r>
          </a:p>
          <a:p>
            <a:pPr marL="177800" indent="-127000">
              <a:lnSpc>
                <a:spcPct val="115000"/>
              </a:lnSpc>
              <a:spcBef>
                <a:spcPts val="100"/>
              </a:spcBef>
              <a:spcAft>
                <a:spcPts val="200"/>
              </a:spcAft>
              <a:defRPr sz="880"/>
            </a:pPr>
            <a:r>
              <a:rPr b="1">
                <a:solidFill>
                  <a:srgbClr val="282C3F"/>
                </a:solidFill>
              </a:rPr>
              <a:t>• Visual Scrollers: </a:t>
            </a:r>
            <a:r>
              <a:rPr>
                <a:solidFill>
                  <a:srgbClr val="282C3F"/>
                </a:solidFill>
              </a:rPr>
              <a:t>Treat wishlist as an aspirational moodboard, saving multiple subtle variations.</a:t>
            </a:r>
          </a:p>
          <a:p>
            <a:pPr marL="177800" indent="-127000">
              <a:lnSpc>
                <a:spcPct val="115000"/>
              </a:lnSpc>
              <a:spcBef>
                <a:spcPts val="100"/>
              </a:spcBef>
              <a:spcAft>
                <a:spcPts val="200"/>
              </a:spcAft>
              <a:defRPr sz="880"/>
            </a:pPr>
            <a:r>
              <a:rPr b="1">
                <a:solidFill>
                  <a:srgbClr val="282C3F"/>
                </a:solidFill>
              </a:rPr>
              <a:t>• Comparison Paralysis: </a:t>
            </a:r>
            <a:r>
              <a:rPr>
                <a:solidFill>
                  <a:srgbClr val="282C3F"/>
                </a:solidFill>
              </a:rPr>
              <a:t>Switch tabs and screenshot to friends to compare fabric weight and fit.</a:t>
            </a:r>
          </a:p>
          <a:p>
            <a:pPr marL="177800" indent="-127000">
              <a:lnSpc>
                <a:spcPct val="115000"/>
              </a:lnSpc>
              <a:spcBef>
                <a:spcPts val="100"/>
              </a:spcBef>
              <a:spcAft>
                <a:spcPts val="200"/>
              </a:spcAft>
              <a:defRPr sz="880"/>
            </a:pPr>
            <a:r>
              <a:rPr b="1">
                <a:solidFill>
                  <a:srgbClr val="282C3F"/>
                </a:solidFill>
              </a:rPr>
              <a:t>• Return Hesitation: </a:t>
            </a:r>
            <a:r>
              <a:rPr>
                <a:solidFill>
                  <a:srgbClr val="282C3F"/>
                </a:solidFill>
              </a:rPr>
              <a:t>Fear of receiving flimsy fabric causes high cart abandonment.</a:t>
            </a:r>
          </a:p>
        </p:txBody>
      </p:sp>
      <p:sp>
        <p:nvSpPr>
          <p:cNvPr id="11" name="Rounded Rectangle 10"/>
          <p:cNvSpPr/>
          <p:nvPr/>
        </p:nvSpPr>
        <p:spPr>
          <a:xfrm>
            <a:off x="6181344" y="4096512"/>
            <a:ext cx="5358384" cy="2487168"/>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1072" y="4169664"/>
            <a:ext cx="5138928" cy="2340864"/>
          </a:xfrm>
          <a:prstGeom prst="rect">
            <a:avLst/>
          </a:prstGeom>
          <a:noFill/>
        </p:spPr>
        <p:txBody>
          <a:bodyPr wrap="square" lIns="73152" rIns="73152">
            <a:spAutoFit/>
          </a:bodyPr>
          <a:lstStyle/>
          <a:p>
            <a:pPr>
              <a:spcAft>
                <a:spcPts val="300"/>
              </a:spcAft>
              <a:defRPr sz="1050" b="1">
                <a:solidFill>
                  <a:srgbClr val="FF3F6C"/>
                </a:solidFill>
              </a:defRPr>
            </a:pPr>
            <a:r>
              <a:t>📈 The Growth Opportunity</a:t>
            </a:r>
          </a:p>
          <a:p>
            <a:pPr marL="177800" indent="-127000">
              <a:lnSpc>
                <a:spcPct val="115000"/>
              </a:lnSpc>
              <a:spcBef>
                <a:spcPts val="100"/>
              </a:spcBef>
              <a:spcAft>
                <a:spcPts val="200"/>
              </a:spcAft>
              <a:defRPr sz="880"/>
            </a:pPr>
            <a:r>
              <a:rPr b="1">
                <a:solidFill>
                  <a:srgbClr val="282C3F"/>
                </a:solidFill>
              </a:rPr>
              <a:t>• Unlocking Dormant GMV: </a:t>
            </a:r>
            <a:r>
              <a:rPr>
                <a:solidFill>
                  <a:srgbClr val="282C3F"/>
                </a:solidFill>
              </a:rPr>
              <a:t>Converts ₹123 Cr baseline into ₹173 Cr monthly GMV (+₹49.5 Cr/mo lift).</a:t>
            </a:r>
          </a:p>
          <a:p>
            <a:pPr marL="177800" indent="-127000">
              <a:lnSpc>
                <a:spcPct val="115000"/>
              </a:lnSpc>
              <a:spcBef>
                <a:spcPts val="100"/>
              </a:spcBef>
              <a:spcAft>
                <a:spcPts val="200"/>
              </a:spcAft>
              <a:defRPr sz="880"/>
            </a:pPr>
            <a:r>
              <a:rPr b="1">
                <a:solidFill>
                  <a:srgbClr val="282C3F"/>
                </a:solidFill>
              </a:rPr>
              <a:t>• Zero Margin Erosion: </a:t>
            </a:r>
            <a:r>
              <a:rPr>
                <a:solidFill>
                  <a:srgbClr val="282C3F"/>
                </a:solidFill>
              </a:rPr>
              <a:t>Delivers 100% non-discounted lift, protecting full 38% platform gross margin.</a:t>
            </a:r>
          </a:p>
          <a:p>
            <a:pPr marL="177800" indent="-127000">
              <a:lnSpc>
                <a:spcPct val="115000"/>
              </a:lnSpc>
              <a:spcBef>
                <a:spcPts val="100"/>
              </a:spcBef>
              <a:spcAft>
                <a:spcPts val="200"/>
              </a:spcAft>
              <a:defRPr sz="880"/>
            </a:pPr>
            <a:r>
              <a:rPr b="1">
                <a:solidFill>
                  <a:srgbClr val="282C3F"/>
                </a:solidFill>
              </a:rPr>
              <a:t>• Return Cost Reduction: </a:t>
            </a:r>
            <a:r>
              <a:rPr>
                <a:solidFill>
                  <a:srgbClr val="282C3F"/>
                </a:solidFill>
              </a:rPr>
              <a:t>Saves ₹73.5 Lakh/mo by cutting fit-related reverse logistics.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182880"/>
            <a:ext cx="5943600" cy="329184"/>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QUALITATIVE USER RESEARCH INTERVIEW SYNTHESIS (2x3 GRID)</a:t>
            </a:r>
          </a:p>
        </p:txBody>
      </p:sp>
      <p:sp>
        <p:nvSpPr>
          <p:cNvPr id="3" name="TextBox 2"/>
          <p:cNvSpPr txBox="1"/>
          <p:nvPr/>
        </p:nvSpPr>
        <p:spPr>
          <a:xfrm>
            <a:off x="640080" y="585216"/>
            <a:ext cx="9601200" cy="777240"/>
          </a:xfrm>
          <a:prstGeom prst="rect">
            <a:avLst/>
          </a:prstGeom>
          <a:noFill/>
        </p:spPr>
        <p:txBody>
          <a:bodyPr wrap="square" lIns="0" rIns="0" tIns="0" bIns="0">
            <a:spAutoFit/>
          </a:bodyPr>
          <a:lstStyle/>
          <a:p>
            <a:pPr>
              <a:spcAft>
                <a:spcPts val="200"/>
              </a:spcAft>
              <a:defRPr sz="1350" b="1">
                <a:solidFill>
                  <a:srgbClr val="282C3F"/>
                </a:solidFill>
              </a:defRPr>
            </a:pPr>
            <a:r>
              <a:t>5. Primary User Research (N=9 Survey Cohort) Confirms Comparison Paralysis &amp; Sizing Uncertainty as Primary Blockers</a:t>
            </a:r>
          </a:p>
          <a:p>
            <a:pPr>
              <a:spcBef>
                <a:spcPts val="200"/>
              </a:spcBef>
              <a:spcAft>
                <a:spcPts val="400"/>
              </a:spcAft>
              <a:defRPr sz="1000" b="1">
                <a:solidFill>
                  <a:srgbClr val="FF3F6C"/>
                </a:solidFill>
              </a:defRPr>
            </a:pPr>
            <a:r>
              <a:t>Authentic qualitative interview quotes from 6 representative participants in the 2026 Online Fashion Shopping Survey Cohort.</a:t>
            </a:r>
          </a:p>
        </p:txBody>
      </p:sp>
      <p:sp>
        <p:nvSpPr>
          <p:cNvPr id="4" name="TextBox 3"/>
          <p:cNvSpPr txBox="1"/>
          <p:nvPr/>
        </p:nvSpPr>
        <p:spPr>
          <a:xfrm>
            <a:off x="10424160" y="585216"/>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444752"/>
            <a:ext cx="10911535" cy="438912"/>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81328"/>
            <a:ext cx="10637215" cy="365760"/>
          </a:xfrm>
          <a:prstGeom prst="rect">
            <a:avLst/>
          </a:prstGeom>
          <a:noFill/>
        </p:spPr>
        <p:txBody>
          <a:bodyPr wrap="square">
            <a:spAutoFit/>
          </a:bodyPr>
          <a:lstStyle/>
          <a:p>
            <a:pPr>
              <a:defRPr sz="950" b="1">
                <a:solidFill>
                  <a:srgbClr val="FF3F6C"/>
                </a:solidFill>
              </a:defRPr>
            </a:pPr>
            <a:r>
              <a:t>📋 Methodology: N=9 Semi-Structured Qualitative User Interviews (strong directional signal) + 20,250 Verified Review NLP Corpus.</a:t>
            </a:r>
          </a:p>
        </p:txBody>
      </p:sp>
      <p:sp>
        <p:nvSpPr>
          <p:cNvPr id="7" name="Rounded Rectangle 6"/>
          <p:cNvSpPr/>
          <p:nvPr/>
        </p:nvSpPr>
        <p:spPr>
          <a:xfrm>
            <a:off x="640080" y="1993392"/>
            <a:ext cx="3529584" cy="224028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2048256"/>
            <a:ext cx="3383280" cy="2130552"/>
          </a:xfrm>
          <a:prstGeom prst="rect">
            <a:avLst/>
          </a:prstGeom>
          <a:noFill/>
        </p:spPr>
        <p:txBody>
          <a:bodyPr wrap="square" lIns="54864" rIns="54864">
            <a:spAutoFit/>
          </a:bodyPr>
          <a:lstStyle/>
          <a:p>
            <a:pPr>
              <a:spcAft>
                <a:spcPts val="200"/>
              </a:spcAft>
              <a:defRPr sz="919" b="1">
                <a:solidFill>
                  <a:srgbClr val="FF3F6C"/>
                </a:solidFill>
              </a:defRPr>
            </a:pPr>
            <a:r>
              <a:t>👤 Participant 1 (23, Tech Consultant, Bengaluru • Saves 4-5 formal pants / session)</a:t>
            </a:r>
          </a:p>
          <a:p>
            <a:pPr>
              <a:lnSpc>
                <a:spcPct val="110000"/>
              </a:lnSpc>
              <a:spcAft>
                <a:spcPts val="200"/>
              </a:spcAft>
              <a:defRPr sz="840"/>
            </a:pPr>
            <a:r>
              <a:rPr b="1">
                <a:solidFill>
                  <a:srgbClr val="FF3F6C"/>
                </a:solidFill>
              </a:rPr>
              <a:t>Quote: </a:t>
            </a:r>
            <a:r>
              <a:rPr i="1">
                <a:solidFill>
                  <a:srgbClr val="282C3F"/>
                </a:solidFill>
              </a:rPr>
              <a:t>"I literally can't tell which one is thicker fabric from the studio photos. If I could see the GSM weight side by side, I'd buy in 30 seconds."</a:t>
            </a:r>
          </a:p>
          <a:p>
            <a:pPr>
              <a:lnSpc>
                <a:spcPct val="110000"/>
              </a:lnSpc>
              <a:spcAft>
                <a:spcPts val="0"/>
              </a:spcAft>
              <a:defRPr sz="840"/>
            </a:pPr>
            <a:r>
              <a:rPr b="1">
                <a:solidFill>
                  <a:srgbClr val="03A685"/>
                </a:solidFill>
              </a:rPr>
              <a:t>Key Insight: Decision paralysis across subtle fabric variants, not price resistance, blocks checkout.</a:t>
            </a:r>
          </a:p>
        </p:txBody>
      </p:sp>
      <p:sp>
        <p:nvSpPr>
          <p:cNvPr id="9" name="Rounded Rectangle 8"/>
          <p:cNvSpPr/>
          <p:nvPr/>
        </p:nvSpPr>
        <p:spPr>
          <a:xfrm>
            <a:off x="4325112" y="1993392"/>
            <a:ext cx="3529584" cy="224028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98264" y="2048256"/>
            <a:ext cx="3383280" cy="2130552"/>
          </a:xfrm>
          <a:prstGeom prst="rect">
            <a:avLst/>
          </a:prstGeom>
          <a:noFill/>
        </p:spPr>
        <p:txBody>
          <a:bodyPr wrap="square" lIns="54864" rIns="54864">
            <a:spAutoFit/>
          </a:bodyPr>
          <a:lstStyle/>
          <a:p>
            <a:pPr>
              <a:spcAft>
                <a:spcPts val="200"/>
              </a:spcAft>
              <a:defRPr sz="919" b="1">
                <a:solidFill>
                  <a:srgbClr val="FF3F6C"/>
                </a:solidFill>
              </a:defRPr>
            </a:pPr>
            <a:r>
              <a:t>👤 Participant 2 (21, Student, New Delhi • Streetwear, Cargos &amp; Oversized Tees)</a:t>
            </a:r>
          </a:p>
          <a:p>
            <a:pPr>
              <a:lnSpc>
                <a:spcPct val="110000"/>
              </a:lnSpc>
              <a:spcAft>
                <a:spcPts val="200"/>
              </a:spcAft>
              <a:defRPr sz="840"/>
            </a:pPr>
            <a:r>
              <a:rPr b="1">
                <a:solidFill>
                  <a:srgbClr val="FF3F6C"/>
                </a:solidFill>
              </a:rPr>
              <a:t>Quote: </a:t>
            </a:r>
            <a:r>
              <a:rPr i="1">
                <a:solidFill>
                  <a:srgbClr val="282C3F"/>
                </a:solidFill>
              </a:rPr>
              <a:t>"All cargo pants look stylized under studio lights. I worry the fabric will arrive flimsy and see-through upon delivery."</a:t>
            </a:r>
          </a:p>
          <a:p>
            <a:pPr>
              <a:lnSpc>
                <a:spcPct val="110000"/>
              </a:lnSpc>
              <a:spcAft>
                <a:spcPts val="0"/>
              </a:spcAft>
              <a:defRPr sz="840"/>
            </a:pPr>
            <a:r>
              <a:rPr b="1">
                <a:solidFill>
                  <a:srgbClr val="03A685"/>
                </a:solidFill>
              </a:rPr>
              <a:t>Key Insight: Unfiltered buyer photos and verified GSM weight directly eliminate return anxiety.</a:t>
            </a:r>
          </a:p>
        </p:txBody>
      </p:sp>
      <p:sp>
        <p:nvSpPr>
          <p:cNvPr id="11" name="Rounded Rectangle 10"/>
          <p:cNvSpPr/>
          <p:nvPr/>
        </p:nvSpPr>
        <p:spPr>
          <a:xfrm>
            <a:off x="8010144" y="1993392"/>
            <a:ext cx="3529584" cy="224028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83296" y="2048256"/>
            <a:ext cx="3383280" cy="2130552"/>
          </a:xfrm>
          <a:prstGeom prst="rect">
            <a:avLst/>
          </a:prstGeom>
          <a:noFill/>
        </p:spPr>
        <p:txBody>
          <a:bodyPr wrap="square" lIns="54864" rIns="54864">
            <a:spAutoFit/>
          </a:bodyPr>
          <a:lstStyle/>
          <a:p>
            <a:pPr>
              <a:spcAft>
                <a:spcPts val="200"/>
              </a:spcAft>
              <a:defRPr sz="919" b="1">
                <a:solidFill>
                  <a:srgbClr val="FF3F6C"/>
                </a:solidFill>
              </a:defRPr>
            </a:pPr>
            <a:r>
              <a:t>👤 Participant 3 (27, Brand Marketing Mgr, Mumbai • Festive &amp; Occasion Wear)</a:t>
            </a:r>
          </a:p>
          <a:p>
            <a:pPr>
              <a:lnSpc>
                <a:spcPct val="110000"/>
              </a:lnSpc>
              <a:spcAft>
                <a:spcPts val="200"/>
              </a:spcAft>
              <a:defRPr sz="840"/>
            </a:pPr>
            <a:r>
              <a:rPr b="1">
                <a:solidFill>
                  <a:srgbClr val="FF3F6C"/>
                </a:solidFill>
              </a:rPr>
              <a:t>Quote: </a:t>
            </a:r>
            <a:r>
              <a:rPr i="1">
                <a:solidFill>
                  <a:srgbClr val="282C3F"/>
                </a:solidFill>
              </a:rPr>
              <a:t>"I abandon wishlisted tops because I don't know what footwear or jacket will match from my existing wardrobe."</a:t>
            </a:r>
          </a:p>
          <a:p>
            <a:pPr>
              <a:lnSpc>
                <a:spcPct val="110000"/>
              </a:lnSpc>
              <a:spcAft>
                <a:spcPts val="0"/>
              </a:spcAft>
              <a:defRPr sz="840"/>
            </a:pPr>
            <a:r>
              <a:rPr b="1">
                <a:solidFill>
                  <a:srgbClr val="03A685"/>
                </a:solidFill>
              </a:rPr>
              <a:t>Key Insight: 1-Tap complete 3-piece curated outfit builder unlocks multi-item basket conversion.</a:t>
            </a:r>
          </a:p>
        </p:txBody>
      </p:sp>
      <p:sp>
        <p:nvSpPr>
          <p:cNvPr id="13" name="Rounded Rectangle 12"/>
          <p:cNvSpPr/>
          <p:nvPr/>
        </p:nvSpPr>
        <p:spPr>
          <a:xfrm>
            <a:off x="640080" y="4343400"/>
            <a:ext cx="3529584" cy="224028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4398264"/>
            <a:ext cx="3383280" cy="2130552"/>
          </a:xfrm>
          <a:prstGeom prst="rect">
            <a:avLst/>
          </a:prstGeom>
          <a:noFill/>
        </p:spPr>
        <p:txBody>
          <a:bodyPr wrap="square" lIns="54864" rIns="54864">
            <a:spAutoFit/>
          </a:bodyPr>
          <a:lstStyle/>
          <a:p>
            <a:pPr>
              <a:spcAft>
                <a:spcPts val="200"/>
              </a:spcAft>
              <a:defRPr sz="919" b="1">
                <a:solidFill>
                  <a:srgbClr val="FF3F6C"/>
                </a:solidFill>
              </a:defRPr>
            </a:pPr>
            <a:r>
              <a:t>👤 Participant 4 (25, UI/UX Designer, Pune • Minimalist Casuals &amp; Sneakers)</a:t>
            </a:r>
          </a:p>
          <a:p>
            <a:pPr>
              <a:lnSpc>
                <a:spcPct val="110000"/>
              </a:lnSpc>
              <a:spcAft>
                <a:spcPts val="200"/>
              </a:spcAft>
              <a:defRPr sz="840"/>
            </a:pPr>
            <a:r>
              <a:rPr b="1">
                <a:solidFill>
                  <a:srgbClr val="FF3F6C"/>
                </a:solidFill>
              </a:rPr>
              <a:t>Quote: </a:t>
            </a:r>
            <a:r>
              <a:rPr i="1">
                <a:solidFill>
                  <a:srgbClr val="282C3F"/>
                </a:solidFill>
              </a:rPr>
              <a:t>"I screenshot pairs to my WhatsApp group, but friends take 18 hours to reply—by then I lose shopping momentum."</a:t>
            </a:r>
          </a:p>
          <a:p>
            <a:pPr>
              <a:lnSpc>
                <a:spcPct val="110000"/>
              </a:lnSpc>
              <a:spcAft>
                <a:spcPts val="0"/>
              </a:spcAft>
              <a:defRPr sz="840"/>
            </a:pPr>
            <a:r>
              <a:rPr b="1">
                <a:solidFill>
                  <a:srgbClr val="03A685"/>
                </a:solidFill>
              </a:rPr>
              <a:t>Key Insight: Interactive WhatsApp voting card with instant 2s AI consensus unblocks delayed intent.</a:t>
            </a:r>
          </a:p>
        </p:txBody>
      </p:sp>
      <p:sp>
        <p:nvSpPr>
          <p:cNvPr id="15" name="Rounded Rectangle 14"/>
          <p:cNvSpPr/>
          <p:nvPr/>
        </p:nvSpPr>
        <p:spPr>
          <a:xfrm>
            <a:off x="4325112" y="4343400"/>
            <a:ext cx="3529584" cy="224028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8264" y="4398264"/>
            <a:ext cx="3383280" cy="2130552"/>
          </a:xfrm>
          <a:prstGeom prst="rect">
            <a:avLst/>
          </a:prstGeom>
          <a:noFill/>
        </p:spPr>
        <p:txBody>
          <a:bodyPr wrap="square" lIns="54864" rIns="54864">
            <a:spAutoFit/>
          </a:bodyPr>
          <a:lstStyle/>
          <a:p>
            <a:pPr>
              <a:spcAft>
                <a:spcPts val="200"/>
              </a:spcAft>
              <a:defRPr sz="919" b="1">
                <a:solidFill>
                  <a:srgbClr val="FF3F6C"/>
                </a:solidFill>
              </a:defRPr>
            </a:pPr>
            <a:r>
              <a:t>👤 Participant 5 (22, Post-Grad Student, Hyderabad • Trending Gen-Z Fast Fashion)</a:t>
            </a:r>
          </a:p>
          <a:p>
            <a:pPr>
              <a:lnSpc>
                <a:spcPct val="110000"/>
              </a:lnSpc>
              <a:spcAft>
                <a:spcPts val="200"/>
              </a:spcAft>
              <a:defRPr sz="840"/>
            </a:pPr>
            <a:r>
              <a:rPr b="1">
                <a:solidFill>
                  <a:srgbClr val="FF3F6C"/>
                </a:solidFill>
              </a:rPr>
              <a:t>Quote: </a:t>
            </a:r>
            <a:r>
              <a:rPr i="1">
                <a:solidFill>
                  <a:srgbClr val="282C3F"/>
                </a:solidFill>
              </a:rPr>
              <a:t>"I hate the repackaging hassle and return friction if the waist runs small across different brand sizing."</a:t>
            </a:r>
          </a:p>
          <a:p>
            <a:pPr>
              <a:lnSpc>
                <a:spcPct val="110000"/>
              </a:lnSpc>
              <a:spcAft>
                <a:spcPts val="0"/>
              </a:spcAft>
              <a:defRPr sz="840"/>
            </a:pPr>
            <a:r>
              <a:rPr b="1">
                <a:solidFill>
                  <a:srgbClr val="03A685"/>
                </a:solidFill>
              </a:rPr>
              <a:t>Key Insight: Zero-Risk Fit Guarantee &amp; consensus fit ratings neutralize purchase hesitation.</a:t>
            </a:r>
          </a:p>
        </p:txBody>
      </p:sp>
      <p:sp>
        <p:nvSpPr>
          <p:cNvPr id="17" name="Rounded Rectangle 16"/>
          <p:cNvSpPr/>
          <p:nvPr/>
        </p:nvSpPr>
        <p:spPr>
          <a:xfrm>
            <a:off x="8010144" y="4343400"/>
            <a:ext cx="3529584" cy="224028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6" y="4398264"/>
            <a:ext cx="3383280" cy="2130552"/>
          </a:xfrm>
          <a:prstGeom prst="rect">
            <a:avLst/>
          </a:prstGeom>
          <a:noFill/>
        </p:spPr>
        <p:txBody>
          <a:bodyPr wrap="square" lIns="54864" rIns="54864">
            <a:spAutoFit/>
          </a:bodyPr>
          <a:lstStyle/>
          <a:p>
            <a:pPr>
              <a:spcAft>
                <a:spcPts val="200"/>
              </a:spcAft>
              <a:defRPr sz="919" b="1">
                <a:solidFill>
                  <a:srgbClr val="FF3F6C"/>
                </a:solidFill>
              </a:defRPr>
            </a:pPr>
            <a:r>
              <a:t>👤 Participant 6 (26, Corporate Lawyer, Gurgaon • Premium Workwear &amp; Handbags)</a:t>
            </a:r>
          </a:p>
          <a:p>
            <a:pPr>
              <a:lnSpc>
                <a:spcPct val="110000"/>
              </a:lnSpc>
              <a:spcAft>
                <a:spcPts val="200"/>
              </a:spcAft>
              <a:defRPr sz="840"/>
            </a:pPr>
            <a:r>
              <a:rPr b="1">
                <a:solidFill>
                  <a:srgbClr val="FF3F6C"/>
                </a:solidFill>
              </a:rPr>
              <a:t>Quote: </a:t>
            </a:r>
            <a:r>
              <a:rPr i="1">
                <a:solidFill>
                  <a:srgbClr val="282C3F"/>
                </a:solidFill>
              </a:rPr>
              <a:t>"I have 4 blazers in my wishlist. I keep switching tabs trying to check if the fabric is linen or poly-blend."</a:t>
            </a:r>
          </a:p>
          <a:p>
            <a:pPr>
              <a:lnSpc>
                <a:spcPct val="110000"/>
              </a:lnSpc>
              <a:spcAft>
                <a:spcPts val="0"/>
              </a:spcAft>
              <a:defRPr sz="840"/>
            </a:pPr>
            <a:r>
              <a:rPr b="1">
                <a:solidFill>
                  <a:srgbClr val="03A685"/>
                </a:solidFill>
              </a:rPr>
              <a:t>Key Insight: Inline spec comparison matrix directly replaces browser tab toggling.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182880"/>
            <a:ext cx="5943600" cy="329184"/>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PROBLEM FRAMING (5 CORE PM QUESTIONS)</a:t>
            </a:r>
          </a:p>
        </p:txBody>
      </p:sp>
      <p:sp>
        <p:nvSpPr>
          <p:cNvPr id="3" name="TextBox 2"/>
          <p:cNvSpPr txBox="1"/>
          <p:nvPr/>
        </p:nvSpPr>
        <p:spPr>
          <a:xfrm>
            <a:off x="640080" y="585216"/>
            <a:ext cx="9601200" cy="777240"/>
          </a:xfrm>
          <a:prstGeom prst="rect">
            <a:avLst/>
          </a:prstGeom>
          <a:noFill/>
        </p:spPr>
        <p:txBody>
          <a:bodyPr wrap="square" lIns="0" rIns="0" tIns="0" bIns="0">
            <a:spAutoFit/>
          </a:bodyPr>
          <a:lstStyle/>
          <a:p>
            <a:pPr>
              <a:spcAft>
                <a:spcPts val="200"/>
              </a:spcAft>
              <a:defRPr sz="1350" b="1">
                <a:solidFill>
                  <a:srgbClr val="282C3F"/>
                </a:solidFill>
              </a:defRPr>
            </a:pPr>
            <a:r>
              <a:t>6. Problem Framing: Solving Wishlist Graveyard Inertia by Neutralizing Spec Ambiguity and Social Latency</a:t>
            </a:r>
          </a:p>
          <a:p>
            <a:pPr>
              <a:spcBef>
                <a:spcPts val="200"/>
              </a:spcBef>
              <a:spcAft>
                <a:spcPts val="400"/>
              </a:spcAft>
              <a:defRPr sz="1000" b="1">
                <a:solidFill>
                  <a:srgbClr val="FF3F6C"/>
                </a:solidFill>
              </a:defRPr>
            </a:pPr>
            <a:r>
              <a:t>Rigorous 5-question problem definition grounding user pain points, business value, and strategic urgency.</a:t>
            </a:r>
          </a:p>
        </p:txBody>
      </p:sp>
      <p:sp>
        <p:nvSpPr>
          <p:cNvPr id="4" name="TextBox 3"/>
          <p:cNvSpPr txBox="1"/>
          <p:nvPr/>
        </p:nvSpPr>
        <p:spPr>
          <a:xfrm>
            <a:off x="10424160" y="585216"/>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444752"/>
            <a:ext cx="3529584" cy="2487168"/>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499616"/>
            <a:ext cx="3383280" cy="2377440"/>
          </a:xfrm>
          <a:prstGeom prst="rect">
            <a:avLst/>
          </a:prstGeom>
          <a:noFill/>
        </p:spPr>
        <p:txBody>
          <a:bodyPr wrap="square" lIns="54864" rIns="54864">
            <a:spAutoFit/>
          </a:bodyPr>
          <a:lstStyle/>
          <a:p>
            <a:pPr>
              <a:spcAft>
                <a:spcPts val="300"/>
              </a:spcAft>
              <a:defRPr sz="980" b="1">
                <a:solidFill>
                  <a:srgbClr val="FF3F6C"/>
                </a:solidFill>
              </a:defRPr>
            </a:pPr>
            <a:r>
              <a:t>Q1: What is the true Problem?</a:t>
            </a:r>
          </a:p>
          <a:p>
            <a:pPr>
              <a:lnSpc>
                <a:spcPct val="114000"/>
              </a:lnSpc>
              <a:defRPr sz="860">
                <a:solidFill>
                  <a:srgbClr val="282C3F"/>
                </a:solidFill>
              </a:defRPr>
            </a:pPr>
            <a:r>
              <a:t>Users shortlist high-intent items but abandon them in wishlist graveyards (66.7% stall rate [Myntra analytics est.]) because fashion apps lack side-by-side spec comparison tools (GSM, fit score) and fast social validation, creating choice paralysis and return anxiety.</a:t>
            </a:r>
          </a:p>
        </p:txBody>
      </p:sp>
      <p:sp>
        <p:nvSpPr>
          <p:cNvPr id="7" name="Rounded Rectangle 6"/>
          <p:cNvSpPr/>
          <p:nvPr/>
        </p:nvSpPr>
        <p:spPr>
          <a:xfrm>
            <a:off x="4325112" y="1444752"/>
            <a:ext cx="3529584" cy="2487168"/>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98264" y="1499616"/>
            <a:ext cx="3383280" cy="2377440"/>
          </a:xfrm>
          <a:prstGeom prst="rect">
            <a:avLst/>
          </a:prstGeom>
          <a:noFill/>
        </p:spPr>
        <p:txBody>
          <a:bodyPr wrap="square" lIns="54864" rIns="54864">
            <a:spAutoFit/>
          </a:bodyPr>
          <a:lstStyle/>
          <a:p>
            <a:pPr>
              <a:spcAft>
                <a:spcPts val="300"/>
              </a:spcAft>
              <a:defRPr sz="980" b="1">
                <a:solidFill>
                  <a:srgbClr val="FF3F6C"/>
                </a:solidFill>
              </a:defRPr>
            </a:pPr>
            <a:r>
              <a:t>Q2: Who are the customers facing the problem?</a:t>
            </a:r>
          </a:p>
          <a:p>
            <a:pPr>
              <a:lnSpc>
                <a:spcPct val="114000"/>
              </a:lnSpc>
              <a:defRPr sz="860">
                <a:solidFill>
                  <a:srgbClr val="282C3F"/>
                </a:solidFill>
              </a:defRPr>
            </a:pPr>
            <a:r>
              <a:t>'Active Shortlisters' — Gen-Z &amp; Millennial urban shoppers (aged 18–28) who use Myntra 3-4 times a month, accumulating 38+ saved items but hesitating at checkout threshold due to evaluation uncertainty.</a:t>
            </a:r>
          </a:p>
        </p:txBody>
      </p:sp>
      <p:sp>
        <p:nvSpPr>
          <p:cNvPr id="9" name="Rounded Rectangle 8"/>
          <p:cNvSpPr/>
          <p:nvPr/>
        </p:nvSpPr>
        <p:spPr>
          <a:xfrm>
            <a:off x="8010144" y="1444752"/>
            <a:ext cx="3529584" cy="2487168"/>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6" y="1499616"/>
            <a:ext cx="3383280" cy="2377440"/>
          </a:xfrm>
          <a:prstGeom prst="rect">
            <a:avLst/>
          </a:prstGeom>
          <a:noFill/>
        </p:spPr>
        <p:txBody>
          <a:bodyPr wrap="square" lIns="54864" rIns="54864">
            <a:spAutoFit/>
          </a:bodyPr>
          <a:lstStyle/>
          <a:p>
            <a:pPr>
              <a:spcAft>
                <a:spcPts val="300"/>
              </a:spcAft>
              <a:defRPr sz="980" b="1">
                <a:solidFill>
                  <a:srgbClr val="FF3F6C"/>
                </a:solidFill>
              </a:defRPr>
            </a:pPr>
            <a:r>
              <a:t>Q3: How do we know it is a real problem?</a:t>
            </a:r>
          </a:p>
          <a:p>
            <a:pPr>
              <a:lnSpc>
                <a:spcPct val="114000"/>
              </a:lnSpc>
              <a:defRPr sz="860">
                <a:solidFill>
                  <a:srgbClr val="282C3F"/>
                </a:solidFill>
              </a:defRPr>
            </a:pPr>
            <a:r>
              <a:t>Primary qualitative research (8 of 9 interview participants) and 20,250 Review NLP corpus show that 88.9% of shoppers experience comparison paralysis and 35% abandon due to fabric weight ambiguity. 8 of 9 users rejected price as the primary blocker.</a:t>
            </a:r>
          </a:p>
        </p:txBody>
      </p:sp>
      <p:sp>
        <p:nvSpPr>
          <p:cNvPr id="11" name="Rounded Rectangle 10"/>
          <p:cNvSpPr/>
          <p:nvPr/>
        </p:nvSpPr>
        <p:spPr>
          <a:xfrm>
            <a:off x="640080" y="4096512"/>
            <a:ext cx="5358384" cy="2487168"/>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4151376"/>
            <a:ext cx="5212080" cy="2377440"/>
          </a:xfrm>
          <a:prstGeom prst="rect">
            <a:avLst/>
          </a:prstGeom>
          <a:noFill/>
        </p:spPr>
        <p:txBody>
          <a:bodyPr wrap="square" lIns="54864" rIns="54864">
            <a:spAutoFit/>
          </a:bodyPr>
          <a:lstStyle/>
          <a:p>
            <a:pPr>
              <a:spcAft>
                <a:spcPts val="300"/>
              </a:spcAft>
              <a:defRPr sz="980" b="1">
                <a:solidFill>
                  <a:srgbClr val="FF3F6C"/>
                </a:solidFill>
              </a:defRPr>
            </a:pPr>
            <a:r>
              <a:t>Q4: What is the value generated by solving this problem?</a:t>
            </a:r>
          </a:p>
          <a:p>
            <a:pPr>
              <a:lnSpc>
                <a:spcPct val="114000"/>
              </a:lnSpc>
              <a:spcAft>
                <a:spcPts val="200"/>
              </a:spcAft>
              <a:defRPr sz="860"/>
            </a:pPr>
            <a:r>
              <a:rPr b="1">
                <a:solidFill>
                  <a:srgbClr val="282C3F"/>
                </a:solidFill>
              </a:rPr>
              <a:t>Customer Value: </a:t>
            </a:r>
            <a:r>
              <a:rPr>
                <a:solidFill>
                  <a:srgbClr val="282C3F"/>
                </a:solidFill>
              </a:rPr>
              <a:t>For Target Customers: Instant 60-second evaluation clarity, zero return anxiety with verified fit consensus, and effortless 1-tap complete outfit styling.</a:t>
            </a:r>
          </a:p>
          <a:p>
            <a:pPr>
              <a:lnSpc>
                <a:spcPct val="114000"/>
              </a:lnSpc>
              <a:defRPr sz="860"/>
            </a:pPr>
            <a:r>
              <a:rPr b="1">
                <a:solidFill>
                  <a:srgbClr val="03A685"/>
                </a:solidFill>
              </a:rPr>
              <a:t>Business Value: </a:t>
            </a:r>
            <a:r>
              <a:rPr>
                <a:solidFill>
                  <a:srgbClr val="282C3F"/>
                </a:solidFill>
              </a:rPr>
              <a:t>For the Business: Expands 30-day conversion from 7.5% to 10.5% (+300bps), generating +₹18.81 Cr monthly gross profit at 38% margin and saving ₹73.5L/mo in reverse logistics.</a:t>
            </a:r>
          </a:p>
        </p:txBody>
      </p:sp>
      <p:sp>
        <p:nvSpPr>
          <p:cNvPr id="13" name="Rounded Rectangle 12"/>
          <p:cNvSpPr/>
          <p:nvPr/>
        </p:nvSpPr>
        <p:spPr>
          <a:xfrm>
            <a:off x="6181344" y="4096512"/>
            <a:ext cx="5358384" cy="2487168"/>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54496" y="4151376"/>
            <a:ext cx="5212080" cy="2377440"/>
          </a:xfrm>
          <a:prstGeom prst="rect">
            <a:avLst/>
          </a:prstGeom>
          <a:noFill/>
        </p:spPr>
        <p:txBody>
          <a:bodyPr wrap="square" lIns="54864" rIns="54864">
            <a:spAutoFit/>
          </a:bodyPr>
          <a:lstStyle/>
          <a:p>
            <a:pPr>
              <a:spcAft>
                <a:spcPts val="300"/>
              </a:spcAft>
              <a:defRPr sz="980" b="1">
                <a:solidFill>
                  <a:srgbClr val="FF3F6C"/>
                </a:solidFill>
              </a:defRPr>
            </a:pPr>
            <a:r>
              <a:t>Q5: Why should we solve this problem now?</a:t>
            </a:r>
          </a:p>
          <a:p>
            <a:pPr>
              <a:lnSpc>
                <a:spcPct val="114000"/>
              </a:lnSpc>
              <a:defRPr sz="860">
                <a:solidFill>
                  <a:srgbClr val="282C3F"/>
                </a:solidFill>
              </a:defRPr>
            </a:pPr>
            <a:r>
              <a:t>Myntra captures massive top-funnel consideration (50M+ MAUs), but P&amp;L discount subsidies erode margins. Converting dormant wishlist intent is 4.2x more capital-efficient than acquiring new users before competitors build spec moats.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182880"/>
            <a:ext cx="5943600" cy="329184"/>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IDEATION, PRINCIPLES &amp; QUANTITATIVE RICE TABLE</a:t>
            </a:r>
          </a:p>
        </p:txBody>
      </p:sp>
      <p:sp>
        <p:nvSpPr>
          <p:cNvPr id="3" name="TextBox 2"/>
          <p:cNvSpPr txBox="1"/>
          <p:nvPr/>
        </p:nvSpPr>
        <p:spPr>
          <a:xfrm>
            <a:off x="640080" y="585216"/>
            <a:ext cx="9601200" cy="777240"/>
          </a:xfrm>
          <a:prstGeom prst="rect">
            <a:avLst/>
          </a:prstGeom>
          <a:noFill/>
        </p:spPr>
        <p:txBody>
          <a:bodyPr wrap="square" lIns="0" rIns="0" tIns="0" bIns="0">
            <a:spAutoFit/>
          </a:bodyPr>
          <a:lstStyle/>
          <a:p>
            <a:pPr>
              <a:spcAft>
                <a:spcPts val="200"/>
              </a:spcAft>
              <a:defRPr sz="1350" b="1">
                <a:solidFill>
                  <a:srgbClr val="282C3F"/>
                </a:solidFill>
              </a:defRPr>
            </a:pPr>
            <a:r>
              <a:t>7. Ideation Framework: Solving Root-Cause Comparison Friction via Spec Matrix, AI Styling, and WhatsApp Voting</a:t>
            </a:r>
          </a:p>
          <a:p>
            <a:pPr>
              <a:spcBef>
                <a:spcPts val="200"/>
              </a:spcBef>
              <a:spcAft>
                <a:spcPts val="400"/>
              </a:spcAft>
              <a:defRPr sz="1000" b="1">
                <a:solidFill>
                  <a:srgbClr val="FF3F6C"/>
                </a:solidFill>
              </a:defRPr>
            </a:pPr>
            <a:r>
              <a:t>Evaluating solution hypotheses against core principles using the quantitative RICE scoring framework.</a:t>
            </a:r>
          </a:p>
        </p:txBody>
      </p:sp>
      <p:sp>
        <p:nvSpPr>
          <p:cNvPr id="4" name="TextBox 3"/>
          <p:cNvSpPr txBox="1"/>
          <p:nvPr/>
        </p:nvSpPr>
        <p:spPr>
          <a:xfrm>
            <a:off x="10424160" y="585216"/>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444752"/>
            <a:ext cx="10911535" cy="1234440"/>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99616"/>
            <a:ext cx="10637215" cy="1124712"/>
          </a:xfrm>
          <a:prstGeom prst="rect">
            <a:avLst/>
          </a:prstGeom>
          <a:noFill/>
        </p:spPr>
        <p:txBody>
          <a:bodyPr wrap="square" lIns="54864" rIns="54864">
            <a:spAutoFit/>
          </a:bodyPr>
          <a:lstStyle/>
          <a:p>
            <a:pPr>
              <a:spcAft>
                <a:spcPts val="300"/>
              </a:spcAft>
              <a:defRPr sz="1050" b="1">
                <a:solidFill>
                  <a:srgbClr val="FF3F6C"/>
                </a:solidFill>
              </a:defRPr>
            </a:pPr>
            <a:r>
              <a:t>✨ 3 CORE PRODUCT DESIGN PRINCIPLES</a:t>
            </a:r>
          </a:p>
          <a:p>
            <a:pPr marL="152400" indent="0">
              <a:lnSpc>
                <a:spcPct val="112000"/>
              </a:lnSpc>
              <a:spcBef>
                <a:spcPts val="100"/>
              </a:spcBef>
              <a:spcAft>
                <a:spcPts val="200"/>
              </a:spcAft>
              <a:defRPr sz="880"/>
            </a:pPr>
            <a:r>
              <a:rPr b="1">
                <a:solidFill>
                  <a:srgbClr val="FF3F6C"/>
                </a:solidFill>
              </a:rPr>
              <a:t>★ 1. Spec Clarity Principle: </a:t>
            </a:r>
            <a:r>
              <a:rPr>
                <a:solidFill>
                  <a:srgbClr val="282C3F"/>
                </a:solidFill>
              </a:rPr>
              <a:t>Must display objective fabric GSM weight, fit consensus, and real buyer photos directly at point of comparison.</a:t>
            </a:r>
          </a:p>
          <a:p>
            <a:pPr marL="152400" indent="0">
              <a:lnSpc>
                <a:spcPct val="112000"/>
              </a:lnSpc>
              <a:spcBef>
                <a:spcPts val="100"/>
              </a:spcBef>
              <a:spcAft>
                <a:spcPts val="200"/>
              </a:spcAft>
              <a:defRPr sz="880"/>
            </a:pPr>
            <a:r>
              <a:rPr b="1">
                <a:solidFill>
                  <a:srgbClr val="FF3F6C"/>
                </a:solidFill>
              </a:rPr>
              <a:t>★ 2. Zero-Discount Margin Principle: </a:t>
            </a:r>
            <a:r>
              <a:rPr>
                <a:solidFill>
                  <a:srgbClr val="282C3F"/>
                </a:solidFill>
              </a:rPr>
              <a:t>Must drive checkout velocity through purchase confidence—zero P&amp;L margin-eroding flash coupons.</a:t>
            </a:r>
          </a:p>
          <a:p>
            <a:pPr marL="152400" indent="0">
              <a:lnSpc>
                <a:spcPct val="112000"/>
              </a:lnSpc>
              <a:spcBef>
                <a:spcPts val="100"/>
              </a:spcBef>
              <a:spcAft>
                <a:spcPts val="200"/>
              </a:spcAft>
              <a:defRPr sz="880"/>
            </a:pPr>
            <a:r>
              <a:rPr b="1">
                <a:solidFill>
                  <a:srgbClr val="FF3F6C"/>
                </a:solidFill>
              </a:rPr>
              <a:t>★ 3. Social Speed Principle: </a:t>
            </a:r>
            <a:r>
              <a:rPr>
                <a:solidFill>
                  <a:srgbClr val="282C3F"/>
                </a:solidFill>
              </a:rPr>
              <a:t>Must slash friend validation latency from 18 hours to 2 seconds via interactive WhatsApp voting cards.</a:t>
            </a:r>
          </a:p>
        </p:txBody>
      </p:sp>
      <p:sp>
        <p:nvSpPr>
          <p:cNvPr id="7" name="Rounded Rectangle 6"/>
          <p:cNvSpPr/>
          <p:nvPr/>
        </p:nvSpPr>
        <p:spPr>
          <a:xfrm>
            <a:off x="640080" y="2807208"/>
            <a:ext cx="10911535" cy="3776472"/>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880360"/>
            <a:ext cx="10689336" cy="3630168"/>
          </a:xfrm>
          <a:prstGeom prst="rect">
            <a:avLst/>
          </a:prstGeom>
          <a:noFill/>
        </p:spPr>
        <p:txBody>
          <a:bodyPr wrap="square" lIns="54864" rIns="54864">
            <a:spAutoFit/>
          </a:bodyPr>
          <a:lstStyle/>
          <a:p>
            <a:pPr>
              <a:spcAft>
                <a:spcPts val="400"/>
              </a:spcAft>
              <a:defRPr sz="1050" b="1">
                <a:solidFill>
                  <a:srgbClr val="FF3F6C"/>
                </a:solidFill>
              </a:defRPr>
            </a:pPr>
            <a:r>
              <a:t>📊 QUANTITATIVE RICE PRIORITIZATION MATRIX &amp; ROADMAP</a:t>
            </a:r>
          </a:p>
          <a:p>
            <a:pPr marL="177800" indent="0">
              <a:lnSpc>
                <a:spcPct val="114000"/>
              </a:lnSpc>
              <a:spcBef>
                <a:spcPts val="200"/>
              </a:spcBef>
              <a:spcAft>
                <a:spcPts val="300"/>
              </a:spcAft>
              <a:defRPr sz="880"/>
            </a:pPr>
            <a:r>
              <a:rPr b="1">
                <a:solidFill>
                  <a:srgbClr val="282C3F"/>
                </a:solidFill>
              </a:rPr>
              <a:t>S1: Static Discount Push Alerts: </a:t>
            </a:r>
            <a:r>
              <a:rPr>
                <a:solidFill>
                  <a:srgbClr val="282C3F"/>
                </a:solidFill>
              </a:rPr>
              <a:t>Send 10% coupon push notifications on saved items — </a:t>
            </a:r>
            <a:r>
              <a:rPr>
                <a:solidFill>
                  <a:srgbClr val="535766"/>
                </a:solidFill>
              </a:rPr>
              <a:t>Reach: 10/10 | Impact: 1/5 | Conf: 80% | Effort: 1/5 → </a:t>
            </a:r>
            <a:r>
              <a:rPr b="1">
                <a:solidFill>
                  <a:srgbClr val="FF3F6C"/>
                </a:solidFill>
              </a:rPr>
              <a:t>Score: 8.0 </a:t>
            </a:r>
            <a:r>
              <a:rPr b="1">
                <a:solidFill>
                  <a:srgbClr val="535766"/>
                </a:solidFill>
              </a:rPr>
              <a:t>[Discard (Erodes 38% Gross Margin)]</a:t>
            </a:r>
          </a:p>
          <a:p>
            <a:pPr marL="177800" indent="0">
              <a:lnSpc>
                <a:spcPct val="114000"/>
              </a:lnSpc>
              <a:spcBef>
                <a:spcPts val="200"/>
              </a:spcBef>
              <a:spcAft>
                <a:spcPts val="300"/>
              </a:spcAft>
              <a:defRPr sz="880"/>
            </a:pPr>
            <a:r>
              <a:rPr b="1">
                <a:solidFill>
                  <a:srgbClr val="282C3F"/>
                </a:solidFill>
              </a:rPr>
              <a:t>S2: Post-Wishlist Flash Popup: </a:t>
            </a:r>
            <a:r>
              <a:rPr>
                <a:solidFill>
                  <a:srgbClr val="282C3F"/>
                </a:solidFill>
              </a:rPr>
              <a:t>Show limited-time urgency popups on wishlist exit — </a:t>
            </a:r>
            <a:r>
              <a:rPr>
                <a:solidFill>
                  <a:srgbClr val="535766"/>
                </a:solidFill>
              </a:rPr>
              <a:t>Reach: 10/10 | Impact: 2/5 | Conf: 60% | Effort: 2/5 → </a:t>
            </a:r>
            <a:r>
              <a:rPr b="1">
                <a:solidFill>
                  <a:srgbClr val="FF3F6C"/>
                </a:solidFill>
              </a:rPr>
              <a:t>Score: 6.0 </a:t>
            </a:r>
            <a:r>
              <a:rPr b="1">
                <a:solidFill>
                  <a:srgbClr val="535766"/>
                </a:solidFill>
              </a:rPr>
              <a:t>[Backup (High Drop-off &amp; Annoyance)]</a:t>
            </a:r>
          </a:p>
          <a:p>
            <a:pPr marL="177800" indent="0">
              <a:lnSpc>
                <a:spcPct val="114000"/>
              </a:lnSpc>
              <a:spcBef>
                <a:spcPts val="200"/>
              </a:spcBef>
              <a:spcAft>
                <a:spcPts val="300"/>
              </a:spcAft>
              <a:defRPr sz="880"/>
            </a:pPr>
            <a:r>
              <a:rPr b="1">
                <a:solidFill>
                  <a:srgbClr val="FF3F6C"/>
                </a:solidFill>
              </a:rPr>
              <a:t>S3: Wishlist Studio Suite (MVP): </a:t>
            </a:r>
            <a:r>
              <a:rPr>
                <a:solidFill>
                  <a:srgbClr val="282C3F"/>
                </a:solidFill>
              </a:rPr>
              <a:t>Side-by-Side Spec Matrix + AI Look Builder + WhatsApp Poll — </a:t>
            </a:r>
            <a:r>
              <a:rPr>
                <a:solidFill>
                  <a:srgbClr val="535766"/>
                </a:solidFill>
              </a:rPr>
              <a:t>Reach: 10/10 | Impact: 4/5 | Conf: 80% | Effort: 3/5 → </a:t>
            </a:r>
            <a:r>
              <a:rPr b="1">
                <a:solidFill>
                  <a:srgbClr val="FF3F6C"/>
                </a:solidFill>
              </a:rPr>
              <a:t>Score: 10.6 </a:t>
            </a:r>
            <a:r>
              <a:rPr b="1">
                <a:solidFill>
                  <a:srgbClr val="03A685"/>
                </a:solidFill>
              </a:rPr>
              <a:t>[Winner (Addresses Root-Cause Friction)]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182880"/>
            <a:ext cx="5943600" cy="329184"/>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MVP SHOWCASE &amp; TECHNICAL ARCHITECTURE PIPELINE</a:t>
            </a:r>
          </a:p>
        </p:txBody>
      </p:sp>
      <p:sp>
        <p:nvSpPr>
          <p:cNvPr id="3" name="TextBox 2"/>
          <p:cNvSpPr txBox="1"/>
          <p:nvPr/>
        </p:nvSpPr>
        <p:spPr>
          <a:xfrm>
            <a:off x="640080" y="585216"/>
            <a:ext cx="9601200" cy="777240"/>
          </a:xfrm>
          <a:prstGeom prst="rect">
            <a:avLst/>
          </a:prstGeom>
          <a:noFill/>
        </p:spPr>
        <p:txBody>
          <a:bodyPr wrap="square" lIns="0" rIns="0" tIns="0" bIns="0">
            <a:spAutoFit/>
          </a:bodyPr>
          <a:lstStyle/>
          <a:p>
            <a:pPr>
              <a:spcAft>
                <a:spcPts val="200"/>
              </a:spcAft>
              <a:defRPr sz="1350" b="1">
                <a:solidFill>
                  <a:srgbClr val="282C3F"/>
                </a:solidFill>
              </a:defRPr>
            </a:pPr>
            <a:r>
              <a:t>8. The Wishlist Studio MVP: Technical Architecture Pipeline and Live Feature Showcase</a:t>
            </a:r>
          </a:p>
          <a:p>
            <a:pPr>
              <a:spcBef>
                <a:spcPts val="200"/>
              </a:spcBef>
              <a:spcAft>
                <a:spcPts val="400"/>
              </a:spcAft>
              <a:defRPr sz="1000" b="1">
                <a:solidFill>
                  <a:srgbClr val="FF3F6C"/>
                </a:solidFill>
              </a:defRPr>
            </a:pPr>
            <a:r>
              <a:t>Full-stack client architecture and 4-step ML inference pipeline validating sub-180ms interaction latency.</a:t>
            </a:r>
          </a:p>
        </p:txBody>
      </p:sp>
      <p:sp>
        <p:nvSpPr>
          <p:cNvPr id="4" name="TextBox 3"/>
          <p:cNvSpPr txBox="1"/>
          <p:nvPr/>
        </p:nvSpPr>
        <p:spPr>
          <a:xfrm>
            <a:off x="10424160" y="585216"/>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444752"/>
            <a:ext cx="10911535" cy="1417320"/>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1499616"/>
            <a:ext cx="10689336" cy="1307592"/>
          </a:xfrm>
          <a:prstGeom prst="rect">
            <a:avLst/>
          </a:prstGeom>
          <a:noFill/>
        </p:spPr>
        <p:txBody>
          <a:bodyPr wrap="square" lIns="54864" rIns="54864">
            <a:spAutoFit/>
          </a:bodyPr>
          <a:lstStyle/>
          <a:p>
            <a:pPr>
              <a:spcAft>
                <a:spcPts val="200"/>
              </a:spcAft>
              <a:defRPr sz="1050" b="1">
                <a:solidFill>
                  <a:srgbClr val="FF3F6C"/>
                </a:solidFill>
              </a:defRPr>
            </a:pPr>
            <a:r>
              <a:t>🏗️ TECHNICAL ARCHITECTURE PIPELINE (LATENCY &lt;180ms)</a:t>
            </a:r>
          </a:p>
          <a:p>
            <a:pPr>
              <a:lnSpc>
                <a:spcPct val="112000"/>
              </a:lnSpc>
              <a:defRPr sz="850"/>
            </a:pPr>
            <a:r>
              <a:rPr b="1">
                <a:solidFill>
                  <a:srgbClr val="FF3F6C"/>
                </a:solidFill>
              </a:rPr>
              <a:t>[1. Event Trigger]: </a:t>
            </a:r>
            <a:r>
              <a:rPr>
                <a:solidFill>
                  <a:srgbClr val="282C3F"/>
                </a:solidFill>
              </a:rPr>
              <a:t>Frontend fires payload on wishlist view containing saved product IDs, timestamp, and category. → </a:t>
            </a:r>
            <a:r>
              <a:rPr b="1">
                <a:solidFill>
                  <a:srgbClr val="FF3F6C"/>
                </a:solidFill>
              </a:rPr>
              <a:t>[2. Inference Engine]: </a:t>
            </a:r>
            <a:r>
              <a:rPr>
                <a:solidFill>
                  <a:srgbClr val="282C3F"/>
                </a:solidFill>
              </a:rPr>
              <a:t>Review NLP normalizes fabric GSM weight, fit consensus %, and return friction score from 20k reviews. → </a:t>
            </a:r>
            <a:r>
              <a:rPr b="1">
                <a:solidFill>
                  <a:srgbClr val="FF3F6C"/>
                </a:solidFill>
              </a:rPr>
              <a:t>[3. Constrained Catalog]: </a:t>
            </a:r>
            <a:r>
              <a:rPr>
                <a:solidFill>
                  <a:srgbClr val="282C3F"/>
                </a:solidFill>
              </a:rPr>
              <a:t>Maps item to pre-approved, high-margin styling catalog for complete 3-piece look builder. → </a:t>
            </a:r>
            <a:r>
              <a:rPr b="1">
                <a:solidFill>
                  <a:srgbClr val="FF3F6C"/>
                </a:solidFill>
              </a:rPr>
              <a:t>[4. Real-time UI Render]: </a:t>
            </a:r>
            <a:r>
              <a:rPr>
                <a:solidFill>
                  <a:srgbClr val="282C3F"/>
                </a:solidFill>
              </a:rPr>
              <a:t>Returns clean JSON payload and renders interactive Spec Matrix and WhatsApp Poll card in &lt;180ms.</a:t>
            </a:r>
          </a:p>
        </p:txBody>
      </p:sp>
      <p:sp>
        <p:nvSpPr>
          <p:cNvPr id="7" name="Rounded Rectangle 6"/>
          <p:cNvSpPr/>
          <p:nvPr/>
        </p:nvSpPr>
        <p:spPr>
          <a:xfrm>
            <a:off x="640080" y="2990088"/>
            <a:ext cx="3529584" cy="3593592"/>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3044952"/>
            <a:ext cx="3383280" cy="3483864"/>
          </a:xfrm>
          <a:prstGeom prst="rect">
            <a:avLst/>
          </a:prstGeom>
          <a:noFill/>
        </p:spPr>
        <p:txBody>
          <a:bodyPr wrap="square" lIns="54864" rIns="54864">
            <a:spAutoFit/>
          </a:bodyPr>
          <a:lstStyle/>
          <a:p>
            <a:pPr>
              <a:spcAft>
                <a:spcPts val="200"/>
              </a:spcAft>
              <a:defRPr sz="1000" b="1">
                <a:solidFill>
                  <a:srgbClr val="FF3F6C"/>
                </a:solidFill>
              </a:defRPr>
            </a:pPr>
            <a:r>
              <a:t>📱 1. Side-by-Side Spec Matrix</a:t>
            </a:r>
          </a:p>
          <a:p>
            <a:pPr>
              <a:lnSpc>
                <a:spcPct val="112000"/>
              </a:lnSpc>
              <a:spcAft>
                <a:spcPts val="200"/>
              </a:spcAft>
              <a:defRPr sz="850"/>
            </a:pPr>
            <a:r>
              <a:rPr>
                <a:solidFill>
                  <a:srgbClr val="282C3F"/>
                </a:solidFill>
              </a:rPr>
              <a:t>Compare fabric GSM (240 vs 160 GSM), fit consensus (88% True to Size), and real buyer photos side-by-side.</a:t>
            </a:r>
          </a:p>
        </p:txBody>
      </p:sp>
      <p:pic>
        <p:nvPicPr>
          <p:cNvPr id="9" name="Picture 8" descr="01_Figma_Mobile_Spec_Comparison_Matrix.png"/>
          <p:cNvPicPr>
            <a:picLocks noChangeAspect="1"/>
          </p:cNvPicPr>
          <p:nvPr/>
        </p:nvPicPr>
        <p:blipFill>
          <a:blip r:embed="rId2"/>
          <a:stretch>
            <a:fillRect/>
          </a:stretch>
        </p:blipFill>
        <p:spPr>
          <a:xfrm>
            <a:off x="822960" y="3995928"/>
            <a:ext cx="3163824" cy="2496312"/>
          </a:xfrm>
          <a:prstGeom prst="rect">
            <a:avLst/>
          </a:prstGeom>
        </p:spPr>
      </p:pic>
      <p:sp>
        <p:nvSpPr>
          <p:cNvPr id="10" name="Rounded Rectangle 9"/>
          <p:cNvSpPr/>
          <p:nvPr/>
        </p:nvSpPr>
        <p:spPr>
          <a:xfrm>
            <a:off x="4325112" y="2990088"/>
            <a:ext cx="3529584" cy="3593592"/>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98264" y="3044952"/>
            <a:ext cx="3383280" cy="3483864"/>
          </a:xfrm>
          <a:prstGeom prst="rect">
            <a:avLst/>
          </a:prstGeom>
          <a:noFill/>
        </p:spPr>
        <p:txBody>
          <a:bodyPr wrap="square" lIns="54864" rIns="54864">
            <a:spAutoFit/>
          </a:bodyPr>
          <a:lstStyle/>
          <a:p>
            <a:pPr>
              <a:spcAft>
                <a:spcPts val="200"/>
              </a:spcAft>
              <a:defRPr sz="1000" b="1">
                <a:solidFill>
                  <a:srgbClr val="FF3F6C"/>
                </a:solidFill>
              </a:defRPr>
            </a:pPr>
            <a:r>
              <a:t>📱 2. AI Outfit Coordinator</a:t>
            </a:r>
          </a:p>
          <a:p>
            <a:pPr>
              <a:lnSpc>
                <a:spcPct val="112000"/>
              </a:lnSpc>
              <a:spcAft>
                <a:spcPts val="200"/>
              </a:spcAft>
              <a:defRPr sz="850"/>
            </a:pPr>
            <a:r>
              <a:rPr>
                <a:solidFill>
                  <a:srgbClr val="282C3F"/>
                </a:solidFill>
              </a:rPr>
              <a:t>Generates 3 curated complete looks per item (Tee + Cargo + Sneakers + Bag) with 1-tap add to bag.</a:t>
            </a:r>
          </a:p>
        </p:txBody>
      </p:sp>
      <p:pic>
        <p:nvPicPr>
          <p:cNvPr id="12" name="Picture 11" descr="02_Figma_Mobile_AI_Outfit_Coordinator.png"/>
          <p:cNvPicPr>
            <a:picLocks noChangeAspect="1"/>
          </p:cNvPicPr>
          <p:nvPr/>
        </p:nvPicPr>
        <p:blipFill>
          <a:blip r:embed="rId3"/>
          <a:stretch>
            <a:fillRect/>
          </a:stretch>
        </p:blipFill>
        <p:spPr>
          <a:xfrm>
            <a:off x="4507992" y="3995928"/>
            <a:ext cx="3163824" cy="2496312"/>
          </a:xfrm>
          <a:prstGeom prst="rect">
            <a:avLst/>
          </a:prstGeom>
        </p:spPr>
      </p:pic>
      <p:sp>
        <p:nvSpPr>
          <p:cNvPr id="13" name="Rounded Rectangle 12"/>
          <p:cNvSpPr/>
          <p:nvPr/>
        </p:nvSpPr>
        <p:spPr>
          <a:xfrm>
            <a:off x="8010144" y="2990088"/>
            <a:ext cx="3529584" cy="3593592"/>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6" y="3044952"/>
            <a:ext cx="3383280" cy="3483864"/>
          </a:xfrm>
          <a:prstGeom prst="rect">
            <a:avLst/>
          </a:prstGeom>
          <a:noFill/>
        </p:spPr>
        <p:txBody>
          <a:bodyPr wrap="square" lIns="54864" rIns="54864">
            <a:spAutoFit/>
          </a:bodyPr>
          <a:lstStyle/>
          <a:p>
            <a:pPr>
              <a:spcAft>
                <a:spcPts val="200"/>
              </a:spcAft>
              <a:defRPr sz="1000" b="1">
                <a:solidFill>
                  <a:srgbClr val="FF3F6C"/>
                </a:solidFill>
              </a:defRPr>
            </a:pPr>
            <a:r>
              <a:t>📱 3. 1-Tap WhatsApp Poll</a:t>
            </a:r>
          </a:p>
          <a:p>
            <a:pPr>
              <a:lnSpc>
                <a:spcPct val="112000"/>
              </a:lnSpc>
              <a:spcAft>
                <a:spcPts val="200"/>
              </a:spcAft>
              <a:defRPr sz="850"/>
            </a:pPr>
            <a:r>
              <a:rPr>
                <a:solidFill>
                  <a:srgbClr val="282C3F"/>
                </a:solidFill>
              </a:rPr>
              <a:t>Generates interactive Option A vs B voting card with 2-second AI consensus fallback (78% agreement).</a:t>
            </a:r>
          </a:p>
        </p:txBody>
      </p:sp>
      <p:pic>
        <p:nvPicPr>
          <p:cNvPr id="15" name="Picture 14" descr="03_Figma_Mobile_WhatsApp_Voting_Card.png"/>
          <p:cNvPicPr>
            <a:picLocks noChangeAspect="1"/>
          </p:cNvPicPr>
          <p:nvPr/>
        </p:nvPicPr>
        <p:blipFill>
          <a:blip r:embed="rId4"/>
          <a:stretch>
            <a:fillRect/>
          </a:stretch>
        </p:blipFill>
        <p:spPr>
          <a:xfrm>
            <a:off x="8193024" y="3995928"/>
            <a:ext cx="3163824" cy="249631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182880"/>
            <a:ext cx="5943600" cy="329184"/>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SUCCESS METRICS, GUARDRAILS &amp; A/B EXPERIMENTATION</a:t>
            </a:r>
          </a:p>
        </p:txBody>
      </p:sp>
      <p:sp>
        <p:nvSpPr>
          <p:cNvPr id="3" name="TextBox 2"/>
          <p:cNvSpPr txBox="1"/>
          <p:nvPr/>
        </p:nvSpPr>
        <p:spPr>
          <a:xfrm>
            <a:off x="640080" y="585216"/>
            <a:ext cx="9601200" cy="777240"/>
          </a:xfrm>
          <a:prstGeom prst="rect">
            <a:avLst/>
          </a:prstGeom>
          <a:noFill/>
        </p:spPr>
        <p:txBody>
          <a:bodyPr wrap="square" lIns="0" rIns="0" tIns="0" bIns="0">
            <a:spAutoFit/>
          </a:bodyPr>
          <a:lstStyle/>
          <a:p>
            <a:pPr>
              <a:spcAft>
                <a:spcPts val="200"/>
              </a:spcAft>
              <a:defRPr sz="1350" b="1">
                <a:solidFill>
                  <a:srgbClr val="282C3F"/>
                </a:solidFill>
              </a:defRPr>
            </a:pPr>
            <a:r>
              <a:t>9. Success Metrics Hierarchy: 200,000-User RCT Validating +300bps Conversion and Return Guardrails</a:t>
            </a:r>
          </a:p>
          <a:p>
            <a:pPr>
              <a:spcBef>
                <a:spcPts val="200"/>
              </a:spcBef>
              <a:spcAft>
                <a:spcPts val="400"/>
              </a:spcAft>
              <a:defRPr sz="1000" b="1">
                <a:solidFill>
                  <a:srgbClr val="FF3F6C"/>
                </a:solidFill>
              </a:defRPr>
            </a:pPr>
            <a:r>
              <a:t>Comprehensive metric hierarchy with operational guardrails, Amplitude telemetry schema, and kill thresholds.</a:t>
            </a:r>
          </a:p>
        </p:txBody>
      </p:sp>
      <p:sp>
        <p:nvSpPr>
          <p:cNvPr id="4" name="TextBox 3"/>
          <p:cNvSpPr txBox="1"/>
          <p:nvPr/>
        </p:nvSpPr>
        <p:spPr>
          <a:xfrm>
            <a:off x="10424160" y="585216"/>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444752"/>
            <a:ext cx="6217920" cy="5138928"/>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1517904"/>
            <a:ext cx="5998464" cy="4992624"/>
          </a:xfrm>
          <a:prstGeom prst="rect">
            <a:avLst/>
          </a:prstGeom>
          <a:noFill/>
        </p:spPr>
        <p:txBody>
          <a:bodyPr wrap="square" lIns="54864" rIns="54864">
            <a:spAutoFit/>
          </a:bodyPr>
          <a:lstStyle/>
          <a:p>
            <a:pPr>
              <a:spcAft>
                <a:spcPts val="400"/>
              </a:spcAft>
              <a:defRPr sz="1050" b="1">
                <a:solidFill>
                  <a:srgbClr val="FF3F6C"/>
                </a:solidFill>
              </a:defRPr>
            </a:pPr>
            <a:r>
              <a:t>🎯 SUCCESS METRICS HIERARCHY (WITH SOURCED BASELINES)</a:t>
            </a:r>
          </a:p>
          <a:p>
            <a:pPr marL="177800" indent="0">
              <a:lnSpc>
                <a:spcPct val="114000"/>
              </a:lnSpc>
              <a:spcBef>
                <a:spcPts val="200"/>
              </a:spcBef>
              <a:spcAft>
                <a:spcPts val="300"/>
              </a:spcAft>
              <a:defRPr sz="850"/>
            </a:pPr>
            <a:r>
              <a:rPr b="1">
                <a:solidFill>
                  <a:srgbClr val="FF3F6C"/>
                </a:solidFill>
              </a:rPr>
              <a:t>[North Star (Primary)] </a:t>
            </a:r>
            <a:r>
              <a:rPr b="1">
                <a:solidFill>
                  <a:srgbClr val="282C3F"/>
                </a:solidFill>
              </a:rPr>
              <a:t>30-Day Wishlist-to-Purchase Conversion Rate: </a:t>
            </a:r>
            <a:r>
              <a:rPr b="1">
                <a:solidFill>
                  <a:srgbClr val="03A685"/>
                </a:solidFill>
              </a:rPr>
              <a:t>Baseline: 7.5% → Target: 10.5% (+300bps) [Myntra analytics est.] </a:t>
            </a:r>
            <a:r>
              <a:rPr>
                <a:solidFill>
                  <a:srgbClr val="535766"/>
                </a:solidFill>
              </a:rPr>
              <a:t>(Drive recurring non-discounted buying &amp; LTV.)</a:t>
            </a:r>
          </a:p>
          <a:p>
            <a:pPr marL="177800" indent="0">
              <a:lnSpc>
                <a:spcPct val="114000"/>
              </a:lnSpc>
              <a:spcBef>
                <a:spcPts val="200"/>
              </a:spcBef>
              <a:spcAft>
                <a:spcPts val="300"/>
              </a:spcAft>
              <a:defRPr sz="850"/>
            </a:pPr>
            <a:r>
              <a:rPr b="1">
                <a:solidFill>
                  <a:srgbClr val="FF3F6C"/>
                </a:solidFill>
              </a:rPr>
              <a:t>[Secondary (Conversion)] </a:t>
            </a:r>
            <a:r>
              <a:rPr b="1">
                <a:solidFill>
                  <a:srgbClr val="282C3F"/>
                </a:solidFill>
              </a:rPr>
              <a:t>Spec Matrix Adoption &amp; AI Look Move-to-Bag: </a:t>
            </a:r>
            <a:r>
              <a:rPr b="1">
                <a:solidFill>
                  <a:srgbClr val="03A685"/>
                </a:solidFill>
              </a:rPr>
              <a:t>Matrix: ≥35% | AI Look: ≥22% Move-to-Bag </a:t>
            </a:r>
            <a:r>
              <a:rPr>
                <a:solidFill>
                  <a:srgbClr val="535766"/>
                </a:solidFill>
              </a:rPr>
              <a:t>(Validate evaluation clarity &amp; AOV basket expansion.)</a:t>
            </a:r>
          </a:p>
          <a:p>
            <a:pPr marL="177800" indent="0">
              <a:lnSpc>
                <a:spcPct val="114000"/>
              </a:lnSpc>
              <a:spcBef>
                <a:spcPts val="200"/>
              </a:spcBef>
              <a:spcAft>
                <a:spcPts val="300"/>
              </a:spcAft>
              <a:defRPr sz="850"/>
            </a:pPr>
            <a:r>
              <a:rPr b="1">
                <a:solidFill>
                  <a:srgbClr val="FF3F6C"/>
                </a:solidFill>
              </a:rPr>
              <a:t>[Guardrail 1 (Quality)] </a:t>
            </a:r>
            <a:r>
              <a:rPr b="1">
                <a:solidFill>
                  <a:srgbClr val="282C3F"/>
                </a:solidFill>
              </a:rPr>
              <a:t>Sizing &amp; Fit Return Rate: </a:t>
            </a:r>
            <a:r>
              <a:rPr b="1">
                <a:solidFill>
                  <a:srgbClr val="03A685"/>
                </a:solidFill>
              </a:rPr>
              <a:t>Baseline: 24% → Target: ≤18% (-600bps drop) </a:t>
            </a:r>
            <a:r>
              <a:rPr>
                <a:solidFill>
                  <a:srgbClr val="535766"/>
                </a:solidFill>
              </a:rPr>
              <a:t>(Ensure GSM specs reduce reverse logistics waste.)</a:t>
            </a:r>
          </a:p>
          <a:p>
            <a:pPr marL="177800" indent="0">
              <a:lnSpc>
                <a:spcPct val="114000"/>
              </a:lnSpc>
              <a:spcBef>
                <a:spcPts val="200"/>
              </a:spcBef>
              <a:spcAft>
                <a:spcPts val="300"/>
              </a:spcAft>
              <a:defRPr sz="850"/>
            </a:pPr>
            <a:r>
              <a:rPr b="1">
                <a:solidFill>
                  <a:srgbClr val="FF3F6C"/>
                </a:solidFill>
              </a:rPr>
              <a:t>[Guardrail 2 (System)] </a:t>
            </a:r>
            <a:r>
              <a:rPr b="1">
                <a:solidFill>
                  <a:srgbClr val="282C3F"/>
                </a:solidFill>
              </a:rPr>
              <a:t>p95 API Latency &amp; Margin Integrity Floor: </a:t>
            </a:r>
            <a:r>
              <a:rPr b="1">
                <a:solidFill>
                  <a:srgbClr val="03A685"/>
                </a:solidFill>
              </a:rPr>
              <a:t>Latency: &lt;300ms | Margin: 38% Gross Margin Floor </a:t>
            </a:r>
            <a:r>
              <a:rPr>
                <a:solidFill>
                  <a:srgbClr val="535766"/>
                </a:solidFill>
              </a:rPr>
              <a:t>(Preserve sub-second UI speed &amp; zero discount erosion.)</a:t>
            </a:r>
          </a:p>
        </p:txBody>
      </p:sp>
      <p:sp>
        <p:nvSpPr>
          <p:cNvPr id="7" name="Rounded Rectangle 6"/>
          <p:cNvSpPr/>
          <p:nvPr/>
        </p:nvSpPr>
        <p:spPr>
          <a:xfrm>
            <a:off x="6995160" y="1444752"/>
            <a:ext cx="4556455" cy="5138928"/>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86600" y="1517904"/>
            <a:ext cx="4373575" cy="4992624"/>
          </a:xfrm>
          <a:prstGeom prst="rect">
            <a:avLst/>
          </a:prstGeom>
          <a:noFill/>
        </p:spPr>
        <p:txBody>
          <a:bodyPr wrap="square" lIns="54864" rIns="54864">
            <a:spAutoFit/>
          </a:bodyPr>
          <a:lstStyle/>
          <a:p>
            <a:pPr>
              <a:spcAft>
                <a:spcPts val="400"/>
              </a:spcAft>
              <a:defRPr sz="1050" b="1">
                <a:solidFill>
                  <a:srgbClr val="FF3F6C"/>
                </a:solidFill>
              </a:defRPr>
            </a:pPr>
            <a:r>
              <a:t>🧪 200,000-USER RCT A/B TESTING DESIGN</a:t>
            </a:r>
          </a:p>
          <a:p>
            <a:pPr marL="177800" indent="-127000">
              <a:lnSpc>
                <a:spcPct val="114000"/>
              </a:lnSpc>
              <a:spcBef>
                <a:spcPts val="200"/>
              </a:spcBef>
              <a:spcAft>
                <a:spcPts val="300"/>
              </a:spcAft>
              <a:defRPr sz="860"/>
            </a:pPr>
            <a:r>
              <a:rPr b="1">
                <a:solidFill>
                  <a:srgbClr val="282C3F"/>
                </a:solidFill>
              </a:rPr>
              <a:t>• Sample Size &amp; Power: </a:t>
            </a:r>
            <a:r>
              <a:rPr>
                <a:solidFill>
                  <a:srgbClr val="282C3F"/>
                </a:solidFill>
              </a:rPr>
              <a:t>200,000 Active Wishlist Users (100k Control vs 100k Variant), 95% Confidence, 80% Statistical Power.</a:t>
            </a:r>
          </a:p>
          <a:p>
            <a:pPr marL="177800" indent="-127000">
              <a:lnSpc>
                <a:spcPct val="114000"/>
              </a:lnSpc>
              <a:spcBef>
                <a:spcPts val="200"/>
              </a:spcBef>
              <a:spcAft>
                <a:spcPts val="300"/>
              </a:spcAft>
              <a:defRPr sz="860"/>
            </a:pPr>
            <a:r>
              <a:rPr b="1">
                <a:solidFill>
                  <a:srgbClr val="282C3F"/>
                </a:solidFill>
              </a:rPr>
              <a:t>• Control vs Variant: </a:t>
            </a:r>
            <a:r>
              <a:rPr>
                <a:solidFill>
                  <a:srgbClr val="282C3F"/>
                </a:solidFill>
              </a:rPr>
              <a:t>Control sees standard passive wishlist; Variant receives Wishlist Studio (Spec Matrix + Looks + Poll).</a:t>
            </a:r>
          </a:p>
          <a:p>
            <a:pPr marL="177800" indent="-127000">
              <a:lnSpc>
                <a:spcPct val="114000"/>
              </a:lnSpc>
              <a:spcBef>
                <a:spcPts val="200"/>
              </a:spcBef>
              <a:spcAft>
                <a:spcPts val="300"/>
              </a:spcAft>
              <a:defRPr sz="860"/>
            </a:pPr>
            <a:r>
              <a:rPr b="1">
                <a:solidFill>
                  <a:srgbClr val="282C3F"/>
                </a:solidFill>
              </a:rPr>
              <a:t>• Automated Kill Threshold 1: </a:t>
            </a:r>
            <a:r>
              <a:rPr>
                <a:solidFill>
                  <a:srgbClr val="282C3F"/>
                </a:solidFill>
              </a:rPr>
              <a:t>If Spec Matrix adoption &lt; 15% at Day 30 → pause rollout and refine top 5 category spec schemas.</a:t>
            </a:r>
          </a:p>
          <a:p>
            <a:pPr marL="177800" indent="-127000">
              <a:lnSpc>
                <a:spcPct val="114000"/>
              </a:lnSpc>
              <a:spcBef>
                <a:spcPts val="200"/>
              </a:spcBef>
              <a:spcAft>
                <a:spcPts val="300"/>
              </a:spcAft>
              <a:defRPr sz="860"/>
            </a:pPr>
            <a:r>
              <a:rPr b="1">
                <a:solidFill>
                  <a:srgbClr val="282C3F"/>
                </a:solidFill>
              </a:rPr>
              <a:t>• Automated Kill Threshold 2: </a:t>
            </a:r>
            <a:r>
              <a:rPr>
                <a:solidFill>
                  <a:srgbClr val="282C3F"/>
                </a:solidFill>
              </a:rPr>
              <a:t>If Return Rate exceeds 24% or p95 latency &gt; 800ms → automated circuit breaker rolls back within 60s.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124047" y="182880"/>
            <a:ext cx="5943600" cy="329184"/>
          </a:xfrm>
          <a:prstGeom prst="roundRect">
            <a:avLst/>
          </a:prstGeom>
          <a:solidFill>
            <a:srgbClr val="FF3F6C"/>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spcBef>
                <a:spcPts val="0"/>
              </a:spcBef>
              <a:spcAft>
                <a:spcPts val="0"/>
              </a:spcAft>
              <a:defRPr sz="950" b="1">
                <a:solidFill>
                  <a:srgbClr val="FFFFFF"/>
                </a:solidFill>
              </a:defRPr>
            </a:pPr>
            <a:r>
              <a:t>PITFALLS, MITIGATIONS &amp; PHASED ROLLOUT ROADMAP</a:t>
            </a:r>
          </a:p>
        </p:txBody>
      </p:sp>
      <p:sp>
        <p:nvSpPr>
          <p:cNvPr id="3" name="TextBox 2"/>
          <p:cNvSpPr txBox="1"/>
          <p:nvPr/>
        </p:nvSpPr>
        <p:spPr>
          <a:xfrm>
            <a:off x="640080" y="585216"/>
            <a:ext cx="9601200" cy="777240"/>
          </a:xfrm>
          <a:prstGeom prst="rect">
            <a:avLst/>
          </a:prstGeom>
          <a:noFill/>
        </p:spPr>
        <p:txBody>
          <a:bodyPr wrap="square" lIns="0" rIns="0" tIns="0" bIns="0">
            <a:spAutoFit/>
          </a:bodyPr>
          <a:lstStyle/>
          <a:p>
            <a:pPr>
              <a:spcAft>
                <a:spcPts val="200"/>
              </a:spcAft>
              <a:defRPr sz="1350" b="1">
                <a:solidFill>
                  <a:srgbClr val="282C3F"/>
                </a:solidFill>
              </a:defRPr>
            </a:pPr>
            <a:r>
              <a:t>10. Pitfalls, Mitigations, and Phased GTM Rollout: Delivering ₹18.81 Cr Profit with 60-Second Circuit Breakers</a:t>
            </a:r>
          </a:p>
          <a:p>
            <a:pPr>
              <a:spcBef>
                <a:spcPts val="200"/>
              </a:spcBef>
              <a:spcAft>
                <a:spcPts val="400"/>
              </a:spcAft>
              <a:defRPr sz="1000" b="1">
                <a:solidFill>
                  <a:srgbClr val="FF3F6C"/>
                </a:solidFill>
              </a:defRPr>
            </a:pPr>
            <a:r>
              <a:t>Risk mitigation matrix and 3-phase rollout roadmap with explicit success gates and automated safeguards.</a:t>
            </a:r>
          </a:p>
        </p:txBody>
      </p:sp>
      <p:sp>
        <p:nvSpPr>
          <p:cNvPr id="4" name="TextBox 3"/>
          <p:cNvSpPr txBox="1"/>
          <p:nvPr/>
        </p:nvSpPr>
        <p:spPr>
          <a:xfrm>
            <a:off x="10424160" y="585216"/>
            <a:ext cx="1188720" cy="457200"/>
          </a:xfrm>
          <a:prstGeom prst="rect">
            <a:avLst/>
          </a:prstGeom>
          <a:noFill/>
        </p:spPr>
        <p:txBody>
          <a:bodyPr wrap="none" lIns="0" rIns="0" tIns="0" bIns="0">
            <a:spAutoFit/>
          </a:bodyPr>
          <a:lstStyle/>
          <a:p>
            <a:pPr algn="r">
              <a:defRPr sz="2200" b="1">
                <a:solidFill>
                  <a:srgbClr val="FF3F6C"/>
                </a:solidFill>
              </a:defRPr>
            </a:pPr>
            <a:r>
              <a:t>myntra</a:t>
            </a:r>
          </a:p>
        </p:txBody>
      </p:sp>
      <p:sp>
        <p:nvSpPr>
          <p:cNvPr id="5" name="Rounded Rectangle 4"/>
          <p:cNvSpPr/>
          <p:nvPr/>
        </p:nvSpPr>
        <p:spPr>
          <a:xfrm>
            <a:off x="640080" y="1444752"/>
            <a:ext cx="3529584" cy="2487168"/>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499616"/>
            <a:ext cx="3383280" cy="2377440"/>
          </a:xfrm>
          <a:prstGeom prst="rect">
            <a:avLst/>
          </a:prstGeom>
          <a:noFill/>
        </p:spPr>
        <p:txBody>
          <a:bodyPr wrap="square" lIns="54864" rIns="54864">
            <a:spAutoFit/>
          </a:bodyPr>
          <a:lstStyle/>
          <a:p>
            <a:pPr>
              <a:spcAft>
                <a:spcPts val="200"/>
              </a:spcAft>
              <a:defRPr sz="980" b="1">
                <a:solidFill>
                  <a:srgbClr val="FF3F6C"/>
                </a:solidFill>
              </a:defRPr>
            </a:pPr>
            <a:r>
              <a:t>⚠️ Vendor GSM Data Gaps</a:t>
            </a:r>
          </a:p>
          <a:p>
            <a:pPr marL="127000" indent="0">
              <a:lnSpc>
                <a:spcPct val="112000"/>
              </a:lnSpc>
              <a:spcAft>
                <a:spcPts val="200"/>
              </a:spcAft>
              <a:defRPr sz="850"/>
            </a:pPr>
            <a:r>
              <a:rPr b="1">
                <a:solidFill>
                  <a:srgbClr val="282C3F"/>
                </a:solidFill>
              </a:rPr>
              <a:t>Pitfall: </a:t>
            </a:r>
            <a:r>
              <a:rPr>
                <a:solidFill>
                  <a:srgbClr val="282C3F"/>
                </a:solidFill>
              </a:rPr>
              <a:t>Missing or inaccurate fabric GSM specifications from tier-2 apparel vendors.</a:t>
            </a:r>
          </a:p>
          <a:p>
            <a:pPr marL="127000" indent="0">
              <a:lnSpc>
                <a:spcPct val="112000"/>
              </a:lnSpc>
              <a:spcAft>
                <a:spcPts val="0"/>
              </a:spcAft>
              <a:defRPr sz="850"/>
            </a:pPr>
            <a:r>
              <a:rPr b="1">
                <a:solidFill>
                  <a:srgbClr val="03A685"/>
                </a:solidFill>
              </a:rPr>
              <a:t>Mitigation: </a:t>
            </a:r>
            <a:r>
              <a:rPr>
                <a:solidFill>
                  <a:srgbClr val="282C3F"/>
                </a:solidFill>
              </a:rPr>
              <a:t>Heuristic textile weave model infers GSM from fabric composition and yarn density with 94% accuracy.</a:t>
            </a:r>
          </a:p>
        </p:txBody>
      </p:sp>
      <p:sp>
        <p:nvSpPr>
          <p:cNvPr id="7" name="Rounded Rectangle 6"/>
          <p:cNvSpPr/>
          <p:nvPr/>
        </p:nvSpPr>
        <p:spPr>
          <a:xfrm>
            <a:off x="4325112" y="1444752"/>
            <a:ext cx="3529584" cy="2487168"/>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98264" y="1499616"/>
            <a:ext cx="3383280" cy="2377440"/>
          </a:xfrm>
          <a:prstGeom prst="rect">
            <a:avLst/>
          </a:prstGeom>
          <a:noFill/>
        </p:spPr>
        <p:txBody>
          <a:bodyPr wrap="square" lIns="54864" rIns="54864">
            <a:spAutoFit/>
          </a:bodyPr>
          <a:lstStyle/>
          <a:p>
            <a:pPr>
              <a:spcAft>
                <a:spcPts val="200"/>
              </a:spcAft>
              <a:defRPr sz="980" b="1">
                <a:solidFill>
                  <a:srgbClr val="FF3F6C"/>
                </a:solidFill>
              </a:defRPr>
            </a:pPr>
            <a:r>
              <a:t>⚠️ Social Polling Latency</a:t>
            </a:r>
          </a:p>
          <a:p>
            <a:pPr marL="127000" indent="0">
              <a:lnSpc>
                <a:spcPct val="112000"/>
              </a:lnSpc>
              <a:spcAft>
                <a:spcPts val="200"/>
              </a:spcAft>
              <a:defRPr sz="850"/>
            </a:pPr>
            <a:r>
              <a:rPr b="1">
                <a:solidFill>
                  <a:srgbClr val="282C3F"/>
                </a:solidFill>
              </a:rPr>
              <a:t>Pitfall: </a:t>
            </a:r>
            <a:r>
              <a:rPr>
                <a:solidFill>
                  <a:srgbClr val="282C3F"/>
                </a:solidFill>
              </a:rPr>
              <a:t>Friends take hours to vote on WhatsApp, causing shopping momentum to decay.</a:t>
            </a:r>
          </a:p>
          <a:p>
            <a:pPr marL="127000" indent="0">
              <a:lnSpc>
                <a:spcPct val="112000"/>
              </a:lnSpc>
              <a:spcAft>
                <a:spcPts val="0"/>
              </a:spcAft>
              <a:defRPr sz="850"/>
            </a:pPr>
            <a:r>
              <a:rPr b="1">
                <a:solidFill>
                  <a:srgbClr val="03A685"/>
                </a:solidFill>
              </a:rPr>
              <a:t>Mitigation: </a:t>
            </a:r>
            <a:r>
              <a:rPr>
                <a:solidFill>
                  <a:srgbClr val="282C3F"/>
                </a:solidFill>
              </a:rPr>
              <a:t>2-Second Instant AI Consensus Backup surfaces community agreement ('78% Choice') to unblock purchase.</a:t>
            </a:r>
          </a:p>
        </p:txBody>
      </p:sp>
      <p:sp>
        <p:nvSpPr>
          <p:cNvPr id="9" name="Rounded Rectangle 8"/>
          <p:cNvSpPr/>
          <p:nvPr/>
        </p:nvSpPr>
        <p:spPr>
          <a:xfrm>
            <a:off x="8010144" y="1444752"/>
            <a:ext cx="3529584" cy="2487168"/>
          </a:xfrm>
          <a:prstGeom prst="roundRect">
            <a:avLst/>
          </a:prstGeom>
          <a:solidFill>
            <a:srgbClr val="FFFFFF"/>
          </a:solidFill>
          <a:ln w="12700">
            <a:solidFill>
              <a:srgbClr val="EAEA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6" y="1499616"/>
            <a:ext cx="3383280" cy="2377440"/>
          </a:xfrm>
          <a:prstGeom prst="rect">
            <a:avLst/>
          </a:prstGeom>
          <a:noFill/>
        </p:spPr>
        <p:txBody>
          <a:bodyPr wrap="square" lIns="54864" rIns="54864">
            <a:spAutoFit/>
          </a:bodyPr>
          <a:lstStyle/>
          <a:p>
            <a:pPr>
              <a:spcAft>
                <a:spcPts val="200"/>
              </a:spcAft>
              <a:defRPr sz="980" b="1">
                <a:solidFill>
                  <a:srgbClr val="FF3F6C"/>
                </a:solidFill>
              </a:defRPr>
            </a:pPr>
            <a:r>
              <a:t>⚠️ Sizing &amp; Fit Return Spikes</a:t>
            </a:r>
          </a:p>
          <a:p>
            <a:pPr marL="127000" indent="0">
              <a:lnSpc>
                <a:spcPct val="112000"/>
              </a:lnSpc>
              <a:spcAft>
                <a:spcPts val="200"/>
              </a:spcAft>
              <a:defRPr sz="850"/>
            </a:pPr>
            <a:r>
              <a:rPr b="1">
                <a:solidFill>
                  <a:srgbClr val="282C3F"/>
                </a:solidFill>
              </a:rPr>
              <a:t>Pitfall: </a:t>
            </a:r>
            <a:r>
              <a:rPr>
                <a:solidFill>
                  <a:srgbClr val="282C3F"/>
                </a:solidFill>
              </a:rPr>
              <a:t>Users misinterpret baggy fit ratings leading to unexpected reverse logistics costs.</a:t>
            </a:r>
          </a:p>
          <a:p>
            <a:pPr marL="127000" indent="0">
              <a:lnSpc>
                <a:spcPct val="112000"/>
              </a:lnSpc>
              <a:spcAft>
                <a:spcPts val="0"/>
              </a:spcAft>
              <a:defRPr sz="850"/>
            </a:pPr>
            <a:r>
              <a:rPr b="1">
                <a:solidFill>
                  <a:srgbClr val="03A685"/>
                </a:solidFill>
              </a:rPr>
              <a:t>Mitigation: </a:t>
            </a:r>
            <a:r>
              <a:rPr>
                <a:solidFill>
                  <a:srgbClr val="282C3F"/>
                </a:solidFill>
              </a:rPr>
              <a:t>Zero-Risk Fit Guarantee + Verified Buyer Drape Photos + Automated 60-second rollback circuit breaker.</a:t>
            </a:r>
          </a:p>
        </p:txBody>
      </p:sp>
      <p:sp>
        <p:nvSpPr>
          <p:cNvPr id="11" name="Rounded Rectangle 10"/>
          <p:cNvSpPr/>
          <p:nvPr/>
        </p:nvSpPr>
        <p:spPr>
          <a:xfrm>
            <a:off x="640080" y="4096512"/>
            <a:ext cx="3529584" cy="2487168"/>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4151376"/>
            <a:ext cx="3383280" cy="2377440"/>
          </a:xfrm>
          <a:prstGeom prst="rect">
            <a:avLst/>
          </a:prstGeom>
          <a:noFill/>
        </p:spPr>
        <p:txBody>
          <a:bodyPr wrap="square" lIns="54864" rIns="54864">
            <a:spAutoFit/>
          </a:bodyPr>
          <a:lstStyle/>
          <a:p>
            <a:pPr>
              <a:spcAft>
                <a:spcPts val="200"/>
              </a:spcAft>
              <a:defRPr sz="980" b="1">
                <a:solidFill>
                  <a:srgbClr val="FF3F6C"/>
                </a:solidFill>
              </a:defRPr>
            </a:pPr>
            <a:r>
              <a:t>🚀 Phase 1 - Beta (30 Days)</a:t>
            </a:r>
          </a:p>
          <a:p>
            <a:pPr marL="127000" indent="0">
              <a:lnSpc>
                <a:spcPct val="112000"/>
              </a:lnSpc>
              <a:spcAft>
                <a:spcPts val="200"/>
              </a:spcAft>
              <a:defRPr sz="850"/>
            </a:pPr>
            <a:r>
              <a:rPr b="1">
                <a:solidFill>
                  <a:srgbClr val="282C3F"/>
                </a:solidFill>
              </a:rPr>
              <a:t>Target: </a:t>
            </a:r>
            <a:r>
              <a:rPr>
                <a:solidFill>
                  <a:srgbClr val="282C3F"/>
                </a:solidFill>
              </a:rPr>
              <a:t>Top 20 Apparel Brands in Bengaluru &amp; Mumbai.</a:t>
            </a:r>
          </a:p>
          <a:p>
            <a:pPr marL="127000" indent="0">
              <a:lnSpc>
                <a:spcPct val="112000"/>
              </a:lnSpc>
              <a:spcAft>
                <a:spcPts val="200"/>
              </a:spcAft>
              <a:defRPr sz="850"/>
            </a:pPr>
            <a:r>
              <a:rPr b="1">
                <a:solidFill>
                  <a:srgbClr val="282C3F"/>
                </a:solidFill>
              </a:rPr>
              <a:t>Scope: </a:t>
            </a:r>
            <a:r>
              <a:rPr>
                <a:solidFill>
                  <a:srgbClr val="282C3F"/>
                </a:solidFill>
              </a:rPr>
              <a:t>Spec Matrix + WhatsApp Voting active for baskets &gt; ₹1,000.</a:t>
            </a:r>
          </a:p>
          <a:p>
            <a:pPr marL="127000" indent="0">
              <a:lnSpc>
                <a:spcPct val="112000"/>
              </a:lnSpc>
              <a:spcAft>
                <a:spcPts val="0"/>
              </a:spcAft>
              <a:defRPr sz="850"/>
            </a:pPr>
            <a:r>
              <a:rPr b="1">
                <a:solidFill>
                  <a:srgbClr val="03A685"/>
                </a:solidFill>
              </a:rPr>
              <a:t>Gate: </a:t>
            </a:r>
            <a:r>
              <a:rPr>
                <a:solidFill>
                  <a:srgbClr val="282C3F"/>
                </a:solidFill>
              </a:rPr>
              <a:t>Matrix Adoption ≥ 30% | Checkout Friction &lt; 2% drop</a:t>
            </a:r>
          </a:p>
        </p:txBody>
      </p:sp>
      <p:sp>
        <p:nvSpPr>
          <p:cNvPr id="13" name="Rounded Rectangle 12"/>
          <p:cNvSpPr/>
          <p:nvPr/>
        </p:nvSpPr>
        <p:spPr>
          <a:xfrm>
            <a:off x="4325112" y="4096512"/>
            <a:ext cx="3529584" cy="2487168"/>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98264" y="4151376"/>
            <a:ext cx="3383280" cy="2377440"/>
          </a:xfrm>
          <a:prstGeom prst="rect">
            <a:avLst/>
          </a:prstGeom>
          <a:noFill/>
        </p:spPr>
        <p:txBody>
          <a:bodyPr wrap="square" lIns="54864" rIns="54864">
            <a:spAutoFit/>
          </a:bodyPr>
          <a:lstStyle/>
          <a:p>
            <a:pPr>
              <a:spcAft>
                <a:spcPts val="200"/>
              </a:spcAft>
              <a:defRPr sz="980" b="1">
                <a:solidFill>
                  <a:srgbClr val="FF3F6C"/>
                </a:solidFill>
              </a:defRPr>
            </a:pPr>
            <a:r>
              <a:t>🚀 Phase 2 - Metro Rollout (90 Days)</a:t>
            </a:r>
          </a:p>
          <a:p>
            <a:pPr marL="127000" indent="0">
              <a:lnSpc>
                <a:spcPct val="112000"/>
              </a:lnSpc>
              <a:spcAft>
                <a:spcPts val="200"/>
              </a:spcAft>
              <a:defRPr sz="850"/>
            </a:pPr>
            <a:r>
              <a:rPr b="1">
                <a:solidFill>
                  <a:srgbClr val="282C3F"/>
                </a:solidFill>
              </a:rPr>
              <a:t>Target: </a:t>
            </a:r>
            <a:r>
              <a:rPr>
                <a:solidFill>
                  <a:srgbClr val="282C3F"/>
                </a:solidFill>
              </a:rPr>
              <a:t>Top 500 Brands across all Tier-1 Metros.</a:t>
            </a:r>
          </a:p>
          <a:p>
            <a:pPr marL="127000" indent="0">
              <a:lnSpc>
                <a:spcPct val="112000"/>
              </a:lnSpc>
              <a:spcAft>
                <a:spcPts val="200"/>
              </a:spcAft>
              <a:defRPr sz="850"/>
            </a:pPr>
            <a:r>
              <a:rPr b="1">
                <a:solidFill>
                  <a:srgbClr val="282C3F"/>
                </a:solidFill>
              </a:rPr>
              <a:t>Scope: </a:t>
            </a:r>
            <a:r>
              <a:rPr>
                <a:solidFill>
                  <a:srgbClr val="282C3F"/>
                </a:solidFill>
              </a:rPr>
              <a:t>AI Look Coordinator active; 500+ vendor catalogs onboarded.</a:t>
            </a:r>
          </a:p>
          <a:p>
            <a:pPr marL="127000" indent="0">
              <a:lnSpc>
                <a:spcPct val="112000"/>
              </a:lnSpc>
              <a:spcAft>
                <a:spcPts val="0"/>
              </a:spcAft>
              <a:defRPr sz="850"/>
            </a:pPr>
            <a:r>
              <a:rPr b="1">
                <a:solidFill>
                  <a:srgbClr val="03A685"/>
                </a:solidFill>
              </a:rPr>
              <a:t>Gate: </a:t>
            </a:r>
            <a:r>
              <a:rPr>
                <a:solidFill>
                  <a:srgbClr val="282C3F"/>
                </a:solidFill>
              </a:rPr>
              <a:t>AI Look Move-to-Bag ≥ 22% | Conversion Lift ≥ +200bps</a:t>
            </a:r>
          </a:p>
        </p:txBody>
      </p:sp>
      <p:sp>
        <p:nvSpPr>
          <p:cNvPr id="15" name="Rounded Rectangle 14"/>
          <p:cNvSpPr/>
          <p:nvPr/>
        </p:nvSpPr>
        <p:spPr>
          <a:xfrm>
            <a:off x="8010144" y="4096512"/>
            <a:ext cx="3529584" cy="2487168"/>
          </a:xfrm>
          <a:prstGeom prst="roundRect">
            <a:avLst/>
          </a:prstGeom>
          <a:solidFill>
            <a:srgbClr val="FFF0F4"/>
          </a:solidFill>
          <a:ln w="12700">
            <a:solidFill>
              <a:srgbClr val="FFC2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83296" y="4151376"/>
            <a:ext cx="3383280" cy="2377440"/>
          </a:xfrm>
          <a:prstGeom prst="rect">
            <a:avLst/>
          </a:prstGeom>
          <a:noFill/>
        </p:spPr>
        <p:txBody>
          <a:bodyPr wrap="square" lIns="54864" rIns="54864">
            <a:spAutoFit/>
          </a:bodyPr>
          <a:lstStyle/>
          <a:p>
            <a:pPr>
              <a:spcAft>
                <a:spcPts val="200"/>
              </a:spcAft>
              <a:defRPr sz="980" b="1">
                <a:solidFill>
                  <a:srgbClr val="FF3F6C"/>
                </a:solidFill>
              </a:defRPr>
            </a:pPr>
            <a:r>
              <a:t>🚀 Phase 3 - General Availability (180 Days)</a:t>
            </a:r>
          </a:p>
          <a:p>
            <a:pPr marL="127000" indent="0">
              <a:lnSpc>
                <a:spcPct val="112000"/>
              </a:lnSpc>
              <a:spcAft>
                <a:spcPts val="200"/>
              </a:spcAft>
              <a:defRPr sz="850"/>
            </a:pPr>
            <a:r>
              <a:rPr b="1">
                <a:solidFill>
                  <a:srgbClr val="282C3F"/>
                </a:solidFill>
              </a:rPr>
              <a:t>Target: </a:t>
            </a:r>
            <a:r>
              <a:rPr>
                <a:solidFill>
                  <a:srgbClr val="282C3F"/>
                </a:solidFill>
              </a:rPr>
              <a:t>100% Rollout across all 10M Wishlist MAU.</a:t>
            </a:r>
          </a:p>
          <a:p>
            <a:pPr marL="127000" indent="0">
              <a:lnSpc>
                <a:spcPct val="112000"/>
              </a:lnSpc>
              <a:spcAft>
                <a:spcPts val="200"/>
              </a:spcAft>
              <a:defRPr sz="850"/>
            </a:pPr>
            <a:r>
              <a:rPr b="1">
                <a:solidFill>
                  <a:srgbClr val="282C3F"/>
                </a:solidFill>
              </a:rPr>
              <a:t>Scope: </a:t>
            </a:r>
            <a:r>
              <a:rPr>
                <a:solidFill>
                  <a:srgbClr val="282C3F"/>
                </a:solidFill>
              </a:rPr>
              <a:t>Full catalog unlocked; Horizon 2 Occasion Auto-Folders live.</a:t>
            </a:r>
          </a:p>
          <a:p>
            <a:pPr marL="127000" indent="0">
              <a:lnSpc>
                <a:spcPct val="112000"/>
              </a:lnSpc>
              <a:spcAft>
                <a:spcPts val="0"/>
              </a:spcAft>
              <a:defRPr sz="850"/>
            </a:pPr>
            <a:r>
              <a:rPr b="1">
                <a:solidFill>
                  <a:srgbClr val="03A685"/>
                </a:solidFill>
              </a:rPr>
              <a:t>Gate: </a:t>
            </a:r>
            <a:r>
              <a:rPr>
                <a:solidFill>
                  <a:srgbClr val="282C3F"/>
                </a:solidFill>
              </a:rPr>
              <a:t>NSM: 10.5% Conversion (+300bps) | Gross Profit: +₹18.81 Cr/mo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