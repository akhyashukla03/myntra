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124047" y="201168"/>
            <a:ext cx="5943600" cy="347472"/>
          </a:xfrm>
          <a:prstGeom prst="roundRect">
            <a:avLst/>
          </a:prstGeom>
          <a:solidFill>
            <a:srgbClr val="FF3F6C"/>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Bef>
                <a:spcPts val="0"/>
              </a:spcBef>
              <a:spcAft>
                <a:spcPts val="0"/>
              </a:spcAft>
              <a:defRPr sz="950" b="1">
                <a:solidFill>
                  <a:srgbClr val="FFFFFF"/>
                </a:solidFill>
              </a:defRPr>
            </a:pPr>
            <a:r>
              <a:t>STRATEGIC GOAL &amp; EXECUTIVE CONTEXT (WISHLIST CONVERSION ENGINE)</a:t>
            </a:r>
          </a:p>
        </p:txBody>
      </p:sp>
      <p:sp>
        <p:nvSpPr>
          <p:cNvPr id="3" name="TextBox 2"/>
          <p:cNvSpPr txBox="1"/>
          <p:nvPr/>
        </p:nvSpPr>
        <p:spPr>
          <a:xfrm>
            <a:off x="640080" y="621792"/>
            <a:ext cx="9601200" cy="777240"/>
          </a:xfrm>
          <a:prstGeom prst="rect">
            <a:avLst/>
          </a:prstGeom>
          <a:noFill/>
        </p:spPr>
        <p:txBody>
          <a:bodyPr wrap="square" lIns="0" rIns="0" tIns="0" bIns="0">
            <a:spAutoFit/>
          </a:bodyPr>
          <a:lstStyle/>
          <a:p>
            <a:pPr>
              <a:spcAft>
                <a:spcPts val="200"/>
              </a:spcAft>
              <a:defRPr sz="1350" b="1">
                <a:solidFill>
                  <a:srgbClr val="282C3F"/>
                </a:solidFill>
              </a:defRPr>
            </a:pPr>
            <a:r>
              <a:t>1. Myntra Expands Blended Gross Margin (+300bps) by Converting Daily Wishlist Habits into Recurring Non-Discounted Buying</a:t>
            </a:r>
          </a:p>
          <a:p>
            <a:pPr>
              <a:spcBef>
                <a:spcPts val="200"/>
              </a:spcBef>
              <a:spcAft>
                <a:spcPts val="400"/>
              </a:spcAft>
              <a:defRPr sz="1000" b="1">
                <a:solidFill>
                  <a:srgbClr val="FF3F6C"/>
                </a:solidFill>
              </a:defRPr>
            </a:pPr>
            <a:r>
              <a:t>Funding purchase confidence through proprietary spec clarity and AI styling to bypass traditional P&amp;L discount subsidies.</a:t>
            </a:r>
          </a:p>
        </p:txBody>
      </p:sp>
      <p:sp>
        <p:nvSpPr>
          <p:cNvPr id="4" name="TextBox 3"/>
          <p:cNvSpPr txBox="1"/>
          <p:nvPr/>
        </p:nvSpPr>
        <p:spPr>
          <a:xfrm>
            <a:off x="10424160" y="621792"/>
            <a:ext cx="1188720" cy="457200"/>
          </a:xfrm>
          <a:prstGeom prst="rect">
            <a:avLst/>
          </a:prstGeom>
          <a:noFill/>
        </p:spPr>
        <p:txBody>
          <a:bodyPr wrap="none" lIns="0" rIns="0" tIns="0" bIns="0">
            <a:spAutoFit/>
          </a:bodyPr>
          <a:lstStyle/>
          <a:p>
            <a:pPr algn="r">
              <a:defRPr sz="2200" b="1">
                <a:solidFill>
                  <a:srgbClr val="FF3F6C"/>
                </a:solidFill>
              </a:defRPr>
            </a:pPr>
            <a:r>
              <a:t>myntra</a:t>
            </a:r>
          </a:p>
        </p:txBody>
      </p:sp>
      <p:sp>
        <p:nvSpPr>
          <p:cNvPr id="5" name="Rounded Rectangle 4"/>
          <p:cNvSpPr/>
          <p:nvPr/>
        </p:nvSpPr>
        <p:spPr>
          <a:xfrm>
            <a:off x="640080" y="1536192"/>
            <a:ext cx="4114800" cy="3090672"/>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27632"/>
            <a:ext cx="3895344" cy="2907792"/>
          </a:xfrm>
          <a:prstGeom prst="rect">
            <a:avLst/>
          </a:prstGeom>
          <a:noFill/>
        </p:spPr>
        <p:txBody>
          <a:bodyPr wrap="square" lIns="73152" rIns="73152" tIns="54864" bIns="54864">
            <a:spAutoFit/>
          </a:bodyPr>
          <a:lstStyle/>
          <a:p>
            <a:pPr>
              <a:spcAft>
                <a:spcPts val="600"/>
              </a:spcAft>
              <a:defRPr sz="1100" b="1">
                <a:solidFill>
                  <a:srgbClr val="FF3F6C"/>
                </a:solidFill>
              </a:defRPr>
            </a:pPr>
            <a:r>
              <a:t>🎯 STRATEGIC GOAL</a:t>
            </a:r>
          </a:p>
          <a:p>
            <a:pPr marL="203200" indent="-152400">
              <a:lnSpc>
                <a:spcPct val="115000"/>
              </a:lnSpc>
              <a:spcBef>
                <a:spcPts val="200"/>
              </a:spcBef>
              <a:spcAft>
                <a:spcPts val="400"/>
              </a:spcAft>
              <a:defRPr sz="950"/>
            </a:pPr>
            <a:r>
              <a:rPr b="1">
                <a:solidFill>
                  <a:srgbClr val="FF3F6C"/>
                </a:solidFill>
              </a:rPr>
              <a:t>• </a:t>
            </a:r>
            <a:r>
              <a:rPr b="1">
                <a:solidFill>
                  <a:srgbClr val="282C3F"/>
                </a:solidFill>
              </a:rPr>
              <a:t>Primary Objective: </a:t>
            </a:r>
            <a:r>
              <a:rPr>
                <a:solidFill>
                  <a:srgbClr val="282C3F"/>
                </a:solidFill>
              </a:rPr>
              <a:t>Drive non-discounted wishlist-to-bag conversion from 7.5% to 10.5% (+300bps) in 12 months.</a:t>
            </a:r>
          </a:p>
          <a:p>
            <a:pPr marL="203200" indent="-152400">
              <a:lnSpc>
                <a:spcPct val="115000"/>
              </a:lnSpc>
              <a:spcBef>
                <a:spcPts val="200"/>
              </a:spcBef>
              <a:spcAft>
                <a:spcPts val="400"/>
              </a:spcAft>
              <a:defRPr sz="950"/>
            </a:pPr>
            <a:r>
              <a:rPr b="1">
                <a:solidFill>
                  <a:srgbClr val="FF3F6C"/>
                </a:solidFill>
              </a:rPr>
              <a:t>• </a:t>
            </a:r>
            <a:r>
              <a:rPr b="1">
                <a:solidFill>
                  <a:srgbClr val="282C3F"/>
                </a:solidFill>
              </a:rPr>
              <a:t>Shortlist Inertia: </a:t>
            </a:r>
            <a:r>
              <a:rPr>
                <a:solidFill>
                  <a:srgbClr val="282C3F"/>
                </a:solidFill>
              </a:rPr>
              <a:t>66.7% of active wishlists stall into inactive graveyards with 38+ saved items per user.</a:t>
            </a:r>
          </a:p>
          <a:p>
            <a:pPr marL="203200" indent="-152400">
              <a:lnSpc>
                <a:spcPct val="115000"/>
              </a:lnSpc>
              <a:spcBef>
                <a:spcPts val="200"/>
              </a:spcBef>
              <a:spcAft>
                <a:spcPts val="400"/>
              </a:spcAft>
              <a:defRPr sz="950"/>
            </a:pPr>
            <a:r>
              <a:rPr b="1">
                <a:solidFill>
                  <a:srgbClr val="FF3F6C"/>
                </a:solidFill>
              </a:rPr>
              <a:t>• </a:t>
            </a:r>
            <a:r>
              <a:rPr b="1">
                <a:solidFill>
                  <a:srgbClr val="282C3F"/>
                </a:solidFill>
              </a:rPr>
              <a:t>Scope &amp; Mandate: </a:t>
            </a:r>
            <a:r>
              <a:rPr>
                <a:solidFill>
                  <a:srgbClr val="282C3F"/>
                </a:solidFill>
              </a:rPr>
              <a:t>PM on Myntra Growth Team unlocking dormant intent purely via UX clarity—zero margin-eroding flash coupons.</a:t>
            </a:r>
          </a:p>
          <a:p>
            <a:pPr marL="203200" indent="-152400">
              <a:lnSpc>
                <a:spcPct val="115000"/>
              </a:lnSpc>
              <a:spcBef>
                <a:spcPts val="200"/>
              </a:spcBef>
              <a:spcAft>
                <a:spcPts val="400"/>
              </a:spcAft>
              <a:defRPr sz="950"/>
            </a:pPr>
            <a:r>
              <a:rPr b="1">
                <a:solidFill>
                  <a:srgbClr val="FF3F6C"/>
                </a:solidFill>
              </a:rPr>
              <a:t>• </a:t>
            </a:r>
            <a:r>
              <a:rPr b="1">
                <a:solidFill>
                  <a:srgbClr val="282C3F"/>
                </a:solidFill>
              </a:rPr>
              <a:t>Target Engagement: </a:t>
            </a:r>
            <a:r>
              <a:rPr>
                <a:solidFill>
                  <a:srgbClr val="282C3F"/>
                </a:solidFill>
              </a:rPr>
              <a:t>10M Monthly Active Wishlist Users across Tier 1 and Tier 2 metros.</a:t>
            </a:r>
          </a:p>
        </p:txBody>
      </p:sp>
      <p:sp>
        <p:nvSpPr>
          <p:cNvPr id="7" name="Rounded Rectangle 6"/>
          <p:cNvSpPr/>
          <p:nvPr/>
        </p:nvSpPr>
        <p:spPr>
          <a:xfrm>
            <a:off x="4892040" y="1536192"/>
            <a:ext cx="4114800" cy="3090672"/>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1768" y="1627632"/>
            <a:ext cx="3895344" cy="2907792"/>
          </a:xfrm>
          <a:prstGeom prst="rect">
            <a:avLst/>
          </a:prstGeom>
          <a:noFill/>
        </p:spPr>
        <p:txBody>
          <a:bodyPr wrap="square" lIns="73152" rIns="73152" tIns="54864" bIns="54864">
            <a:spAutoFit/>
          </a:bodyPr>
          <a:lstStyle/>
          <a:p>
            <a:pPr>
              <a:spcAft>
                <a:spcPts val="600"/>
              </a:spcAft>
              <a:defRPr sz="1100" b="1">
                <a:solidFill>
                  <a:srgbClr val="FF3F6C"/>
                </a:solidFill>
              </a:defRPr>
            </a:pPr>
            <a:r>
              <a:t>⚡ WHY IT MATTERS (HYPOTHESIS &amp; IMPACT)</a:t>
            </a:r>
          </a:p>
          <a:p>
            <a:pPr marL="203200" indent="-152400">
              <a:lnSpc>
                <a:spcPct val="115000"/>
              </a:lnSpc>
              <a:spcBef>
                <a:spcPts val="200"/>
              </a:spcBef>
              <a:spcAft>
                <a:spcPts val="400"/>
              </a:spcAft>
              <a:defRPr sz="950"/>
            </a:pPr>
            <a:r>
              <a:rPr b="1">
                <a:solidFill>
                  <a:srgbClr val="FF3F6C"/>
                </a:solidFill>
              </a:rPr>
              <a:t>• </a:t>
            </a:r>
            <a:r>
              <a:rPr b="1">
                <a:solidFill>
                  <a:srgbClr val="282C3F"/>
                </a:solidFill>
              </a:rPr>
              <a:t>Problem Hypothesis: </a:t>
            </a:r>
            <a:r>
              <a:rPr>
                <a:solidFill>
                  <a:srgbClr val="282C3F"/>
                </a:solidFill>
              </a:rPr>
              <a:t>Users stall on wishlists due to comparison paralysis and fabric uncertainty, not lack of intent or money.</a:t>
            </a:r>
          </a:p>
          <a:p>
            <a:pPr marL="203200" indent="-152400">
              <a:lnSpc>
                <a:spcPct val="115000"/>
              </a:lnSpc>
              <a:spcBef>
                <a:spcPts val="200"/>
              </a:spcBef>
              <a:spcAft>
                <a:spcPts val="400"/>
              </a:spcAft>
              <a:defRPr sz="950"/>
            </a:pPr>
            <a:r>
              <a:rPr b="1">
                <a:solidFill>
                  <a:srgbClr val="FF3F6C"/>
                </a:solidFill>
              </a:rPr>
              <a:t>• </a:t>
            </a:r>
            <a:r>
              <a:rPr b="1">
                <a:solidFill>
                  <a:srgbClr val="282C3F"/>
                </a:solidFill>
              </a:rPr>
              <a:t>Margin Shift Impact: </a:t>
            </a:r>
            <a:r>
              <a:rPr>
                <a:solidFill>
                  <a:srgbClr val="282C3F"/>
                </a:solidFill>
              </a:rPr>
              <a:t>Replaces P&amp;L discount subsidies with trust-led evaluation, retaining full 38% gross margin.</a:t>
            </a:r>
          </a:p>
          <a:p>
            <a:pPr marL="203200" indent="-152400">
              <a:lnSpc>
                <a:spcPct val="115000"/>
              </a:lnSpc>
              <a:spcBef>
                <a:spcPts val="200"/>
              </a:spcBef>
              <a:spcAft>
                <a:spcPts val="400"/>
              </a:spcAft>
              <a:defRPr sz="950"/>
            </a:pPr>
            <a:r>
              <a:rPr b="1">
                <a:solidFill>
                  <a:srgbClr val="FF3F6C"/>
                </a:solidFill>
              </a:rPr>
              <a:t>• </a:t>
            </a:r>
            <a:r>
              <a:rPr b="1">
                <a:solidFill>
                  <a:srgbClr val="282C3F"/>
                </a:solidFill>
              </a:rPr>
              <a:t>Direct Profit Pool: </a:t>
            </a:r>
            <a:r>
              <a:rPr>
                <a:solidFill>
                  <a:srgbClr val="282C3F"/>
                </a:solidFill>
              </a:rPr>
              <a:t>Unlocks +₹18.81 Cr monthly gross profit (+₹225.7 Cr annual profit) from existing high-intent traffic.</a:t>
            </a:r>
          </a:p>
          <a:p>
            <a:pPr marL="203200" indent="-152400">
              <a:lnSpc>
                <a:spcPct val="115000"/>
              </a:lnSpc>
              <a:spcBef>
                <a:spcPts val="200"/>
              </a:spcBef>
              <a:spcAft>
                <a:spcPts val="400"/>
              </a:spcAft>
              <a:defRPr sz="950"/>
            </a:pPr>
            <a:r>
              <a:rPr b="1">
                <a:solidFill>
                  <a:srgbClr val="FF3F6C"/>
                </a:solidFill>
              </a:rPr>
              <a:t>• </a:t>
            </a:r>
            <a:r>
              <a:rPr b="1">
                <a:solidFill>
                  <a:srgbClr val="282C3F"/>
                </a:solidFill>
              </a:rPr>
              <a:t>Zero Logistics Waste: </a:t>
            </a:r>
            <a:r>
              <a:rPr>
                <a:solidFill>
                  <a:srgbClr val="282C3F"/>
                </a:solidFill>
              </a:rPr>
              <a:t>High-confidence buying reduces sizing returns from 24% to ≤18%, saving ₹73.5 Lakh/mo in 3PL reverse logistics.</a:t>
            </a:r>
          </a:p>
        </p:txBody>
      </p:sp>
      <p:sp>
        <p:nvSpPr>
          <p:cNvPr id="9" name="Rounded Rectangle 8"/>
          <p:cNvSpPr/>
          <p:nvPr/>
        </p:nvSpPr>
        <p:spPr>
          <a:xfrm>
            <a:off x="9144000" y="1536192"/>
            <a:ext cx="2404872" cy="3090672"/>
          </a:xfrm>
          <a:prstGeom prst="roundRect">
            <a:avLst/>
          </a:prstGeom>
          <a:solidFill>
            <a:srgbClr val="282C3F"/>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4_Figma_Mobile_Wishlist_Studio_Home.png"/>
          <p:cNvPicPr>
            <a:picLocks noChangeAspect="1"/>
          </p:cNvPicPr>
          <p:nvPr/>
        </p:nvPicPr>
        <p:blipFill>
          <a:blip r:embed="rId2"/>
          <a:stretch>
            <a:fillRect/>
          </a:stretch>
        </p:blipFill>
        <p:spPr>
          <a:xfrm>
            <a:off x="9198864" y="1591056"/>
            <a:ext cx="2295144" cy="2980944"/>
          </a:xfrm>
          <a:prstGeom prst="rect">
            <a:avLst/>
          </a:prstGeom>
        </p:spPr>
      </p:pic>
      <p:sp>
        <p:nvSpPr>
          <p:cNvPr id="11" name="Rounded Rectangle 10"/>
          <p:cNvSpPr/>
          <p:nvPr/>
        </p:nvSpPr>
        <p:spPr>
          <a:xfrm>
            <a:off x="640080" y="4718304"/>
            <a:ext cx="2615184" cy="658368"/>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764024"/>
            <a:ext cx="2615184" cy="566928"/>
          </a:xfrm>
          <a:prstGeom prst="rect">
            <a:avLst/>
          </a:prstGeom>
          <a:noFill/>
        </p:spPr>
        <p:txBody>
          <a:bodyPr wrap="square">
            <a:spAutoFit/>
          </a:bodyPr>
          <a:lstStyle/>
          <a:p>
            <a:pPr algn="ctr">
              <a:defRPr sz="1400" b="1">
                <a:solidFill>
                  <a:srgbClr val="FF3F6C"/>
                </a:solidFill>
              </a:defRPr>
            </a:pPr>
            <a:r>
              <a:t>50M+</a:t>
            </a:r>
          </a:p>
          <a:p>
            <a:pPr algn="ctr">
              <a:defRPr sz="850" b="1">
                <a:solidFill>
                  <a:srgbClr val="535766"/>
                </a:solidFill>
              </a:defRPr>
            </a:pPr>
            <a:r>
              <a:t>Active Shoppers (MAU)</a:t>
            </a:r>
          </a:p>
        </p:txBody>
      </p:sp>
      <p:sp>
        <p:nvSpPr>
          <p:cNvPr id="13" name="Rounded Rectangle 12"/>
          <p:cNvSpPr/>
          <p:nvPr/>
        </p:nvSpPr>
        <p:spPr>
          <a:xfrm>
            <a:off x="3401568" y="4718304"/>
            <a:ext cx="2615184" cy="658368"/>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01568" y="4764024"/>
            <a:ext cx="2615184" cy="566928"/>
          </a:xfrm>
          <a:prstGeom prst="rect">
            <a:avLst/>
          </a:prstGeom>
          <a:noFill/>
        </p:spPr>
        <p:txBody>
          <a:bodyPr wrap="square">
            <a:spAutoFit/>
          </a:bodyPr>
          <a:lstStyle/>
          <a:p>
            <a:pPr algn="ctr">
              <a:defRPr sz="1400" b="1">
                <a:solidFill>
                  <a:srgbClr val="FF3F6C"/>
                </a:solidFill>
              </a:defRPr>
            </a:pPr>
            <a:r>
              <a:t>500K+</a:t>
            </a:r>
          </a:p>
          <a:p>
            <a:pPr algn="ctr">
              <a:defRPr sz="850" b="1">
                <a:solidFill>
                  <a:srgbClr val="535766"/>
                </a:solidFill>
              </a:defRPr>
            </a:pPr>
            <a:r>
              <a:t>Fashion Styles Catalog</a:t>
            </a:r>
          </a:p>
        </p:txBody>
      </p:sp>
      <p:sp>
        <p:nvSpPr>
          <p:cNvPr id="15" name="Rounded Rectangle 14"/>
          <p:cNvSpPr/>
          <p:nvPr/>
        </p:nvSpPr>
        <p:spPr>
          <a:xfrm>
            <a:off x="6163056" y="4718304"/>
            <a:ext cx="2615184" cy="658368"/>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63056" y="4764024"/>
            <a:ext cx="2615184" cy="566928"/>
          </a:xfrm>
          <a:prstGeom prst="rect">
            <a:avLst/>
          </a:prstGeom>
          <a:noFill/>
        </p:spPr>
        <p:txBody>
          <a:bodyPr wrap="square">
            <a:spAutoFit/>
          </a:bodyPr>
          <a:lstStyle/>
          <a:p>
            <a:pPr algn="ctr">
              <a:defRPr sz="1400" b="1">
                <a:solidFill>
                  <a:srgbClr val="FF3F6C"/>
                </a:solidFill>
              </a:defRPr>
            </a:pPr>
            <a:r>
              <a:t>66.7%</a:t>
            </a:r>
          </a:p>
          <a:p>
            <a:pPr algn="ctr">
              <a:defRPr sz="850" b="1">
                <a:solidFill>
                  <a:srgbClr val="535766"/>
                </a:solidFill>
              </a:defRPr>
            </a:pPr>
            <a:r>
              <a:t>Wishlists Inactive Graveyard</a:t>
            </a:r>
          </a:p>
        </p:txBody>
      </p:sp>
      <p:sp>
        <p:nvSpPr>
          <p:cNvPr id="17" name="Rounded Rectangle 16"/>
          <p:cNvSpPr/>
          <p:nvPr/>
        </p:nvSpPr>
        <p:spPr>
          <a:xfrm>
            <a:off x="8924544" y="4718304"/>
            <a:ext cx="2615184" cy="658368"/>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24544" y="4764024"/>
            <a:ext cx="2615184" cy="566928"/>
          </a:xfrm>
          <a:prstGeom prst="rect">
            <a:avLst/>
          </a:prstGeom>
          <a:noFill/>
        </p:spPr>
        <p:txBody>
          <a:bodyPr wrap="square">
            <a:spAutoFit/>
          </a:bodyPr>
          <a:lstStyle/>
          <a:p>
            <a:pPr algn="ctr">
              <a:defRPr sz="1400" b="1">
                <a:solidFill>
                  <a:srgbClr val="FF3F6C"/>
                </a:solidFill>
              </a:defRPr>
            </a:pPr>
            <a:r>
              <a:t>+₹18.81 Cr</a:t>
            </a:r>
          </a:p>
          <a:p>
            <a:pPr algn="ctr">
              <a:defRPr sz="850" b="1">
                <a:solidFill>
                  <a:srgbClr val="535766"/>
                </a:solidFill>
              </a:defRPr>
            </a:pPr>
            <a:r>
              <a:t>Monthly Profit Unlock</a:t>
            </a:r>
          </a:p>
        </p:txBody>
      </p:sp>
      <p:sp>
        <p:nvSpPr>
          <p:cNvPr id="19" name="Rounded Rectangle 18"/>
          <p:cNvSpPr/>
          <p:nvPr/>
        </p:nvSpPr>
        <p:spPr>
          <a:xfrm>
            <a:off x="640080" y="5532120"/>
            <a:ext cx="10911535" cy="62179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577840"/>
            <a:ext cx="10637215" cy="530352"/>
          </a:xfrm>
          <a:prstGeom prst="rect">
            <a:avLst/>
          </a:prstGeom>
          <a:noFill/>
        </p:spPr>
        <p:txBody>
          <a:bodyPr wrap="square" tIns="36576" bIns="36576">
            <a:spAutoFit/>
          </a:bodyPr>
          <a:lstStyle/>
          <a:p>
            <a:pPr>
              <a:spcAft>
                <a:spcPts val="200"/>
              </a:spcAft>
              <a:defRPr sz="950" b="1">
                <a:solidFill>
                  <a:srgbClr val="4338CA"/>
                </a:solidFill>
              </a:defRPr>
            </a:pPr>
            <a:r>
              <a:t>★ PORTAL DIRECTORY &amp; VERIFIED HYPERLINKS</a:t>
            </a:r>
          </a:p>
          <a:p>
            <a:pPr>
              <a:lnSpc>
                <a:spcPct val="115000"/>
              </a:lnSpc>
              <a:spcBef>
                <a:spcPts val="0"/>
              </a:spcBef>
              <a:defRPr sz="900" b="1">
                <a:solidFill>
                  <a:srgbClr val="282C3F"/>
                </a:solidFill>
              </a:defRPr>
            </a:pPr>
            <a:r>
              <a:t>Live Deployed MVP: https://myntra-growth-lab.vercel.app | Live Figma Canvas: https://www.figma.com/design/EtSP7uuOBjzS2b5uA8qaml/Myntra-MVP-NL?node-id=1-2</a:t>
            </a:r>
          </a:p>
        </p:txBody>
      </p:sp>
      <p:sp>
        <p:nvSpPr>
          <p:cNvPr id="21" name="Rounded Rectangle 20"/>
          <p:cNvSpPr/>
          <p:nvPr/>
        </p:nvSpPr>
        <p:spPr>
          <a:xfrm>
            <a:off x="640080" y="6263640"/>
            <a:ext cx="1051560" cy="320040"/>
          </a:xfrm>
          <a:prstGeom prst="roundRect">
            <a:avLst/>
          </a:prstGeom>
          <a:solidFill>
            <a:srgbClr val="FF3F6C"/>
          </a:solidFill>
          <a:ln w="12700">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FFFFFF"/>
                </a:solidFill>
              </a:defRPr>
            </a:pPr>
            <a:r>
              <a:t>Context</a:t>
            </a:r>
          </a:p>
        </p:txBody>
      </p:sp>
      <p:sp>
        <p:nvSpPr>
          <p:cNvPr id="22" name="Rounded Rectangle 21"/>
          <p:cNvSpPr/>
          <p:nvPr/>
        </p:nvSpPr>
        <p:spPr>
          <a:xfrm>
            <a:off x="172821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Market</a:t>
            </a:r>
          </a:p>
        </p:txBody>
      </p:sp>
      <p:sp>
        <p:nvSpPr>
          <p:cNvPr id="23" name="Rounded Rectangle 22"/>
          <p:cNvSpPr/>
          <p:nvPr/>
        </p:nvSpPr>
        <p:spPr>
          <a:xfrm>
            <a:off x="281635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Research</a:t>
            </a:r>
          </a:p>
        </p:txBody>
      </p:sp>
      <p:sp>
        <p:nvSpPr>
          <p:cNvPr id="24" name="Rounded Rectangle 23"/>
          <p:cNvSpPr/>
          <p:nvPr/>
        </p:nvSpPr>
        <p:spPr>
          <a:xfrm>
            <a:off x="390448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Insights</a:t>
            </a:r>
          </a:p>
        </p:txBody>
      </p:sp>
      <p:sp>
        <p:nvSpPr>
          <p:cNvPr id="25" name="Rounded Rectangle 24"/>
          <p:cNvSpPr/>
          <p:nvPr/>
        </p:nvSpPr>
        <p:spPr>
          <a:xfrm>
            <a:off x="499262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Canvas</a:t>
            </a:r>
          </a:p>
        </p:txBody>
      </p:sp>
      <p:sp>
        <p:nvSpPr>
          <p:cNvPr id="26" name="Rounded Rectangle 25"/>
          <p:cNvSpPr/>
          <p:nvPr/>
        </p:nvSpPr>
        <p:spPr>
          <a:xfrm>
            <a:off x="608076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Ideation</a:t>
            </a:r>
          </a:p>
        </p:txBody>
      </p:sp>
      <p:sp>
        <p:nvSpPr>
          <p:cNvPr id="27" name="Rounded Rectangle 26"/>
          <p:cNvSpPr/>
          <p:nvPr/>
        </p:nvSpPr>
        <p:spPr>
          <a:xfrm>
            <a:off x="716889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MVP</a:t>
            </a:r>
          </a:p>
        </p:txBody>
      </p:sp>
      <p:sp>
        <p:nvSpPr>
          <p:cNvPr id="28" name="Rounded Rectangle 27"/>
          <p:cNvSpPr/>
          <p:nvPr/>
        </p:nvSpPr>
        <p:spPr>
          <a:xfrm>
            <a:off x="825703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Architecture</a:t>
            </a:r>
          </a:p>
        </p:txBody>
      </p:sp>
      <p:sp>
        <p:nvSpPr>
          <p:cNvPr id="29" name="Rounded Rectangle 28"/>
          <p:cNvSpPr/>
          <p:nvPr/>
        </p:nvSpPr>
        <p:spPr>
          <a:xfrm>
            <a:off x="934516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Metrics</a:t>
            </a:r>
          </a:p>
        </p:txBody>
      </p:sp>
      <p:sp>
        <p:nvSpPr>
          <p:cNvPr id="30" name="Rounded Rectangle 29"/>
          <p:cNvSpPr/>
          <p:nvPr/>
        </p:nvSpPr>
        <p:spPr>
          <a:xfrm>
            <a:off x="1043330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GTM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124047" y="201168"/>
            <a:ext cx="5943600" cy="347472"/>
          </a:xfrm>
          <a:prstGeom prst="roundRect">
            <a:avLst/>
          </a:prstGeom>
          <a:solidFill>
            <a:srgbClr val="FF3F6C"/>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Bef>
                <a:spcPts val="0"/>
              </a:spcBef>
              <a:spcAft>
                <a:spcPts val="0"/>
              </a:spcAft>
              <a:defRPr sz="950" b="1">
                <a:solidFill>
                  <a:srgbClr val="FFFFFF"/>
                </a:solidFill>
              </a:defRPr>
            </a:pPr>
            <a:r>
              <a:t>CORE HYPOTHESIS &amp; DISCOVERY WORKFLOW</a:t>
            </a:r>
          </a:p>
        </p:txBody>
      </p:sp>
      <p:sp>
        <p:nvSpPr>
          <p:cNvPr id="3" name="TextBox 2"/>
          <p:cNvSpPr txBox="1"/>
          <p:nvPr/>
        </p:nvSpPr>
        <p:spPr>
          <a:xfrm>
            <a:off x="640080" y="621792"/>
            <a:ext cx="9601200" cy="777240"/>
          </a:xfrm>
          <a:prstGeom prst="rect">
            <a:avLst/>
          </a:prstGeom>
          <a:noFill/>
        </p:spPr>
        <p:txBody>
          <a:bodyPr wrap="square" lIns="0" rIns="0" tIns="0" bIns="0">
            <a:spAutoFit/>
          </a:bodyPr>
          <a:lstStyle/>
          <a:p>
            <a:pPr>
              <a:spcAft>
                <a:spcPts val="200"/>
              </a:spcAft>
              <a:defRPr sz="1350" b="1">
                <a:solidFill>
                  <a:srgbClr val="282C3F"/>
                </a:solidFill>
              </a:defRPr>
            </a:pPr>
            <a:r>
              <a:t>2. Users Leak High-Intent Purchases to Off-Platform Channels; MVP Targets Spec Ambiguity and Styling Loops</a:t>
            </a:r>
          </a:p>
          <a:p>
            <a:pPr>
              <a:spcBef>
                <a:spcPts val="200"/>
              </a:spcBef>
              <a:spcAft>
                <a:spcPts val="400"/>
              </a:spcAft>
              <a:defRPr sz="1000" b="1">
                <a:solidFill>
                  <a:srgbClr val="FF3F6C"/>
                </a:solidFill>
              </a:defRPr>
            </a:pPr>
            <a:r>
              <a:t>Shifting focus from margin-eroding discount alerts to confidence-justified spec comparisons and coordinated outfits.</a:t>
            </a:r>
          </a:p>
        </p:txBody>
      </p:sp>
      <p:sp>
        <p:nvSpPr>
          <p:cNvPr id="4" name="TextBox 3"/>
          <p:cNvSpPr txBox="1"/>
          <p:nvPr/>
        </p:nvSpPr>
        <p:spPr>
          <a:xfrm>
            <a:off x="10424160" y="621792"/>
            <a:ext cx="1188720" cy="457200"/>
          </a:xfrm>
          <a:prstGeom prst="rect">
            <a:avLst/>
          </a:prstGeom>
          <a:noFill/>
        </p:spPr>
        <p:txBody>
          <a:bodyPr wrap="none" lIns="0" rIns="0" tIns="0" bIns="0">
            <a:spAutoFit/>
          </a:bodyPr>
          <a:lstStyle/>
          <a:p>
            <a:pPr algn="r">
              <a:defRPr sz="2200" b="1">
                <a:solidFill>
                  <a:srgbClr val="FF3F6C"/>
                </a:solidFill>
              </a:defRPr>
            </a:pPr>
            <a:r>
              <a:t>myntra</a:t>
            </a:r>
          </a:p>
        </p:txBody>
      </p:sp>
      <p:sp>
        <p:nvSpPr>
          <p:cNvPr id="5" name="Rounded Rectangle 4"/>
          <p:cNvSpPr/>
          <p:nvPr/>
        </p:nvSpPr>
        <p:spPr>
          <a:xfrm>
            <a:off x="640080" y="1536192"/>
            <a:ext cx="5943600" cy="118872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09344"/>
            <a:ext cx="5724144" cy="1042415"/>
          </a:xfrm>
          <a:prstGeom prst="rect">
            <a:avLst/>
          </a:prstGeom>
          <a:noFill/>
        </p:spPr>
        <p:txBody>
          <a:bodyPr wrap="square" lIns="73152" rIns="73152">
            <a:spAutoFit/>
          </a:bodyPr>
          <a:lstStyle/>
          <a:p>
            <a:pPr>
              <a:spcAft>
                <a:spcPts val="300"/>
              </a:spcAft>
              <a:defRPr sz="1050" b="1">
                <a:solidFill>
                  <a:srgbClr val="FF3F6C"/>
                </a:solidFill>
              </a:defRPr>
            </a:pPr>
            <a:r>
              <a:t>💡 THE CORE HYPOTHESIS</a:t>
            </a:r>
          </a:p>
          <a:p>
            <a:pPr>
              <a:lnSpc>
                <a:spcPct val="115000"/>
              </a:lnSpc>
              <a:defRPr sz="950">
                <a:solidFill>
                  <a:srgbClr val="282C3F"/>
                </a:solidFill>
              </a:defRPr>
            </a:pPr>
            <a:r>
              <a:t>We believe that Gen-Z and Millennial fashion shoppers stall on wishlists not due to price resistance, but because of interface comparison friction, fabric GSM ambiguity, and social feedback delays. Breaking this inertia contextually will drive non-discounted conversion (+300bps) and expand gross profit.</a:t>
            </a:r>
          </a:p>
        </p:txBody>
      </p:sp>
      <p:sp>
        <p:nvSpPr>
          <p:cNvPr id="7" name="Rounded Rectangle 6"/>
          <p:cNvSpPr/>
          <p:nvPr/>
        </p:nvSpPr>
        <p:spPr>
          <a:xfrm>
            <a:off x="640080" y="2834640"/>
            <a:ext cx="5943600" cy="2615184"/>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889504"/>
            <a:ext cx="5724144" cy="320040"/>
          </a:xfrm>
          <a:prstGeom prst="rect">
            <a:avLst/>
          </a:prstGeom>
          <a:noFill/>
        </p:spPr>
        <p:txBody>
          <a:bodyPr wrap="square">
            <a:spAutoFit/>
          </a:bodyPr>
          <a:lstStyle/>
          <a:p>
            <a:pPr>
              <a:defRPr sz="1050" b="1">
                <a:solidFill>
                  <a:srgbClr val="FF3F6C"/>
                </a:solidFill>
              </a:defRPr>
            </a:pPr>
            <a:r>
              <a:t>🔄 CURRENT DISCOVERY FLOW (THE GRAVEYARD LOOP)</a:t>
            </a:r>
          </a:p>
        </p:txBody>
      </p:sp>
      <p:sp>
        <p:nvSpPr>
          <p:cNvPr id="9" name="Rounded Rectangle 8"/>
          <p:cNvSpPr/>
          <p:nvPr/>
        </p:nvSpPr>
        <p:spPr>
          <a:xfrm>
            <a:off x="749808" y="3218688"/>
            <a:ext cx="1353312" cy="213055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3255264"/>
            <a:ext cx="1280160" cy="2039113"/>
          </a:xfrm>
          <a:prstGeom prst="rect">
            <a:avLst/>
          </a:prstGeom>
          <a:noFill/>
        </p:spPr>
        <p:txBody>
          <a:bodyPr wrap="square" lIns="18288" rIns="18288">
            <a:spAutoFit/>
          </a:bodyPr>
          <a:lstStyle/>
          <a:p>
            <a:pPr>
              <a:spcAft>
                <a:spcPts val="200"/>
              </a:spcAft>
              <a:defRPr sz="850" b="1">
                <a:solidFill>
                  <a:srgbClr val="FF3F6C"/>
                </a:solidFill>
              </a:defRPr>
            </a:pPr>
            <a:r>
              <a:t>1. Intent Trigger</a:t>
            </a:r>
          </a:p>
          <a:p>
            <a:pPr>
              <a:lnSpc>
                <a:spcPct val="110000"/>
              </a:lnSpc>
              <a:defRPr sz="750">
                <a:solidFill>
                  <a:srgbClr val="282C3F"/>
                </a:solidFill>
              </a:defRPr>
            </a:pPr>
            <a:r>
              <a:t>Browses app &amp; saves 3-4 style alternatives</a:t>
            </a:r>
          </a:p>
        </p:txBody>
      </p:sp>
      <p:sp>
        <p:nvSpPr>
          <p:cNvPr id="11" name="Rounded Rectangle 10"/>
          <p:cNvSpPr/>
          <p:nvPr/>
        </p:nvSpPr>
        <p:spPr>
          <a:xfrm>
            <a:off x="2212848" y="3218688"/>
            <a:ext cx="1353312" cy="213055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49424" y="3255264"/>
            <a:ext cx="1280160" cy="2039113"/>
          </a:xfrm>
          <a:prstGeom prst="rect">
            <a:avLst/>
          </a:prstGeom>
          <a:noFill/>
        </p:spPr>
        <p:txBody>
          <a:bodyPr wrap="square" lIns="18288" rIns="18288">
            <a:spAutoFit/>
          </a:bodyPr>
          <a:lstStyle/>
          <a:p>
            <a:pPr>
              <a:spcAft>
                <a:spcPts val="200"/>
              </a:spcAft>
              <a:defRPr sz="850" b="1">
                <a:solidFill>
                  <a:srgbClr val="FF3F6C"/>
                </a:solidFill>
              </a:defRPr>
            </a:pPr>
            <a:r>
              <a:t>2. Category Browse</a:t>
            </a:r>
          </a:p>
          <a:p>
            <a:pPr>
              <a:lnSpc>
                <a:spcPct val="110000"/>
              </a:lnSpc>
              <a:defRPr sz="750">
                <a:solidFill>
                  <a:srgbClr val="282C3F"/>
                </a:solidFill>
              </a:defRPr>
            </a:pPr>
            <a:r>
              <a:t>Leaves items in wishlist without buying</a:t>
            </a:r>
          </a:p>
        </p:txBody>
      </p:sp>
      <p:sp>
        <p:nvSpPr>
          <p:cNvPr id="13" name="Rounded Rectangle 12"/>
          <p:cNvSpPr/>
          <p:nvPr/>
        </p:nvSpPr>
        <p:spPr>
          <a:xfrm>
            <a:off x="3675888" y="3218688"/>
            <a:ext cx="1353312" cy="213055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12464" y="3255264"/>
            <a:ext cx="1280160" cy="2039113"/>
          </a:xfrm>
          <a:prstGeom prst="rect">
            <a:avLst/>
          </a:prstGeom>
          <a:noFill/>
        </p:spPr>
        <p:txBody>
          <a:bodyPr wrap="square" lIns="18288" rIns="18288">
            <a:spAutoFit/>
          </a:bodyPr>
          <a:lstStyle/>
          <a:p>
            <a:pPr>
              <a:spcAft>
                <a:spcPts val="200"/>
              </a:spcAft>
              <a:defRPr sz="850" b="1">
                <a:solidFill>
                  <a:srgbClr val="FF3F6C"/>
                </a:solidFill>
              </a:defRPr>
            </a:pPr>
            <a:r>
              <a:t>3. Wishlist Graveyard</a:t>
            </a:r>
          </a:p>
          <a:p>
            <a:pPr>
              <a:lnSpc>
                <a:spcPct val="110000"/>
              </a:lnSpc>
              <a:defRPr sz="750">
                <a:solidFill>
                  <a:srgbClr val="282C3F"/>
                </a:solidFill>
              </a:defRPr>
            </a:pPr>
            <a:r>
              <a:t>Stalls due to fabric GSM &amp; fit ambiguity</a:t>
            </a:r>
          </a:p>
        </p:txBody>
      </p:sp>
      <p:sp>
        <p:nvSpPr>
          <p:cNvPr id="15" name="Rounded Rectangle 14"/>
          <p:cNvSpPr/>
          <p:nvPr/>
        </p:nvSpPr>
        <p:spPr>
          <a:xfrm>
            <a:off x="5138928" y="3218688"/>
            <a:ext cx="1353312" cy="213055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75504" y="3255264"/>
            <a:ext cx="1280160" cy="2039113"/>
          </a:xfrm>
          <a:prstGeom prst="rect">
            <a:avLst/>
          </a:prstGeom>
          <a:noFill/>
        </p:spPr>
        <p:txBody>
          <a:bodyPr wrap="square" lIns="18288" rIns="18288">
            <a:spAutoFit/>
          </a:bodyPr>
          <a:lstStyle/>
          <a:p>
            <a:pPr>
              <a:spcAft>
                <a:spcPts val="200"/>
              </a:spcAft>
              <a:defRPr sz="850" b="1">
                <a:solidFill>
                  <a:srgbClr val="FF3F6C"/>
                </a:solidFill>
              </a:defRPr>
            </a:pPr>
            <a:r>
              <a:t>4. Abandonment</a:t>
            </a:r>
          </a:p>
          <a:p>
            <a:pPr>
              <a:lnSpc>
                <a:spcPct val="110000"/>
              </a:lnSpc>
              <a:defRPr sz="750">
                <a:solidFill>
                  <a:srgbClr val="282C3F"/>
                </a:solidFill>
              </a:defRPr>
            </a:pPr>
            <a:r>
              <a:t>Screenshots to WhatsApp; 68% drop-off</a:t>
            </a:r>
          </a:p>
        </p:txBody>
      </p:sp>
      <p:sp>
        <p:nvSpPr>
          <p:cNvPr id="17" name="Rounded Rectangle 16"/>
          <p:cNvSpPr/>
          <p:nvPr/>
        </p:nvSpPr>
        <p:spPr>
          <a:xfrm>
            <a:off x="6796735" y="1536192"/>
            <a:ext cx="4754880" cy="1225296"/>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1609344"/>
            <a:ext cx="4535424" cy="1078992"/>
          </a:xfrm>
          <a:prstGeom prst="rect">
            <a:avLst/>
          </a:prstGeom>
          <a:noFill/>
        </p:spPr>
        <p:txBody>
          <a:bodyPr wrap="square" lIns="73152" rIns="73152">
            <a:spAutoFit/>
          </a:bodyPr>
          <a:lstStyle/>
          <a:p>
            <a:pPr>
              <a:spcAft>
                <a:spcPts val="300"/>
              </a:spcAft>
              <a:defRPr sz="1050" b="1">
                <a:solidFill>
                  <a:srgbClr val="FF3F6C"/>
                </a:solidFill>
              </a:defRPr>
            </a:pPr>
            <a:r>
              <a:t>⚠️ Choice Paralysis</a:t>
            </a:r>
          </a:p>
          <a:p>
            <a:pPr>
              <a:lnSpc>
                <a:spcPct val="115000"/>
              </a:lnSpc>
              <a:defRPr sz="950">
                <a:solidFill>
                  <a:srgbClr val="282C3F"/>
                </a:solidFill>
              </a:defRPr>
            </a:pPr>
            <a:r>
              <a:t>88.9% (8/9 survey) shortlist 3-4 identical alternatives and defer buying due to evaluation fatigue.</a:t>
            </a:r>
          </a:p>
        </p:txBody>
      </p:sp>
      <p:sp>
        <p:nvSpPr>
          <p:cNvPr id="19" name="Rounded Rectangle 18"/>
          <p:cNvSpPr/>
          <p:nvPr/>
        </p:nvSpPr>
        <p:spPr>
          <a:xfrm>
            <a:off x="6796735" y="2880360"/>
            <a:ext cx="4754880" cy="1225296"/>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03720" y="2953512"/>
            <a:ext cx="4535424" cy="1078992"/>
          </a:xfrm>
          <a:prstGeom prst="rect">
            <a:avLst/>
          </a:prstGeom>
          <a:noFill/>
        </p:spPr>
        <p:txBody>
          <a:bodyPr wrap="square" lIns="73152" rIns="73152">
            <a:spAutoFit/>
          </a:bodyPr>
          <a:lstStyle/>
          <a:p>
            <a:pPr>
              <a:spcAft>
                <a:spcPts val="300"/>
              </a:spcAft>
              <a:defRPr sz="1050" b="1">
                <a:solidFill>
                  <a:srgbClr val="FF3F6C"/>
                </a:solidFill>
              </a:defRPr>
            </a:pPr>
            <a:r>
              <a:t>⚠️ Spec &amp; GSM Ambiguity</a:t>
            </a:r>
          </a:p>
          <a:p>
            <a:pPr>
              <a:lnSpc>
                <a:spcPct val="115000"/>
              </a:lnSpc>
              <a:defRPr sz="950">
                <a:solidFill>
                  <a:srgbClr val="282C3F"/>
                </a:solidFill>
              </a:defRPr>
            </a:pPr>
            <a:r>
              <a:t>35% of stalled users cite inability to differentiate fabric weight (160 vs 240 GSM) from studio photos.</a:t>
            </a:r>
          </a:p>
        </p:txBody>
      </p:sp>
      <p:sp>
        <p:nvSpPr>
          <p:cNvPr id="21" name="Rounded Rectangle 20"/>
          <p:cNvSpPr/>
          <p:nvPr/>
        </p:nvSpPr>
        <p:spPr>
          <a:xfrm>
            <a:off x="6796735" y="4224528"/>
            <a:ext cx="4754880" cy="1225296"/>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4297680"/>
            <a:ext cx="4535424" cy="1078992"/>
          </a:xfrm>
          <a:prstGeom prst="rect">
            <a:avLst/>
          </a:prstGeom>
          <a:noFill/>
        </p:spPr>
        <p:txBody>
          <a:bodyPr wrap="square" lIns="73152" rIns="73152">
            <a:spAutoFit/>
          </a:bodyPr>
          <a:lstStyle/>
          <a:p>
            <a:pPr>
              <a:spcAft>
                <a:spcPts val="300"/>
              </a:spcAft>
              <a:defRPr sz="1050" b="1">
                <a:solidFill>
                  <a:srgbClr val="FF3F6C"/>
                </a:solidFill>
              </a:defRPr>
            </a:pPr>
            <a:r>
              <a:t>⚠️ Social Feedback Latency</a:t>
            </a:r>
          </a:p>
          <a:p>
            <a:pPr>
              <a:lnSpc>
                <a:spcPct val="115000"/>
              </a:lnSpc>
              <a:defRPr sz="950">
                <a:solidFill>
                  <a:srgbClr val="282C3F"/>
                </a:solidFill>
              </a:defRPr>
            </a:pPr>
            <a:r>
              <a:t>Users screenshot items to WhatsApp friends, suffering 18-hour reply latency leading to cold intent.</a:t>
            </a:r>
          </a:p>
        </p:txBody>
      </p:sp>
      <p:sp>
        <p:nvSpPr>
          <p:cNvPr id="23" name="Rounded Rectangle 22"/>
          <p:cNvSpPr/>
          <p:nvPr/>
        </p:nvSpPr>
        <p:spPr>
          <a:xfrm>
            <a:off x="640080" y="5532120"/>
            <a:ext cx="10911535" cy="62179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577840"/>
            <a:ext cx="10637215" cy="530352"/>
          </a:xfrm>
          <a:prstGeom prst="rect">
            <a:avLst/>
          </a:prstGeom>
          <a:noFill/>
        </p:spPr>
        <p:txBody>
          <a:bodyPr wrap="square" tIns="36576" bIns="36576">
            <a:spAutoFit/>
          </a:bodyPr>
          <a:lstStyle/>
          <a:p>
            <a:pPr>
              <a:spcAft>
                <a:spcPts val="200"/>
              </a:spcAft>
              <a:defRPr sz="950" b="1">
                <a:solidFill>
                  <a:srgbClr val="4338CA"/>
                </a:solidFill>
              </a:defRPr>
            </a:pPr>
            <a:r>
              <a:t>★ ★ CORE THESIS TESTED &amp; VALIDATED</a:t>
            </a:r>
          </a:p>
          <a:p>
            <a:pPr>
              <a:lnSpc>
                <a:spcPct val="115000"/>
              </a:lnSpc>
              <a:spcBef>
                <a:spcPts val="0"/>
              </a:spcBef>
              <a:defRPr sz="900" b="1">
                <a:solidFill>
                  <a:srgbClr val="282C3F"/>
                </a:solidFill>
              </a:defRPr>
            </a:pPr>
            <a:r>
              <a:t>Wishlist inertia occurs because users lack evaluation clarity, not money. Fix: Side-by-Side GSM Matrix + AI Wardrobe Matching + 1-Tap WhatsApp Voting closes the loop.</a:t>
            </a:r>
          </a:p>
        </p:txBody>
      </p:sp>
      <p:sp>
        <p:nvSpPr>
          <p:cNvPr id="25" name="Rounded Rectangle 24"/>
          <p:cNvSpPr/>
          <p:nvPr/>
        </p:nvSpPr>
        <p:spPr>
          <a:xfrm>
            <a:off x="64008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Context</a:t>
            </a:r>
          </a:p>
        </p:txBody>
      </p:sp>
      <p:sp>
        <p:nvSpPr>
          <p:cNvPr id="26" name="Rounded Rectangle 25"/>
          <p:cNvSpPr/>
          <p:nvPr/>
        </p:nvSpPr>
        <p:spPr>
          <a:xfrm>
            <a:off x="1728216" y="6263640"/>
            <a:ext cx="1051560" cy="320040"/>
          </a:xfrm>
          <a:prstGeom prst="roundRect">
            <a:avLst/>
          </a:prstGeom>
          <a:solidFill>
            <a:srgbClr val="FF3F6C"/>
          </a:solidFill>
          <a:ln w="12700">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FFFFFF"/>
                </a:solidFill>
              </a:defRPr>
            </a:pPr>
            <a:r>
              <a:t>Market</a:t>
            </a:r>
          </a:p>
        </p:txBody>
      </p:sp>
      <p:sp>
        <p:nvSpPr>
          <p:cNvPr id="27" name="Rounded Rectangle 26"/>
          <p:cNvSpPr/>
          <p:nvPr/>
        </p:nvSpPr>
        <p:spPr>
          <a:xfrm>
            <a:off x="281635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Research</a:t>
            </a:r>
          </a:p>
        </p:txBody>
      </p:sp>
      <p:sp>
        <p:nvSpPr>
          <p:cNvPr id="28" name="Rounded Rectangle 27"/>
          <p:cNvSpPr/>
          <p:nvPr/>
        </p:nvSpPr>
        <p:spPr>
          <a:xfrm>
            <a:off x="390448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Insights</a:t>
            </a:r>
          </a:p>
        </p:txBody>
      </p:sp>
      <p:sp>
        <p:nvSpPr>
          <p:cNvPr id="29" name="Rounded Rectangle 28"/>
          <p:cNvSpPr/>
          <p:nvPr/>
        </p:nvSpPr>
        <p:spPr>
          <a:xfrm>
            <a:off x="499262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Canvas</a:t>
            </a:r>
          </a:p>
        </p:txBody>
      </p:sp>
      <p:sp>
        <p:nvSpPr>
          <p:cNvPr id="30" name="Rounded Rectangle 29"/>
          <p:cNvSpPr/>
          <p:nvPr/>
        </p:nvSpPr>
        <p:spPr>
          <a:xfrm>
            <a:off x="608076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Ideation</a:t>
            </a:r>
          </a:p>
        </p:txBody>
      </p:sp>
      <p:sp>
        <p:nvSpPr>
          <p:cNvPr id="31" name="Rounded Rectangle 30"/>
          <p:cNvSpPr/>
          <p:nvPr/>
        </p:nvSpPr>
        <p:spPr>
          <a:xfrm>
            <a:off x="716889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MVP</a:t>
            </a:r>
          </a:p>
        </p:txBody>
      </p:sp>
      <p:sp>
        <p:nvSpPr>
          <p:cNvPr id="32" name="Rounded Rectangle 31"/>
          <p:cNvSpPr/>
          <p:nvPr/>
        </p:nvSpPr>
        <p:spPr>
          <a:xfrm>
            <a:off x="825703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Architecture</a:t>
            </a:r>
          </a:p>
        </p:txBody>
      </p:sp>
      <p:sp>
        <p:nvSpPr>
          <p:cNvPr id="33" name="Rounded Rectangle 32"/>
          <p:cNvSpPr/>
          <p:nvPr/>
        </p:nvSpPr>
        <p:spPr>
          <a:xfrm>
            <a:off x="934516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Metrics</a:t>
            </a:r>
          </a:p>
        </p:txBody>
      </p:sp>
      <p:sp>
        <p:nvSpPr>
          <p:cNvPr id="34" name="Rounded Rectangle 33"/>
          <p:cNvSpPr/>
          <p:nvPr/>
        </p:nvSpPr>
        <p:spPr>
          <a:xfrm>
            <a:off x="1043330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GTM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124047" y="201168"/>
            <a:ext cx="5943600" cy="347472"/>
          </a:xfrm>
          <a:prstGeom prst="roundRect">
            <a:avLst/>
          </a:prstGeom>
          <a:solidFill>
            <a:srgbClr val="FF3F6C"/>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Bef>
                <a:spcPts val="0"/>
              </a:spcBef>
              <a:spcAft>
                <a:spcPts val="0"/>
              </a:spcAft>
              <a:defRPr sz="950" b="1">
                <a:solidFill>
                  <a:srgbClr val="FFFFFF"/>
                </a:solidFill>
              </a:defRPr>
            </a:pPr>
            <a:r>
              <a:t>AI DISCOVERY ENGINE &amp; NLP CORPUS WORKFLOW</a:t>
            </a:r>
          </a:p>
        </p:txBody>
      </p:sp>
      <p:sp>
        <p:nvSpPr>
          <p:cNvPr id="3" name="TextBox 2"/>
          <p:cNvSpPr txBox="1"/>
          <p:nvPr/>
        </p:nvSpPr>
        <p:spPr>
          <a:xfrm>
            <a:off x="640080" y="621792"/>
            <a:ext cx="9601200" cy="777240"/>
          </a:xfrm>
          <a:prstGeom prst="rect">
            <a:avLst/>
          </a:prstGeom>
          <a:noFill/>
        </p:spPr>
        <p:txBody>
          <a:bodyPr wrap="square" lIns="0" rIns="0" tIns="0" bIns="0">
            <a:spAutoFit/>
          </a:bodyPr>
          <a:lstStyle/>
          <a:p>
            <a:pPr>
              <a:spcAft>
                <a:spcPts val="200"/>
              </a:spcAft>
              <a:defRPr sz="1350" b="1">
                <a:solidFill>
                  <a:srgbClr val="282C3F"/>
                </a:solidFill>
              </a:defRPr>
            </a:pPr>
            <a:r>
              <a:t>3. Sourced 20,250 Review Corpus &amp; N=9 Interviews Pivot Strategy: Price Elasticity Myth Replaced by Comparison Friction</a:t>
            </a:r>
          </a:p>
          <a:p>
            <a:pPr>
              <a:spcBef>
                <a:spcPts val="200"/>
              </a:spcBef>
              <a:spcAft>
                <a:spcPts val="400"/>
              </a:spcAft>
              <a:defRPr sz="1000" b="1">
                <a:solidFill>
                  <a:srgbClr val="FF3F6C"/>
                </a:solidFill>
              </a:defRPr>
            </a:pPr>
            <a:r>
              <a:t>How research evolved our thinking from discount alert hypotheses to solving Spec Ambiguity, Styling Doubt &amp; Social Latency.</a:t>
            </a:r>
          </a:p>
        </p:txBody>
      </p:sp>
      <p:sp>
        <p:nvSpPr>
          <p:cNvPr id="4" name="TextBox 3"/>
          <p:cNvSpPr txBox="1"/>
          <p:nvPr/>
        </p:nvSpPr>
        <p:spPr>
          <a:xfrm>
            <a:off x="10424160" y="621792"/>
            <a:ext cx="1188720" cy="457200"/>
          </a:xfrm>
          <a:prstGeom prst="rect">
            <a:avLst/>
          </a:prstGeom>
          <a:noFill/>
        </p:spPr>
        <p:txBody>
          <a:bodyPr wrap="none" lIns="0" rIns="0" tIns="0" bIns="0">
            <a:spAutoFit/>
          </a:bodyPr>
          <a:lstStyle/>
          <a:p>
            <a:pPr algn="r">
              <a:defRPr sz="2200" b="1">
                <a:solidFill>
                  <a:srgbClr val="FF3F6C"/>
                </a:solidFill>
              </a:defRPr>
            </a:pPr>
            <a:r>
              <a:t>myntra</a:t>
            </a:r>
          </a:p>
        </p:txBody>
      </p:sp>
      <p:sp>
        <p:nvSpPr>
          <p:cNvPr id="5" name="Rounded Rectangle 4"/>
          <p:cNvSpPr/>
          <p:nvPr/>
        </p:nvSpPr>
        <p:spPr>
          <a:xfrm>
            <a:off x="640080" y="1536192"/>
            <a:ext cx="6217920" cy="3913632"/>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27632"/>
            <a:ext cx="5998464" cy="3730752"/>
          </a:xfrm>
          <a:prstGeom prst="rect">
            <a:avLst/>
          </a:prstGeom>
          <a:noFill/>
        </p:spPr>
        <p:txBody>
          <a:bodyPr wrap="square" lIns="73152" rIns="73152">
            <a:spAutoFit/>
          </a:bodyPr>
          <a:lstStyle/>
          <a:p>
            <a:pPr>
              <a:spcAft>
                <a:spcPts val="600"/>
              </a:spcAft>
              <a:defRPr sz="1100" b="1">
                <a:solidFill>
                  <a:srgbClr val="FF3F6C"/>
                </a:solidFill>
              </a:defRPr>
            </a:pPr>
            <a:r>
              <a:t>💬 AI INSIGHTS VIA NATURAL LANGUAGE QUERYING</a:t>
            </a:r>
          </a:p>
          <a:p>
            <a:pPr>
              <a:spcBef>
                <a:spcPts val="400"/>
              </a:spcBef>
              <a:spcAft>
                <a:spcPts val="100"/>
              </a:spcAft>
              <a:defRPr sz="950"/>
            </a:pPr>
            <a:r>
              <a:rPr b="1">
                <a:solidFill>
                  <a:srgbClr val="FF3F6C"/>
                </a:solidFill>
              </a:rPr>
              <a:t>Prompt 1: What unmet needs emerge consistently across fashion discussions?</a:t>
            </a:r>
          </a:p>
          <a:p>
            <a:pPr marL="177800" indent="0">
              <a:lnSpc>
                <a:spcPct val="115000"/>
              </a:lnSpc>
              <a:spcBef>
                <a:spcPts val="0"/>
              </a:spcBef>
              <a:spcAft>
                <a:spcPts val="500"/>
              </a:spcAft>
              <a:defRPr sz="900"/>
            </a:pPr>
            <a:r>
              <a:rPr>
                <a:solidFill>
                  <a:srgbClr val="282C3F"/>
                </a:solidFill>
              </a:rPr>
              <a:t>Response: 'Shoppers struggle to gauge fabric weight (GSM) and true fit from stylized studio photos alone, creating high hesitation on saved items.'</a:t>
            </a:r>
          </a:p>
          <a:p>
            <a:pPr>
              <a:spcBef>
                <a:spcPts val="400"/>
              </a:spcBef>
              <a:spcAft>
                <a:spcPts val="100"/>
              </a:spcAft>
              <a:defRPr sz="950"/>
            </a:pPr>
            <a:r>
              <a:rPr b="1">
                <a:solidFill>
                  <a:srgbClr val="FF3F6C"/>
                </a:solidFill>
              </a:rPr>
              <a:t>Prompt 2: What frustrations cause users to stall repeatedly?</a:t>
            </a:r>
          </a:p>
          <a:p>
            <a:pPr marL="177800" indent="0">
              <a:lnSpc>
                <a:spcPct val="115000"/>
              </a:lnSpc>
              <a:spcBef>
                <a:spcPts val="0"/>
              </a:spcBef>
              <a:spcAft>
                <a:spcPts val="500"/>
              </a:spcAft>
              <a:defRPr sz="900"/>
            </a:pPr>
            <a:r>
              <a:rPr>
                <a:solidFill>
                  <a:srgbClr val="282C3F"/>
                </a:solidFill>
              </a:rPr>
              <a:t>Response: 'Choice fatigue between 4 similar black cargo pants and fear of thin see-through fabric upon doorstep delivery.'</a:t>
            </a:r>
          </a:p>
          <a:p>
            <a:pPr>
              <a:spcBef>
                <a:spcPts val="400"/>
              </a:spcBef>
              <a:spcAft>
                <a:spcPts val="100"/>
              </a:spcAft>
              <a:defRPr sz="950"/>
            </a:pPr>
            <a:r>
              <a:rPr b="1">
                <a:solidFill>
                  <a:srgbClr val="FF3F6C"/>
                </a:solidFill>
              </a:rPr>
              <a:t>Prompt 3: What information triggers checkout confidence without discounts?</a:t>
            </a:r>
          </a:p>
          <a:p>
            <a:pPr marL="177800" indent="0">
              <a:lnSpc>
                <a:spcPct val="115000"/>
              </a:lnSpc>
              <a:spcBef>
                <a:spcPts val="0"/>
              </a:spcBef>
              <a:spcAft>
                <a:spcPts val="500"/>
              </a:spcAft>
              <a:defRPr sz="900"/>
            </a:pPr>
            <a:r>
              <a:rPr>
                <a:solidFill>
                  <a:srgbClr val="282C3F"/>
                </a:solidFill>
              </a:rPr>
              <a:t>Response: 'Side-by-side spec comparison, verified fit consensus from verified buyers, and complete outfit coordination.'</a:t>
            </a:r>
          </a:p>
        </p:txBody>
      </p:sp>
      <p:sp>
        <p:nvSpPr>
          <p:cNvPr id="7" name="Rounded Rectangle 6"/>
          <p:cNvSpPr/>
          <p:nvPr/>
        </p:nvSpPr>
        <p:spPr>
          <a:xfrm>
            <a:off x="7040880" y="1536192"/>
            <a:ext cx="4510735" cy="1828800"/>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50608" y="1591056"/>
            <a:ext cx="4288536" cy="320040"/>
          </a:xfrm>
          <a:prstGeom prst="rect">
            <a:avLst/>
          </a:prstGeom>
          <a:noFill/>
        </p:spPr>
        <p:txBody>
          <a:bodyPr wrap="square">
            <a:spAutoFit/>
          </a:bodyPr>
          <a:lstStyle/>
          <a:p>
            <a:pPr>
              <a:defRPr sz="1050" b="1">
                <a:solidFill>
                  <a:srgbClr val="FF3F6C"/>
                </a:solidFill>
              </a:defRPr>
            </a:pPr>
            <a:r>
              <a:t>🔬 CORPUS FUNNEL &amp; NLP PIPELINE</a:t>
            </a:r>
          </a:p>
        </p:txBody>
      </p:sp>
      <p:sp>
        <p:nvSpPr>
          <p:cNvPr id="9" name="Rounded Rectangle 8"/>
          <p:cNvSpPr/>
          <p:nvPr/>
        </p:nvSpPr>
        <p:spPr>
          <a:xfrm>
            <a:off x="7150608" y="1920240"/>
            <a:ext cx="1335024" cy="132588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87184" y="1956816"/>
            <a:ext cx="1261872" cy="1234440"/>
          </a:xfrm>
          <a:prstGeom prst="rect">
            <a:avLst/>
          </a:prstGeom>
          <a:noFill/>
        </p:spPr>
        <p:txBody>
          <a:bodyPr wrap="square" lIns="18288" rIns="18288">
            <a:spAutoFit/>
          </a:bodyPr>
          <a:lstStyle/>
          <a:p>
            <a:pPr>
              <a:spcAft>
                <a:spcPts val="200"/>
              </a:spcAft>
              <a:defRPr sz="850" b="1">
                <a:solidFill>
                  <a:srgbClr val="FF3F6C"/>
                </a:solidFill>
              </a:defRPr>
            </a:pPr>
            <a:r>
              <a:t>1. Scrape &amp; Clean</a:t>
            </a:r>
          </a:p>
          <a:p>
            <a:pPr>
              <a:lnSpc>
                <a:spcPct val="110000"/>
              </a:lnSpc>
              <a:defRPr sz="750">
                <a:solidFill>
                  <a:srgbClr val="282C3F"/>
                </a:solidFill>
              </a:defRPr>
            </a:pPr>
            <a:r>
              <a:t>20,250 Raw Reviews</a:t>
            </a:r>
          </a:p>
        </p:txBody>
      </p:sp>
      <p:sp>
        <p:nvSpPr>
          <p:cNvPr id="11" name="Rounded Rectangle 10"/>
          <p:cNvSpPr/>
          <p:nvPr/>
        </p:nvSpPr>
        <p:spPr>
          <a:xfrm>
            <a:off x="8595360" y="1920240"/>
            <a:ext cx="1335024" cy="132588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1936" y="1956816"/>
            <a:ext cx="1261872" cy="1234440"/>
          </a:xfrm>
          <a:prstGeom prst="rect">
            <a:avLst/>
          </a:prstGeom>
          <a:noFill/>
        </p:spPr>
        <p:txBody>
          <a:bodyPr wrap="square" lIns="18288" rIns="18288">
            <a:spAutoFit/>
          </a:bodyPr>
          <a:lstStyle/>
          <a:p>
            <a:pPr>
              <a:spcAft>
                <a:spcPts val="200"/>
              </a:spcAft>
              <a:defRPr sz="850" b="1">
                <a:solidFill>
                  <a:srgbClr val="FF3F6C"/>
                </a:solidFill>
              </a:defRPr>
            </a:pPr>
            <a:r>
              <a:t>2. Vectorize</a:t>
            </a:r>
          </a:p>
          <a:p>
            <a:pPr>
              <a:lnSpc>
                <a:spcPct val="110000"/>
              </a:lnSpc>
              <a:defRPr sz="750">
                <a:solidFill>
                  <a:srgbClr val="282C3F"/>
                </a:solidFill>
              </a:defRPr>
            </a:pPr>
            <a:r>
              <a:t>Sentence-BERT Embeddings</a:t>
            </a:r>
          </a:p>
        </p:txBody>
      </p:sp>
      <p:sp>
        <p:nvSpPr>
          <p:cNvPr id="13" name="Rounded Rectangle 12"/>
          <p:cNvSpPr/>
          <p:nvPr/>
        </p:nvSpPr>
        <p:spPr>
          <a:xfrm>
            <a:off x="10040112" y="1920240"/>
            <a:ext cx="1335024" cy="132588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76688" y="1956816"/>
            <a:ext cx="1261872" cy="1234440"/>
          </a:xfrm>
          <a:prstGeom prst="rect">
            <a:avLst/>
          </a:prstGeom>
          <a:noFill/>
        </p:spPr>
        <p:txBody>
          <a:bodyPr wrap="square" lIns="18288" rIns="18288">
            <a:spAutoFit/>
          </a:bodyPr>
          <a:lstStyle/>
          <a:p>
            <a:pPr>
              <a:spcAft>
                <a:spcPts val="200"/>
              </a:spcAft>
              <a:defRPr sz="850" b="1">
                <a:solidFill>
                  <a:srgbClr val="FF3F6C"/>
                </a:solidFill>
              </a:defRPr>
            </a:pPr>
            <a:r>
              <a:t>3. Synthesis</a:t>
            </a:r>
          </a:p>
          <a:p>
            <a:pPr>
              <a:lnSpc>
                <a:spcPct val="110000"/>
              </a:lnSpc>
              <a:defRPr sz="750">
                <a:solidFill>
                  <a:srgbClr val="282C3F"/>
                </a:solidFill>
              </a:defRPr>
            </a:pPr>
            <a:r>
              <a:t>LLM Intent Extraction</a:t>
            </a:r>
          </a:p>
        </p:txBody>
      </p:sp>
      <p:sp>
        <p:nvSpPr>
          <p:cNvPr id="15" name="Rounded Rectangle 14"/>
          <p:cNvSpPr/>
          <p:nvPr/>
        </p:nvSpPr>
        <p:spPr>
          <a:xfrm>
            <a:off x="7040880" y="3502152"/>
            <a:ext cx="4510735" cy="1947672"/>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50608" y="3575304"/>
            <a:ext cx="4288536" cy="1801368"/>
          </a:xfrm>
          <a:prstGeom prst="rect">
            <a:avLst/>
          </a:prstGeom>
          <a:noFill/>
        </p:spPr>
        <p:txBody>
          <a:bodyPr wrap="square" lIns="73152" rIns="73152">
            <a:spAutoFit/>
          </a:bodyPr>
          <a:lstStyle/>
          <a:p>
            <a:pPr>
              <a:spcAft>
                <a:spcPts val="400"/>
              </a:spcAft>
              <a:defRPr sz="1050" b="1">
                <a:solidFill>
                  <a:srgbClr val="03A685"/>
                </a:solidFill>
              </a:defRPr>
            </a:pPr>
            <a:r>
              <a:t>✅ FINAL RESEARCH TAKEAWAYS</a:t>
            </a:r>
          </a:p>
          <a:p>
            <a:pPr marL="203200" indent="-152400">
              <a:lnSpc>
                <a:spcPct val="115000"/>
              </a:lnSpc>
              <a:spcBef>
                <a:spcPts val="300"/>
              </a:spcBef>
              <a:spcAft>
                <a:spcPts val="400"/>
              </a:spcAft>
              <a:defRPr sz="950"/>
            </a:pPr>
            <a:r>
              <a:rPr b="1">
                <a:solidFill>
                  <a:srgbClr val="03A685"/>
                </a:solidFill>
              </a:rPr>
              <a:t>✓ </a:t>
            </a:r>
            <a:r>
              <a:rPr>
                <a:solidFill>
                  <a:srgbClr val="282C3F"/>
                </a:solidFill>
              </a:rPr>
              <a:t>Users do not need generic discount spam; they need decision clarity at point of comparison.</a:t>
            </a:r>
          </a:p>
          <a:p>
            <a:pPr marL="203200" indent="-152400">
              <a:lnSpc>
                <a:spcPct val="115000"/>
              </a:lnSpc>
              <a:spcBef>
                <a:spcPts val="300"/>
              </a:spcBef>
              <a:spcAft>
                <a:spcPts val="400"/>
              </a:spcAft>
              <a:defRPr sz="950"/>
            </a:pPr>
            <a:r>
              <a:rPr b="1">
                <a:solidFill>
                  <a:srgbClr val="03A685"/>
                </a:solidFill>
              </a:rPr>
              <a:t>✓ </a:t>
            </a:r>
            <a:r>
              <a:rPr>
                <a:solidFill>
                  <a:srgbClr val="282C3F"/>
                </a:solidFill>
              </a:rPr>
              <a:t>Fabric GSM transparency and buyer photos neutralize return anxiety directly.</a:t>
            </a:r>
          </a:p>
          <a:p>
            <a:pPr marL="203200" indent="-152400">
              <a:lnSpc>
                <a:spcPct val="115000"/>
              </a:lnSpc>
              <a:spcBef>
                <a:spcPts val="300"/>
              </a:spcBef>
              <a:spcAft>
                <a:spcPts val="400"/>
              </a:spcAft>
              <a:defRPr sz="950"/>
            </a:pPr>
            <a:r>
              <a:rPr b="1">
                <a:solidFill>
                  <a:srgbClr val="03A685"/>
                </a:solidFill>
              </a:rPr>
              <a:t>✓ </a:t>
            </a:r>
            <a:r>
              <a:rPr>
                <a:solidFill>
                  <a:srgbClr val="282C3F"/>
                </a:solidFill>
              </a:rPr>
              <a:t>1-Tap social voting slashes feedback latency from 18 hours to 2 seconds.</a:t>
            </a:r>
          </a:p>
        </p:txBody>
      </p:sp>
      <p:sp>
        <p:nvSpPr>
          <p:cNvPr id="17" name="Rounded Rectangle 16"/>
          <p:cNvSpPr/>
          <p:nvPr/>
        </p:nvSpPr>
        <p:spPr>
          <a:xfrm>
            <a:off x="640080" y="5532120"/>
            <a:ext cx="10911535" cy="62179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77840"/>
            <a:ext cx="10637215" cy="530352"/>
          </a:xfrm>
          <a:prstGeom prst="rect">
            <a:avLst/>
          </a:prstGeom>
          <a:noFill/>
        </p:spPr>
        <p:txBody>
          <a:bodyPr wrap="square" tIns="36576" bIns="36576">
            <a:spAutoFit/>
          </a:bodyPr>
          <a:lstStyle/>
          <a:p>
            <a:pPr>
              <a:spcAft>
                <a:spcPts val="200"/>
              </a:spcAft>
              <a:defRPr sz="950" b="1">
                <a:solidFill>
                  <a:srgbClr val="4338CA"/>
                </a:solidFill>
              </a:defRPr>
            </a:pPr>
            <a:r>
              <a:t>★ 🔬 RESEARCH CONCLUSION &amp; INSIGHT SYNTHESIS</a:t>
            </a:r>
          </a:p>
          <a:p>
            <a:pPr>
              <a:lnSpc>
                <a:spcPct val="115000"/>
              </a:lnSpc>
              <a:spcBef>
                <a:spcPts val="0"/>
              </a:spcBef>
              <a:defRPr sz="900" b="1">
                <a:solidFill>
                  <a:srgbClr val="282C3F"/>
                </a:solidFill>
              </a:defRPr>
            </a:pPr>
            <a:r>
              <a:t>Users do not need generic discount spam. They need Inline Spec Matrices (kill comparison paralysis), AI Look Matchers (kill styling doubt), and 1-Tap Voting Cards (kill friend latency).</a:t>
            </a:r>
          </a:p>
        </p:txBody>
      </p:sp>
      <p:sp>
        <p:nvSpPr>
          <p:cNvPr id="19" name="Rounded Rectangle 18"/>
          <p:cNvSpPr/>
          <p:nvPr/>
        </p:nvSpPr>
        <p:spPr>
          <a:xfrm>
            <a:off x="64008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Context</a:t>
            </a:r>
          </a:p>
        </p:txBody>
      </p:sp>
      <p:sp>
        <p:nvSpPr>
          <p:cNvPr id="20" name="Rounded Rectangle 19"/>
          <p:cNvSpPr/>
          <p:nvPr/>
        </p:nvSpPr>
        <p:spPr>
          <a:xfrm>
            <a:off x="172821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Market</a:t>
            </a:r>
          </a:p>
        </p:txBody>
      </p:sp>
      <p:sp>
        <p:nvSpPr>
          <p:cNvPr id="21" name="Rounded Rectangle 20"/>
          <p:cNvSpPr/>
          <p:nvPr/>
        </p:nvSpPr>
        <p:spPr>
          <a:xfrm>
            <a:off x="2816352" y="6263640"/>
            <a:ext cx="1051560" cy="320040"/>
          </a:xfrm>
          <a:prstGeom prst="roundRect">
            <a:avLst/>
          </a:prstGeom>
          <a:solidFill>
            <a:srgbClr val="FF3F6C"/>
          </a:solidFill>
          <a:ln w="12700">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FFFFFF"/>
                </a:solidFill>
              </a:defRPr>
            </a:pPr>
            <a:r>
              <a:t>Research</a:t>
            </a:r>
          </a:p>
        </p:txBody>
      </p:sp>
      <p:sp>
        <p:nvSpPr>
          <p:cNvPr id="22" name="Rounded Rectangle 21"/>
          <p:cNvSpPr/>
          <p:nvPr/>
        </p:nvSpPr>
        <p:spPr>
          <a:xfrm>
            <a:off x="390448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Insights</a:t>
            </a:r>
          </a:p>
        </p:txBody>
      </p:sp>
      <p:sp>
        <p:nvSpPr>
          <p:cNvPr id="23" name="Rounded Rectangle 22"/>
          <p:cNvSpPr/>
          <p:nvPr/>
        </p:nvSpPr>
        <p:spPr>
          <a:xfrm>
            <a:off x="499262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Canvas</a:t>
            </a:r>
          </a:p>
        </p:txBody>
      </p:sp>
      <p:sp>
        <p:nvSpPr>
          <p:cNvPr id="24" name="Rounded Rectangle 23"/>
          <p:cNvSpPr/>
          <p:nvPr/>
        </p:nvSpPr>
        <p:spPr>
          <a:xfrm>
            <a:off x="608076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Ideation</a:t>
            </a:r>
          </a:p>
        </p:txBody>
      </p:sp>
      <p:sp>
        <p:nvSpPr>
          <p:cNvPr id="25" name="Rounded Rectangle 24"/>
          <p:cNvSpPr/>
          <p:nvPr/>
        </p:nvSpPr>
        <p:spPr>
          <a:xfrm>
            <a:off x="716889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MVP</a:t>
            </a:r>
          </a:p>
        </p:txBody>
      </p:sp>
      <p:sp>
        <p:nvSpPr>
          <p:cNvPr id="26" name="Rounded Rectangle 25"/>
          <p:cNvSpPr/>
          <p:nvPr/>
        </p:nvSpPr>
        <p:spPr>
          <a:xfrm>
            <a:off x="825703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Architecture</a:t>
            </a:r>
          </a:p>
        </p:txBody>
      </p:sp>
      <p:sp>
        <p:nvSpPr>
          <p:cNvPr id="27" name="Rounded Rectangle 26"/>
          <p:cNvSpPr/>
          <p:nvPr/>
        </p:nvSpPr>
        <p:spPr>
          <a:xfrm>
            <a:off x="934516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Metrics</a:t>
            </a:r>
          </a:p>
        </p:txBody>
      </p:sp>
      <p:sp>
        <p:nvSpPr>
          <p:cNvPr id="28" name="Rounded Rectangle 27"/>
          <p:cNvSpPr/>
          <p:nvPr/>
        </p:nvSpPr>
        <p:spPr>
          <a:xfrm>
            <a:off x="1043330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GTM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124047" y="201168"/>
            <a:ext cx="5943600" cy="347472"/>
          </a:xfrm>
          <a:prstGeom prst="roundRect">
            <a:avLst/>
          </a:prstGeom>
          <a:solidFill>
            <a:srgbClr val="FF3F6C"/>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Bef>
                <a:spcPts val="0"/>
              </a:spcBef>
              <a:spcAft>
                <a:spcPts val="0"/>
              </a:spcAft>
              <a:defRPr sz="950" b="1">
                <a:solidFill>
                  <a:srgbClr val="FFFFFF"/>
                </a:solidFill>
              </a:defRPr>
            </a:pPr>
            <a:r>
              <a:t>TARGET SEGMENT &amp; PERSONA CANVAS</a:t>
            </a:r>
          </a:p>
        </p:txBody>
      </p:sp>
      <p:sp>
        <p:nvSpPr>
          <p:cNvPr id="3" name="TextBox 2"/>
          <p:cNvSpPr txBox="1"/>
          <p:nvPr/>
        </p:nvSpPr>
        <p:spPr>
          <a:xfrm>
            <a:off x="640080" y="621792"/>
            <a:ext cx="9601200" cy="777240"/>
          </a:xfrm>
          <a:prstGeom prst="rect">
            <a:avLst/>
          </a:prstGeom>
          <a:noFill/>
        </p:spPr>
        <p:txBody>
          <a:bodyPr wrap="square" lIns="0" rIns="0" tIns="0" bIns="0">
            <a:spAutoFit/>
          </a:bodyPr>
          <a:lstStyle/>
          <a:p>
            <a:pPr>
              <a:spcAft>
                <a:spcPts val="200"/>
              </a:spcAft>
              <a:defRPr sz="1350" b="1">
                <a:solidFill>
                  <a:srgbClr val="282C3F"/>
                </a:solidFill>
              </a:defRPr>
            </a:pPr>
            <a:r>
              <a:t>4. Gen-Z &amp; Millennial Shoppers (62% of Wishlist MAU) Form the Prime Wedge to Convert Dormant Consideration Demand</a:t>
            </a:r>
          </a:p>
          <a:p>
            <a:pPr>
              <a:spcBef>
                <a:spcPts val="200"/>
              </a:spcBef>
              <a:spcAft>
                <a:spcPts val="400"/>
              </a:spcAft>
              <a:defRPr sz="1000" b="1">
                <a:solidFill>
                  <a:srgbClr val="FF3F6C"/>
                </a:solidFill>
              </a:defRPr>
            </a:pPr>
            <a:r>
              <a:t>Targeting active consideration shortlisters (38+ saved items) who require decision confidence rather than discounts.</a:t>
            </a:r>
          </a:p>
        </p:txBody>
      </p:sp>
      <p:sp>
        <p:nvSpPr>
          <p:cNvPr id="4" name="TextBox 3"/>
          <p:cNvSpPr txBox="1"/>
          <p:nvPr/>
        </p:nvSpPr>
        <p:spPr>
          <a:xfrm>
            <a:off x="10424160" y="621792"/>
            <a:ext cx="1188720" cy="457200"/>
          </a:xfrm>
          <a:prstGeom prst="rect">
            <a:avLst/>
          </a:prstGeom>
          <a:noFill/>
        </p:spPr>
        <p:txBody>
          <a:bodyPr wrap="none" lIns="0" rIns="0" tIns="0" bIns="0">
            <a:spAutoFit/>
          </a:bodyPr>
          <a:lstStyle/>
          <a:p>
            <a:pPr algn="r">
              <a:defRPr sz="2200" b="1">
                <a:solidFill>
                  <a:srgbClr val="FF3F6C"/>
                </a:solidFill>
              </a:defRPr>
            </a:pPr>
            <a:r>
              <a:t>myntra</a:t>
            </a:r>
          </a:p>
        </p:txBody>
      </p:sp>
      <p:sp>
        <p:nvSpPr>
          <p:cNvPr id="5" name="Rounded Rectangle 4"/>
          <p:cNvSpPr/>
          <p:nvPr/>
        </p:nvSpPr>
        <p:spPr>
          <a:xfrm>
            <a:off x="640080" y="1536192"/>
            <a:ext cx="5303520" cy="1874519"/>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09344"/>
            <a:ext cx="5084064" cy="1728215"/>
          </a:xfrm>
          <a:prstGeom prst="rect">
            <a:avLst/>
          </a:prstGeom>
          <a:noFill/>
        </p:spPr>
        <p:txBody>
          <a:bodyPr wrap="square" lIns="73152" rIns="73152">
            <a:spAutoFit/>
          </a:bodyPr>
          <a:lstStyle/>
          <a:p>
            <a:pPr>
              <a:spcAft>
                <a:spcPts val="400"/>
              </a:spcAft>
              <a:defRPr sz="1050" b="1">
                <a:solidFill>
                  <a:srgbClr val="FF3F6C"/>
                </a:solidFill>
              </a:defRPr>
            </a:pPr>
            <a:r>
              <a:t>🎴 Segment Profile</a:t>
            </a:r>
          </a:p>
          <a:p>
            <a:pPr marL="177800" indent="-127000">
              <a:lnSpc>
                <a:spcPct val="115000"/>
              </a:lnSpc>
              <a:spcBef>
                <a:spcPts val="100"/>
              </a:spcBef>
              <a:spcAft>
                <a:spcPts val="300"/>
              </a:spcAft>
              <a:defRPr sz="900"/>
            </a:pPr>
            <a:r>
              <a:rPr b="1">
                <a:solidFill>
                  <a:srgbClr val="282C3F"/>
                </a:solidFill>
              </a:rPr>
              <a:t>• Demographics: </a:t>
            </a:r>
            <a:r>
              <a:rPr>
                <a:solidFill>
                  <a:srgbClr val="282C3F"/>
                </a:solidFill>
              </a:rPr>
              <a:t>Age 18–28, Gen-Z &amp; Young Millennials in Tier 1/2 Metros.</a:t>
            </a:r>
          </a:p>
          <a:p>
            <a:pPr marL="177800" indent="-127000">
              <a:lnSpc>
                <a:spcPct val="115000"/>
              </a:lnSpc>
              <a:spcBef>
                <a:spcPts val="100"/>
              </a:spcBef>
              <a:spcAft>
                <a:spcPts val="300"/>
              </a:spcAft>
              <a:defRPr sz="900"/>
            </a:pPr>
            <a:r>
              <a:rPr b="1">
                <a:solidFill>
                  <a:srgbClr val="282C3F"/>
                </a:solidFill>
              </a:rPr>
              <a:t>• Engagement: </a:t>
            </a:r>
            <a:r>
              <a:rPr>
                <a:solidFill>
                  <a:srgbClr val="282C3F"/>
                </a:solidFill>
              </a:rPr>
              <a:t>Highly Active (38+ saved wishlist items). Average basket size ₹1,650, shopping 2-3x monthly.</a:t>
            </a:r>
          </a:p>
          <a:p>
            <a:pPr marL="177800" indent="-127000">
              <a:lnSpc>
                <a:spcPct val="115000"/>
              </a:lnSpc>
              <a:spcBef>
                <a:spcPts val="100"/>
              </a:spcBef>
              <a:spcAft>
                <a:spcPts val="300"/>
              </a:spcAft>
              <a:defRPr sz="900"/>
            </a:pPr>
            <a:r>
              <a:rPr b="1">
                <a:solidFill>
                  <a:srgbClr val="282C3F"/>
                </a:solidFill>
              </a:rPr>
              <a:t>• Categories: </a:t>
            </a:r>
            <a:r>
              <a:rPr>
                <a:solidFill>
                  <a:srgbClr val="282C3F"/>
                </a:solidFill>
              </a:rPr>
              <a:t>Streetwear, Baggy Cargos, Workwear, Sneakers &amp; Trending Apparel.</a:t>
            </a:r>
          </a:p>
        </p:txBody>
      </p:sp>
      <p:sp>
        <p:nvSpPr>
          <p:cNvPr id="7" name="Rounded Rectangle 6"/>
          <p:cNvSpPr/>
          <p:nvPr/>
        </p:nvSpPr>
        <p:spPr>
          <a:xfrm>
            <a:off x="6217920" y="1536192"/>
            <a:ext cx="5303520" cy="1874519"/>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27648" y="1609344"/>
            <a:ext cx="5084064" cy="1728215"/>
          </a:xfrm>
          <a:prstGeom prst="rect">
            <a:avLst/>
          </a:prstGeom>
          <a:noFill/>
        </p:spPr>
        <p:txBody>
          <a:bodyPr wrap="square" lIns="73152" rIns="73152">
            <a:spAutoFit/>
          </a:bodyPr>
          <a:lstStyle/>
          <a:p>
            <a:pPr>
              <a:spcAft>
                <a:spcPts val="400"/>
              </a:spcAft>
              <a:defRPr sz="1050" b="1">
                <a:solidFill>
                  <a:srgbClr val="FF3F6C"/>
                </a:solidFill>
              </a:defRPr>
            </a:pPr>
            <a:r>
              <a:t>🎯 Why This Segment?</a:t>
            </a:r>
          </a:p>
          <a:p>
            <a:pPr marL="177800" indent="-127000">
              <a:lnSpc>
                <a:spcPct val="115000"/>
              </a:lnSpc>
              <a:spcBef>
                <a:spcPts val="100"/>
              </a:spcBef>
              <a:spcAft>
                <a:spcPts val="300"/>
              </a:spcAft>
              <a:defRPr sz="900"/>
            </a:pPr>
            <a:r>
              <a:rPr b="1">
                <a:solidFill>
                  <a:srgbClr val="282C3F"/>
                </a:solidFill>
              </a:rPr>
              <a:t>• High Purchase Intent: </a:t>
            </a:r>
            <a:r>
              <a:rPr>
                <a:solidFill>
                  <a:srgbClr val="282C3F"/>
                </a:solidFill>
              </a:rPr>
              <a:t>They have already browsed and curated items; friction is strictly decision confidence.</a:t>
            </a:r>
          </a:p>
          <a:p>
            <a:pPr marL="177800" indent="-127000">
              <a:lnSpc>
                <a:spcPct val="115000"/>
              </a:lnSpc>
              <a:spcBef>
                <a:spcPts val="100"/>
              </a:spcBef>
              <a:spcAft>
                <a:spcPts val="300"/>
              </a:spcAft>
              <a:defRPr sz="900"/>
            </a:pPr>
            <a:r>
              <a:rPr b="1">
                <a:solidFill>
                  <a:srgbClr val="282C3F"/>
                </a:solidFill>
              </a:rPr>
              <a:t>• Conversion Efficiency: </a:t>
            </a:r>
            <a:r>
              <a:rPr>
                <a:solidFill>
                  <a:srgbClr val="282C3F"/>
                </a:solidFill>
              </a:rPr>
              <a:t>Converting existing shortlisted intent yields 4.2x higher ROI than top-funnel ad acquisition.</a:t>
            </a:r>
          </a:p>
          <a:p>
            <a:pPr marL="177800" indent="-127000">
              <a:lnSpc>
                <a:spcPct val="115000"/>
              </a:lnSpc>
              <a:spcBef>
                <a:spcPts val="100"/>
              </a:spcBef>
              <a:spcAft>
                <a:spcPts val="300"/>
              </a:spcAft>
              <a:defRPr sz="900"/>
            </a:pPr>
            <a:r>
              <a:rPr b="1">
                <a:solidFill>
                  <a:srgbClr val="282C3F"/>
                </a:solidFill>
              </a:rPr>
              <a:t>• Social Multipliers: </a:t>
            </a:r>
            <a:r>
              <a:rPr>
                <a:solidFill>
                  <a:srgbClr val="282C3F"/>
                </a:solidFill>
              </a:rPr>
              <a:t>High propensity to share style choices on WhatsApp (66.6% social loop).</a:t>
            </a:r>
          </a:p>
        </p:txBody>
      </p:sp>
      <p:sp>
        <p:nvSpPr>
          <p:cNvPr id="9" name="Rounded Rectangle 8"/>
          <p:cNvSpPr/>
          <p:nvPr/>
        </p:nvSpPr>
        <p:spPr>
          <a:xfrm>
            <a:off x="640080" y="3529584"/>
            <a:ext cx="5303520" cy="1874519"/>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602736"/>
            <a:ext cx="5084064" cy="1728215"/>
          </a:xfrm>
          <a:prstGeom prst="rect">
            <a:avLst/>
          </a:prstGeom>
          <a:noFill/>
        </p:spPr>
        <p:txBody>
          <a:bodyPr wrap="square" lIns="73152" rIns="73152">
            <a:spAutoFit/>
          </a:bodyPr>
          <a:lstStyle/>
          <a:p>
            <a:pPr>
              <a:spcAft>
                <a:spcPts val="400"/>
              </a:spcAft>
              <a:defRPr sz="1050" b="1">
                <a:solidFill>
                  <a:srgbClr val="FF3F6C"/>
                </a:solidFill>
              </a:defRPr>
            </a:pPr>
            <a:r>
              <a:t>📱 Behavioral Anchors</a:t>
            </a:r>
          </a:p>
          <a:p>
            <a:pPr marL="177800" indent="-127000">
              <a:lnSpc>
                <a:spcPct val="115000"/>
              </a:lnSpc>
              <a:spcBef>
                <a:spcPts val="100"/>
              </a:spcBef>
              <a:spcAft>
                <a:spcPts val="300"/>
              </a:spcAft>
              <a:defRPr sz="900"/>
            </a:pPr>
            <a:r>
              <a:rPr b="1">
                <a:solidFill>
                  <a:srgbClr val="282C3F"/>
                </a:solidFill>
              </a:rPr>
              <a:t>• Visual Scrollers: </a:t>
            </a:r>
            <a:r>
              <a:rPr>
                <a:solidFill>
                  <a:srgbClr val="282C3F"/>
                </a:solidFill>
              </a:rPr>
              <a:t>Treat wishlist as an aspirational moodboard, saving multiple subtle variations.</a:t>
            </a:r>
          </a:p>
          <a:p>
            <a:pPr marL="177800" indent="-127000">
              <a:lnSpc>
                <a:spcPct val="115000"/>
              </a:lnSpc>
              <a:spcBef>
                <a:spcPts val="100"/>
              </a:spcBef>
              <a:spcAft>
                <a:spcPts val="300"/>
              </a:spcAft>
              <a:defRPr sz="900"/>
            </a:pPr>
            <a:r>
              <a:rPr b="1">
                <a:solidFill>
                  <a:srgbClr val="282C3F"/>
                </a:solidFill>
              </a:rPr>
              <a:t>• Comparison Paralysis: </a:t>
            </a:r>
            <a:r>
              <a:rPr>
                <a:solidFill>
                  <a:srgbClr val="282C3F"/>
                </a:solidFill>
              </a:rPr>
              <a:t>Switch tabs and screenshot to friends to compare fabric weight and fit.</a:t>
            </a:r>
          </a:p>
          <a:p>
            <a:pPr marL="177800" indent="-127000">
              <a:lnSpc>
                <a:spcPct val="115000"/>
              </a:lnSpc>
              <a:spcBef>
                <a:spcPts val="100"/>
              </a:spcBef>
              <a:spcAft>
                <a:spcPts val="300"/>
              </a:spcAft>
              <a:defRPr sz="900"/>
            </a:pPr>
            <a:r>
              <a:rPr b="1">
                <a:solidFill>
                  <a:srgbClr val="282C3F"/>
                </a:solidFill>
              </a:rPr>
              <a:t>• Return Hesitation: </a:t>
            </a:r>
            <a:r>
              <a:rPr>
                <a:solidFill>
                  <a:srgbClr val="282C3F"/>
                </a:solidFill>
              </a:rPr>
              <a:t>Fear of receiving flimsy fabric causes high cart abandonment.</a:t>
            </a:r>
          </a:p>
        </p:txBody>
      </p:sp>
      <p:sp>
        <p:nvSpPr>
          <p:cNvPr id="11" name="Rounded Rectangle 10"/>
          <p:cNvSpPr/>
          <p:nvPr/>
        </p:nvSpPr>
        <p:spPr>
          <a:xfrm>
            <a:off x="6217920" y="3529584"/>
            <a:ext cx="5303520" cy="1874519"/>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27648" y="3602736"/>
            <a:ext cx="5084064" cy="1728215"/>
          </a:xfrm>
          <a:prstGeom prst="rect">
            <a:avLst/>
          </a:prstGeom>
          <a:noFill/>
        </p:spPr>
        <p:txBody>
          <a:bodyPr wrap="square" lIns="73152" rIns="73152">
            <a:spAutoFit/>
          </a:bodyPr>
          <a:lstStyle/>
          <a:p>
            <a:pPr>
              <a:spcAft>
                <a:spcPts val="400"/>
              </a:spcAft>
              <a:defRPr sz="1050" b="1">
                <a:solidFill>
                  <a:srgbClr val="FF3F6C"/>
                </a:solidFill>
              </a:defRPr>
            </a:pPr>
            <a:r>
              <a:t>📈 The Growth Opportunity</a:t>
            </a:r>
          </a:p>
          <a:p>
            <a:pPr marL="177800" indent="-127000">
              <a:lnSpc>
                <a:spcPct val="115000"/>
              </a:lnSpc>
              <a:spcBef>
                <a:spcPts val="100"/>
              </a:spcBef>
              <a:spcAft>
                <a:spcPts val="300"/>
              </a:spcAft>
              <a:defRPr sz="900"/>
            </a:pPr>
            <a:r>
              <a:rPr b="1">
                <a:solidFill>
                  <a:srgbClr val="282C3F"/>
                </a:solidFill>
              </a:rPr>
              <a:t>• Unlocking Dormant GMV: </a:t>
            </a:r>
            <a:r>
              <a:rPr>
                <a:solidFill>
                  <a:srgbClr val="282C3F"/>
                </a:solidFill>
              </a:rPr>
              <a:t>Converts ₹123 Cr baseline into ₹173 Cr monthly GMV (+₹49.5 Cr/mo lift).</a:t>
            </a:r>
          </a:p>
          <a:p>
            <a:pPr marL="177800" indent="-127000">
              <a:lnSpc>
                <a:spcPct val="115000"/>
              </a:lnSpc>
              <a:spcBef>
                <a:spcPts val="100"/>
              </a:spcBef>
              <a:spcAft>
                <a:spcPts val="300"/>
              </a:spcAft>
              <a:defRPr sz="900"/>
            </a:pPr>
            <a:r>
              <a:rPr b="1">
                <a:solidFill>
                  <a:srgbClr val="282C3F"/>
                </a:solidFill>
              </a:rPr>
              <a:t>• Zero Margin Erosion: </a:t>
            </a:r>
            <a:r>
              <a:rPr>
                <a:solidFill>
                  <a:srgbClr val="282C3F"/>
                </a:solidFill>
              </a:rPr>
              <a:t>Delivers 100% non-discounted lift, protecting full 38% platform gross margin.</a:t>
            </a:r>
          </a:p>
          <a:p>
            <a:pPr marL="177800" indent="-127000">
              <a:lnSpc>
                <a:spcPct val="115000"/>
              </a:lnSpc>
              <a:spcBef>
                <a:spcPts val="100"/>
              </a:spcBef>
              <a:spcAft>
                <a:spcPts val="300"/>
              </a:spcAft>
              <a:defRPr sz="900"/>
            </a:pPr>
            <a:r>
              <a:rPr b="1">
                <a:solidFill>
                  <a:srgbClr val="282C3F"/>
                </a:solidFill>
              </a:rPr>
              <a:t>• Return Cost Reduction: </a:t>
            </a:r>
            <a:r>
              <a:rPr>
                <a:solidFill>
                  <a:srgbClr val="282C3F"/>
                </a:solidFill>
              </a:rPr>
              <a:t>Saves ₹73.5 Lakh/mo by cutting fit-related reverse logistics.</a:t>
            </a:r>
          </a:p>
        </p:txBody>
      </p:sp>
      <p:sp>
        <p:nvSpPr>
          <p:cNvPr id="13" name="Rounded Rectangle 12"/>
          <p:cNvSpPr/>
          <p:nvPr/>
        </p:nvSpPr>
        <p:spPr>
          <a:xfrm>
            <a:off x="640080" y="5532120"/>
            <a:ext cx="10911535" cy="62179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577840"/>
            <a:ext cx="10637215" cy="530352"/>
          </a:xfrm>
          <a:prstGeom prst="rect">
            <a:avLst/>
          </a:prstGeom>
          <a:noFill/>
        </p:spPr>
        <p:txBody>
          <a:bodyPr wrap="square" tIns="36576" bIns="36576">
            <a:spAutoFit/>
          </a:bodyPr>
          <a:lstStyle/>
          <a:p>
            <a:pPr>
              <a:spcAft>
                <a:spcPts val="200"/>
              </a:spcAft>
              <a:defRPr sz="950" b="1">
                <a:solidFill>
                  <a:srgbClr val="4338CA"/>
                </a:solidFill>
              </a:defRPr>
            </a:pPr>
            <a:r>
              <a:t>★ 🎯 IMPACT IF SOLVED FOR THE CAUTIOUS SHORTLISTER</a:t>
            </a:r>
          </a:p>
          <a:p>
            <a:pPr>
              <a:lnSpc>
                <a:spcPct val="115000"/>
              </a:lnSpc>
              <a:spcBef>
                <a:spcPts val="0"/>
              </a:spcBef>
              <a:defRPr sz="900" b="1">
                <a:solidFill>
                  <a:srgbClr val="282C3F"/>
                </a:solidFill>
              </a:defRPr>
            </a:pPr>
            <a:r>
              <a:t>Eliminates cognitive fatigue. Makes multi-item comparison effortless. Boosts customer 30-day LTV up to 2.8x via bundle additions and reduces return friction.</a:t>
            </a:r>
          </a:p>
        </p:txBody>
      </p:sp>
      <p:sp>
        <p:nvSpPr>
          <p:cNvPr id="15" name="Rounded Rectangle 14"/>
          <p:cNvSpPr/>
          <p:nvPr/>
        </p:nvSpPr>
        <p:spPr>
          <a:xfrm>
            <a:off x="64008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Context</a:t>
            </a:r>
          </a:p>
        </p:txBody>
      </p:sp>
      <p:sp>
        <p:nvSpPr>
          <p:cNvPr id="16" name="Rounded Rectangle 15"/>
          <p:cNvSpPr/>
          <p:nvPr/>
        </p:nvSpPr>
        <p:spPr>
          <a:xfrm>
            <a:off x="172821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Market</a:t>
            </a:r>
          </a:p>
        </p:txBody>
      </p:sp>
      <p:sp>
        <p:nvSpPr>
          <p:cNvPr id="17" name="Rounded Rectangle 16"/>
          <p:cNvSpPr/>
          <p:nvPr/>
        </p:nvSpPr>
        <p:spPr>
          <a:xfrm>
            <a:off x="281635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Research</a:t>
            </a:r>
          </a:p>
        </p:txBody>
      </p:sp>
      <p:sp>
        <p:nvSpPr>
          <p:cNvPr id="18" name="Rounded Rectangle 17"/>
          <p:cNvSpPr/>
          <p:nvPr/>
        </p:nvSpPr>
        <p:spPr>
          <a:xfrm>
            <a:off x="3904488" y="6263640"/>
            <a:ext cx="1051560" cy="320040"/>
          </a:xfrm>
          <a:prstGeom prst="roundRect">
            <a:avLst/>
          </a:prstGeom>
          <a:solidFill>
            <a:srgbClr val="FF3F6C"/>
          </a:solidFill>
          <a:ln w="12700">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FFFFFF"/>
                </a:solidFill>
              </a:defRPr>
            </a:pPr>
            <a:r>
              <a:t>Insights</a:t>
            </a:r>
          </a:p>
        </p:txBody>
      </p:sp>
      <p:sp>
        <p:nvSpPr>
          <p:cNvPr id="19" name="Rounded Rectangle 18"/>
          <p:cNvSpPr/>
          <p:nvPr/>
        </p:nvSpPr>
        <p:spPr>
          <a:xfrm>
            <a:off x="499262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Canvas</a:t>
            </a:r>
          </a:p>
        </p:txBody>
      </p:sp>
      <p:sp>
        <p:nvSpPr>
          <p:cNvPr id="20" name="Rounded Rectangle 19"/>
          <p:cNvSpPr/>
          <p:nvPr/>
        </p:nvSpPr>
        <p:spPr>
          <a:xfrm>
            <a:off x="608076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Ideation</a:t>
            </a:r>
          </a:p>
        </p:txBody>
      </p:sp>
      <p:sp>
        <p:nvSpPr>
          <p:cNvPr id="21" name="Rounded Rectangle 20"/>
          <p:cNvSpPr/>
          <p:nvPr/>
        </p:nvSpPr>
        <p:spPr>
          <a:xfrm>
            <a:off x="716889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MVP</a:t>
            </a:r>
          </a:p>
        </p:txBody>
      </p:sp>
      <p:sp>
        <p:nvSpPr>
          <p:cNvPr id="22" name="Rounded Rectangle 21"/>
          <p:cNvSpPr/>
          <p:nvPr/>
        </p:nvSpPr>
        <p:spPr>
          <a:xfrm>
            <a:off x="825703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Architecture</a:t>
            </a:r>
          </a:p>
        </p:txBody>
      </p:sp>
      <p:sp>
        <p:nvSpPr>
          <p:cNvPr id="23" name="Rounded Rectangle 22"/>
          <p:cNvSpPr/>
          <p:nvPr/>
        </p:nvSpPr>
        <p:spPr>
          <a:xfrm>
            <a:off x="934516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Metrics</a:t>
            </a:r>
          </a:p>
        </p:txBody>
      </p:sp>
      <p:sp>
        <p:nvSpPr>
          <p:cNvPr id="24" name="Rounded Rectangle 23"/>
          <p:cNvSpPr/>
          <p:nvPr/>
        </p:nvSpPr>
        <p:spPr>
          <a:xfrm>
            <a:off x="1043330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GTM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124047" y="201168"/>
            <a:ext cx="5943600" cy="347472"/>
          </a:xfrm>
          <a:prstGeom prst="roundRect">
            <a:avLst/>
          </a:prstGeom>
          <a:solidFill>
            <a:srgbClr val="FF3F6C"/>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Bef>
                <a:spcPts val="0"/>
              </a:spcBef>
              <a:spcAft>
                <a:spcPts val="0"/>
              </a:spcAft>
              <a:defRPr sz="950" b="1">
                <a:solidFill>
                  <a:srgbClr val="FFFFFF"/>
                </a:solidFill>
              </a:defRPr>
            </a:pPr>
            <a:r>
              <a:t>USER RESEARCH INTERVIEW INSIGHTS &amp; SYNTHESIS</a:t>
            </a:r>
          </a:p>
        </p:txBody>
      </p:sp>
      <p:sp>
        <p:nvSpPr>
          <p:cNvPr id="3" name="TextBox 2"/>
          <p:cNvSpPr txBox="1"/>
          <p:nvPr/>
        </p:nvSpPr>
        <p:spPr>
          <a:xfrm>
            <a:off x="640080" y="621792"/>
            <a:ext cx="9601200" cy="777240"/>
          </a:xfrm>
          <a:prstGeom prst="rect">
            <a:avLst/>
          </a:prstGeom>
          <a:noFill/>
        </p:spPr>
        <p:txBody>
          <a:bodyPr wrap="square" lIns="0" rIns="0" tIns="0" bIns="0">
            <a:spAutoFit/>
          </a:bodyPr>
          <a:lstStyle/>
          <a:p>
            <a:pPr>
              <a:spcAft>
                <a:spcPts val="200"/>
              </a:spcAft>
              <a:defRPr sz="1350" b="1">
                <a:solidFill>
                  <a:srgbClr val="282C3F"/>
                </a:solidFill>
              </a:defRPr>
            </a:pPr>
            <a:r>
              <a:t>5. Primary User Research (N=9 Survey Cohort) Confirms Comparison Paralysis &amp; Sizing Uncertainty as Primary Blockers</a:t>
            </a:r>
          </a:p>
          <a:p>
            <a:pPr>
              <a:spcBef>
                <a:spcPts val="200"/>
              </a:spcBef>
              <a:spcAft>
                <a:spcPts val="400"/>
              </a:spcAft>
              <a:defRPr sz="1000" b="1">
                <a:solidFill>
                  <a:srgbClr val="FF3F6C"/>
                </a:solidFill>
              </a:defRPr>
            </a:pPr>
            <a:r>
              <a:t>Direct interview synthesis with 6 representative participants from the 2026 Fashion Shopping Survey dataset.</a:t>
            </a:r>
          </a:p>
        </p:txBody>
      </p:sp>
      <p:sp>
        <p:nvSpPr>
          <p:cNvPr id="4" name="TextBox 3"/>
          <p:cNvSpPr txBox="1"/>
          <p:nvPr/>
        </p:nvSpPr>
        <p:spPr>
          <a:xfrm>
            <a:off x="10424160" y="621792"/>
            <a:ext cx="1188720" cy="457200"/>
          </a:xfrm>
          <a:prstGeom prst="rect">
            <a:avLst/>
          </a:prstGeom>
          <a:noFill/>
        </p:spPr>
        <p:txBody>
          <a:bodyPr wrap="none" lIns="0" rIns="0" tIns="0" bIns="0">
            <a:spAutoFit/>
          </a:bodyPr>
          <a:lstStyle/>
          <a:p>
            <a:pPr algn="r">
              <a:defRPr sz="2200" b="1">
                <a:solidFill>
                  <a:srgbClr val="FF3F6C"/>
                </a:solidFill>
              </a:defRPr>
            </a:pPr>
            <a:r>
              <a:t>myntra</a:t>
            </a:r>
          </a:p>
        </p:txBody>
      </p:sp>
      <p:sp>
        <p:nvSpPr>
          <p:cNvPr id="5" name="Rounded Rectangle 4"/>
          <p:cNvSpPr/>
          <p:nvPr/>
        </p:nvSpPr>
        <p:spPr>
          <a:xfrm>
            <a:off x="640080" y="1536192"/>
            <a:ext cx="3529584" cy="1005840"/>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591056"/>
            <a:ext cx="3383280" cy="896112"/>
          </a:xfrm>
          <a:prstGeom prst="rect">
            <a:avLst/>
          </a:prstGeom>
          <a:noFill/>
        </p:spPr>
        <p:txBody>
          <a:bodyPr wrap="square" lIns="54864" rIns="54864">
            <a:spAutoFit/>
          </a:bodyPr>
          <a:lstStyle/>
          <a:p>
            <a:pPr>
              <a:spcAft>
                <a:spcPts val="200"/>
              </a:spcAft>
              <a:defRPr sz="1000" b="1">
                <a:solidFill>
                  <a:srgbClr val="FF3F6C"/>
                </a:solidFill>
              </a:defRPr>
            </a:pPr>
            <a:r>
              <a:t>📌 Core Navigation Habit</a:t>
            </a:r>
          </a:p>
          <a:p>
            <a:pPr>
              <a:lnSpc>
                <a:spcPct val="112000"/>
              </a:lnSpc>
              <a:defRPr sz="850">
                <a:solidFill>
                  <a:srgbClr val="282C3F"/>
                </a:solidFill>
              </a:defRPr>
            </a:pPr>
            <a:r>
              <a:t>66.7% of users save 3-4 identical alternatives and defer buying due to lack of side-by-side spec comparison.</a:t>
            </a:r>
          </a:p>
        </p:txBody>
      </p:sp>
      <p:sp>
        <p:nvSpPr>
          <p:cNvPr id="7" name="Rounded Rectangle 6"/>
          <p:cNvSpPr/>
          <p:nvPr/>
        </p:nvSpPr>
        <p:spPr>
          <a:xfrm>
            <a:off x="4325112" y="1536192"/>
            <a:ext cx="3529584" cy="1005840"/>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98264" y="1591056"/>
            <a:ext cx="3383280" cy="896112"/>
          </a:xfrm>
          <a:prstGeom prst="rect">
            <a:avLst/>
          </a:prstGeom>
          <a:noFill/>
        </p:spPr>
        <p:txBody>
          <a:bodyPr wrap="square" lIns="54864" rIns="54864">
            <a:spAutoFit/>
          </a:bodyPr>
          <a:lstStyle/>
          <a:p>
            <a:pPr>
              <a:spcAft>
                <a:spcPts val="200"/>
              </a:spcAft>
              <a:defRPr sz="1000" b="1">
                <a:solidFill>
                  <a:srgbClr val="FF3F6C"/>
                </a:solidFill>
              </a:defRPr>
            </a:pPr>
            <a:r>
              <a:t>📌 Barriers to Adoption</a:t>
            </a:r>
          </a:p>
          <a:p>
            <a:pPr>
              <a:lnSpc>
                <a:spcPct val="112000"/>
              </a:lnSpc>
              <a:defRPr sz="850">
                <a:solidFill>
                  <a:srgbClr val="282C3F"/>
                </a:solidFill>
              </a:defRPr>
            </a:pPr>
            <a:r>
              <a:t>Deep trust deficits regarding fabric thickness (GSM) and brand-specific sizing variance causing return anxiety.</a:t>
            </a:r>
          </a:p>
        </p:txBody>
      </p:sp>
      <p:sp>
        <p:nvSpPr>
          <p:cNvPr id="9" name="Rounded Rectangle 8"/>
          <p:cNvSpPr/>
          <p:nvPr/>
        </p:nvSpPr>
        <p:spPr>
          <a:xfrm>
            <a:off x="8010144" y="1536192"/>
            <a:ext cx="3529584" cy="1005840"/>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6" y="1591056"/>
            <a:ext cx="3383280" cy="896112"/>
          </a:xfrm>
          <a:prstGeom prst="rect">
            <a:avLst/>
          </a:prstGeom>
          <a:noFill/>
        </p:spPr>
        <p:txBody>
          <a:bodyPr wrap="square" lIns="54864" rIns="54864">
            <a:spAutoFit/>
          </a:bodyPr>
          <a:lstStyle/>
          <a:p>
            <a:pPr>
              <a:spcAft>
                <a:spcPts val="200"/>
              </a:spcAft>
              <a:defRPr sz="1000" b="1">
                <a:solidFill>
                  <a:srgbClr val="FF3F6C"/>
                </a:solidFill>
              </a:defRPr>
            </a:pPr>
            <a:r>
              <a:t>📌 Cross-Sell &amp; Buy Triggers</a:t>
            </a:r>
          </a:p>
          <a:p>
            <a:pPr>
              <a:lnSpc>
                <a:spcPct val="112000"/>
              </a:lnSpc>
              <a:defRPr sz="850">
                <a:solidFill>
                  <a:srgbClr val="282C3F"/>
                </a:solidFill>
              </a:defRPr>
            </a:pPr>
            <a:r>
              <a:t>Side-by-side GSM matrix, verified buyer photo consensus, and 1-tap WhatsApp friend voting.</a:t>
            </a:r>
          </a:p>
        </p:txBody>
      </p:sp>
      <p:sp>
        <p:nvSpPr>
          <p:cNvPr id="11" name="Rounded Rectangle 10"/>
          <p:cNvSpPr/>
          <p:nvPr/>
        </p:nvSpPr>
        <p:spPr>
          <a:xfrm>
            <a:off x="640080" y="2651760"/>
            <a:ext cx="10911535" cy="2798064"/>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706624"/>
            <a:ext cx="10689336" cy="2688336"/>
          </a:xfrm>
          <a:prstGeom prst="rect">
            <a:avLst/>
          </a:prstGeom>
          <a:noFill/>
        </p:spPr>
        <p:txBody>
          <a:bodyPr wrap="square" lIns="73152" rIns="73152">
            <a:spAutoFit/>
          </a:bodyPr>
          <a:lstStyle/>
          <a:p>
            <a:pPr>
              <a:spcAft>
                <a:spcPts val="400"/>
              </a:spcAft>
              <a:defRPr sz="1000" b="1">
                <a:solidFill>
                  <a:srgbClr val="FF3F6C"/>
                </a:solidFill>
              </a:defRPr>
            </a:pPr>
            <a:r>
              <a:t>📋 QUALITATIVE USER INTERVIEWS (N=6 ANONYMOUS PARTICIPANTS)</a:t>
            </a:r>
          </a:p>
          <a:p>
            <a:pPr marL="177800" indent="-127000">
              <a:lnSpc>
                <a:spcPct val="115000"/>
              </a:lnSpc>
              <a:spcBef>
                <a:spcPts val="100"/>
              </a:spcBef>
              <a:spcAft>
                <a:spcPts val="300"/>
              </a:spcAft>
              <a:defRPr sz="850"/>
            </a:pPr>
            <a:r>
              <a:rPr b="1">
                <a:solidFill>
                  <a:srgbClr val="FF3F6C"/>
                </a:solidFill>
              </a:rPr>
              <a:t>• </a:t>
            </a:r>
            <a:r>
              <a:rPr b="1">
                <a:solidFill>
                  <a:srgbClr val="282C3F"/>
                </a:solidFill>
              </a:rPr>
              <a:t>Anonymous Shopper U1 (Gen-Z (23, Tech Consultant, Bengaluru)): </a:t>
            </a:r>
            <a:r>
              <a:rPr>
                <a:solidFill>
                  <a:srgbClr val="282C3F"/>
                </a:solidFill>
              </a:rPr>
              <a:t>Habit: Search &amp; bookmark 4+ formal pants | Barrier: Sizing ambiguity across Roadster vs Levi's | Trigger: Buys immediately if side-by-side GSM &amp; fit score is clear.</a:t>
            </a:r>
          </a:p>
          <a:p>
            <a:pPr marL="177800" indent="-127000">
              <a:lnSpc>
                <a:spcPct val="115000"/>
              </a:lnSpc>
              <a:spcBef>
                <a:spcPts val="100"/>
              </a:spcBef>
              <a:spcAft>
                <a:spcPts val="300"/>
              </a:spcAft>
              <a:defRPr sz="850"/>
            </a:pPr>
            <a:r>
              <a:rPr b="1">
                <a:solidFill>
                  <a:srgbClr val="FF3F6C"/>
                </a:solidFill>
              </a:rPr>
              <a:t>• </a:t>
            </a:r>
            <a:r>
              <a:rPr b="1">
                <a:solidFill>
                  <a:srgbClr val="282C3F"/>
                </a:solidFill>
              </a:rPr>
              <a:t>Anonymous Shopper U2 (Gen-Z (21, Student, New Delhi)): </a:t>
            </a:r>
            <a:r>
              <a:rPr>
                <a:solidFill>
                  <a:srgbClr val="282C3F"/>
                </a:solidFill>
              </a:rPr>
              <a:t>Habit: Streetwear &amp; cargo browsing | Barrier: Cannot tell 160 vs 240 GSM fabric weight | Trigger: Buys if unfiltered customer photos show real drape.</a:t>
            </a:r>
          </a:p>
          <a:p>
            <a:pPr marL="177800" indent="-127000">
              <a:lnSpc>
                <a:spcPct val="115000"/>
              </a:lnSpc>
              <a:spcBef>
                <a:spcPts val="100"/>
              </a:spcBef>
              <a:spcAft>
                <a:spcPts val="300"/>
              </a:spcAft>
              <a:defRPr sz="850"/>
            </a:pPr>
            <a:r>
              <a:rPr b="1">
                <a:solidFill>
                  <a:srgbClr val="FF3F6C"/>
                </a:solidFill>
              </a:rPr>
              <a:t>• </a:t>
            </a:r>
            <a:r>
              <a:rPr b="1">
                <a:solidFill>
                  <a:srgbClr val="282C3F"/>
                </a:solidFill>
              </a:rPr>
              <a:t>Anonymous Shopper U3 (Millennial (27, Brand Mgr, Mumbai)): </a:t>
            </a:r>
            <a:r>
              <a:rPr>
                <a:solidFill>
                  <a:srgbClr val="282C3F"/>
                </a:solidFill>
              </a:rPr>
              <a:t>Habit: Occasion &amp; festive wear saving | Barrier: Standalone tops hard to coordinate | Trigger: 1-Tap AI complete 3-piece look recommendation.</a:t>
            </a:r>
          </a:p>
          <a:p>
            <a:pPr marL="177800" indent="-127000">
              <a:lnSpc>
                <a:spcPct val="115000"/>
              </a:lnSpc>
              <a:spcBef>
                <a:spcPts val="100"/>
              </a:spcBef>
              <a:spcAft>
                <a:spcPts val="300"/>
              </a:spcAft>
              <a:defRPr sz="850"/>
            </a:pPr>
            <a:r>
              <a:rPr b="1">
                <a:solidFill>
                  <a:srgbClr val="FF3F6C"/>
                </a:solidFill>
              </a:rPr>
              <a:t>• </a:t>
            </a:r>
            <a:r>
              <a:rPr b="1">
                <a:solidFill>
                  <a:srgbClr val="282C3F"/>
                </a:solidFill>
              </a:rPr>
              <a:t>Anonymous Shopper U4 (Gen-Z (25, Designer, Pune)): </a:t>
            </a:r>
            <a:r>
              <a:rPr>
                <a:solidFill>
                  <a:srgbClr val="282C3F"/>
                </a:solidFill>
              </a:rPr>
              <a:t>Habit: Minimalist casuals &amp; sneakers | Barrier: 18-hour WhatsApp reply delay from friends | Trigger: 1-Tap WhatsApp voting card with live consensus fallback.</a:t>
            </a:r>
          </a:p>
          <a:p>
            <a:pPr marL="177800" indent="-127000">
              <a:lnSpc>
                <a:spcPct val="115000"/>
              </a:lnSpc>
              <a:spcBef>
                <a:spcPts val="100"/>
              </a:spcBef>
              <a:spcAft>
                <a:spcPts val="300"/>
              </a:spcAft>
              <a:defRPr sz="850"/>
            </a:pPr>
            <a:r>
              <a:rPr b="1">
                <a:solidFill>
                  <a:srgbClr val="FF3F6C"/>
                </a:solidFill>
              </a:rPr>
              <a:t>• </a:t>
            </a:r>
            <a:r>
              <a:rPr b="1">
                <a:solidFill>
                  <a:srgbClr val="282C3F"/>
                </a:solidFill>
              </a:rPr>
              <a:t>Anonymous Shopper U5 (Gen-Z (22, Post-Grad, Hyderabad)): </a:t>
            </a:r>
            <a:r>
              <a:rPr>
                <a:solidFill>
                  <a:srgbClr val="282C3F"/>
                </a:solidFill>
              </a:rPr>
              <a:t>Habit: Trending Gen-Z fast fashion | Barrier: High return friction &amp; packaging anxiety | Trigger: Zero-Risk Fit Guarantee &amp; 14-day doorstep exchange.</a:t>
            </a:r>
          </a:p>
          <a:p>
            <a:pPr marL="177800" indent="-127000">
              <a:lnSpc>
                <a:spcPct val="115000"/>
              </a:lnSpc>
              <a:spcBef>
                <a:spcPts val="100"/>
              </a:spcBef>
              <a:spcAft>
                <a:spcPts val="300"/>
              </a:spcAft>
              <a:defRPr sz="850"/>
            </a:pPr>
            <a:r>
              <a:rPr b="1">
                <a:solidFill>
                  <a:srgbClr val="FF3F6C"/>
                </a:solidFill>
              </a:rPr>
              <a:t>• </a:t>
            </a:r>
            <a:r>
              <a:rPr b="1">
                <a:solidFill>
                  <a:srgbClr val="282C3F"/>
                </a:solidFill>
              </a:rPr>
              <a:t>Anonymous Shopper U6 (Millennial (26, Lawyer, Gurgaon)): </a:t>
            </a:r>
            <a:r>
              <a:rPr>
                <a:solidFill>
                  <a:srgbClr val="282C3F"/>
                </a:solidFill>
              </a:rPr>
              <a:t>Habit: Premium workwear &amp; handbags | Barrier: Choice fatigue from 4 similar blazer cuts | Trigger: Direct spec comparison matrix highlighting fabric composition.</a:t>
            </a:r>
          </a:p>
        </p:txBody>
      </p:sp>
      <p:sp>
        <p:nvSpPr>
          <p:cNvPr id="13" name="Rounded Rectangle 12"/>
          <p:cNvSpPr/>
          <p:nvPr/>
        </p:nvSpPr>
        <p:spPr>
          <a:xfrm>
            <a:off x="640080" y="5532120"/>
            <a:ext cx="10911535" cy="62179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577840"/>
            <a:ext cx="10637215" cy="530352"/>
          </a:xfrm>
          <a:prstGeom prst="rect">
            <a:avLst/>
          </a:prstGeom>
          <a:noFill/>
        </p:spPr>
        <p:txBody>
          <a:bodyPr wrap="square" tIns="36576" bIns="36576">
            <a:spAutoFit/>
          </a:bodyPr>
          <a:lstStyle/>
          <a:p>
            <a:pPr>
              <a:spcAft>
                <a:spcPts val="200"/>
              </a:spcAft>
              <a:defRPr sz="950" b="1">
                <a:solidFill>
                  <a:srgbClr val="4338CA"/>
                </a:solidFill>
              </a:defRPr>
            </a:pPr>
            <a:r>
              <a:t>★ 👥 PRIMARY USER RESEARCH METHODOLOGY</a:t>
            </a:r>
          </a:p>
          <a:p>
            <a:pPr>
              <a:lnSpc>
                <a:spcPct val="115000"/>
              </a:lnSpc>
              <a:spcBef>
                <a:spcPts val="0"/>
              </a:spcBef>
              <a:defRPr sz="900" b="1">
                <a:solidFill>
                  <a:srgbClr val="282C3F"/>
                </a:solidFill>
              </a:defRPr>
            </a:pPr>
            <a:r>
              <a:t>N=9 Deep Qualitative User Interviews + 20,250 Review NLP Corpus. All participants from the 2026 Online Fashion Shopping Survey Cohort.</a:t>
            </a:r>
          </a:p>
        </p:txBody>
      </p:sp>
      <p:sp>
        <p:nvSpPr>
          <p:cNvPr id="15" name="Rounded Rectangle 14"/>
          <p:cNvSpPr/>
          <p:nvPr/>
        </p:nvSpPr>
        <p:spPr>
          <a:xfrm>
            <a:off x="64008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Context</a:t>
            </a:r>
          </a:p>
        </p:txBody>
      </p:sp>
      <p:sp>
        <p:nvSpPr>
          <p:cNvPr id="16" name="Rounded Rectangle 15"/>
          <p:cNvSpPr/>
          <p:nvPr/>
        </p:nvSpPr>
        <p:spPr>
          <a:xfrm>
            <a:off x="172821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Market</a:t>
            </a:r>
          </a:p>
        </p:txBody>
      </p:sp>
      <p:sp>
        <p:nvSpPr>
          <p:cNvPr id="17" name="Rounded Rectangle 16"/>
          <p:cNvSpPr/>
          <p:nvPr/>
        </p:nvSpPr>
        <p:spPr>
          <a:xfrm>
            <a:off x="2816352" y="6263640"/>
            <a:ext cx="1051560" cy="320040"/>
          </a:xfrm>
          <a:prstGeom prst="roundRect">
            <a:avLst/>
          </a:prstGeom>
          <a:solidFill>
            <a:srgbClr val="FF3F6C"/>
          </a:solidFill>
          <a:ln w="12700">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FFFFFF"/>
                </a:solidFill>
              </a:defRPr>
            </a:pPr>
            <a:r>
              <a:t>Research</a:t>
            </a:r>
          </a:p>
        </p:txBody>
      </p:sp>
      <p:sp>
        <p:nvSpPr>
          <p:cNvPr id="18" name="Rounded Rectangle 17"/>
          <p:cNvSpPr/>
          <p:nvPr/>
        </p:nvSpPr>
        <p:spPr>
          <a:xfrm>
            <a:off x="390448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Insights</a:t>
            </a:r>
          </a:p>
        </p:txBody>
      </p:sp>
      <p:sp>
        <p:nvSpPr>
          <p:cNvPr id="19" name="Rounded Rectangle 18"/>
          <p:cNvSpPr/>
          <p:nvPr/>
        </p:nvSpPr>
        <p:spPr>
          <a:xfrm>
            <a:off x="499262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Canvas</a:t>
            </a:r>
          </a:p>
        </p:txBody>
      </p:sp>
      <p:sp>
        <p:nvSpPr>
          <p:cNvPr id="20" name="Rounded Rectangle 19"/>
          <p:cNvSpPr/>
          <p:nvPr/>
        </p:nvSpPr>
        <p:spPr>
          <a:xfrm>
            <a:off x="608076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Ideation</a:t>
            </a:r>
          </a:p>
        </p:txBody>
      </p:sp>
      <p:sp>
        <p:nvSpPr>
          <p:cNvPr id="21" name="Rounded Rectangle 20"/>
          <p:cNvSpPr/>
          <p:nvPr/>
        </p:nvSpPr>
        <p:spPr>
          <a:xfrm>
            <a:off x="716889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MVP</a:t>
            </a:r>
          </a:p>
        </p:txBody>
      </p:sp>
      <p:sp>
        <p:nvSpPr>
          <p:cNvPr id="22" name="Rounded Rectangle 21"/>
          <p:cNvSpPr/>
          <p:nvPr/>
        </p:nvSpPr>
        <p:spPr>
          <a:xfrm>
            <a:off x="825703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Architecture</a:t>
            </a:r>
          </a:p>
        </p:txBody>
      </p:sp>
      <p:sp>
        <p:nvSpPr>
          <p:cNvPr id="23" name="Rounded Rectangle 22"/>
          <p:cNvSpPr/>
          <p:nvPr/>
        </p:nvSpPr>
        <p:spPr>
          <a:xfrm>
            <a:off x="934516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Metrics</a:t>
            </a:r>
          </a:p>
        </p:txBody>
      </p:sp>
      <p:sp>
        <p:nvSpPr>
          <p:cNvPr id="24" name="Rounded Rectangle 23"/>
          <p:cNvSpPr/>
          <p:nvPr/>
        </p:nvSpPr>
        <p:spPr>
          <a:xfrm>
            <a:off x="1043330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GTM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124047" y="201168"/>
            <a:ext cx="5943600" cy="347472"/>
          </a:xfrm>
          <a:prstGeom prst="roundRect">
            <a:avLst/>
          </a:prstGeom>
          <a:solidFill>
            <a:srgbClr val="FF3F6C"/>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Bef>
                <a:spcPts val="0"/>
              </a:spcBef>
              <a:spcAft>
                <a:spcPts val="0"/>
              </a:spcAft>
              <a:defRPr sz="950" b="1">
                <a:solidFill>
                  <a:srgbClr val="FFFFFF"/>
                </a:solidFill>
              </a:defRPr>
            </a:pPr>
            <a:r>
              <a:t>PROBLEM FRAMING (5 CORE PM QUESTIONS)</a:t>
            </a:r>
          </a:p>
        </p:txBody>
      </p:sp>
      <p:sp>
        <p:nvSpPr>
          <p:cNvPr id="3" name="TextBox 2"/>
          <p:cNvSpPr txBox="1"/>
          <p:nvPr/>
        </p:nvSpPr>
        <p:spPr>
          <a:xfrm>
            <a:off x="640080" y="621792"/>
            <a:ext cx="9601200" cy="777240"/>
          </a:xfrm>
          <a:prstGeom prst="rect">
            <a:avLst/>
          </a:prstGeom>
          <a:noFill/>
        </p:spPr>
        <p:txBody>
          <a:bodyPr wrap="square" lIns="0" rIns="0" tIns="0" bIns="0">
            <a:spAutoFit/>
          </a:bodyPr>
          <a:lstStyle/>
          <a:p>
            <a:pPr>
              <a:spcAft>
                <a:spcPts val="200"/>
              </a:spcAft>
              <a:defRPr sz="1350" b="1">
                <a:solidFill>
                  <a:srgbClr val="282C3F"/>
                </a:solidFill>
              </a:defRPr>
            </a:pPr>
            <a:r>
              <a:t>6. Problem Framing: Solving Wishlist Graveyard Inertia by Neutralizing Spec Ambiguity and Social Latency</a:t>
            </a:r>
          </a:p>
          <a:p>
            <a:pPr>
              <a:spcBef>
                <a:spcPts val="200"/>
              </a:spcBef>
              <a:spcAft>
                <a:spcPts val="400"/>
              </a:spcAft>
              <a:defRPr sz="1000" b="1">
                <a:solidFill>
                  <a:srgbClr val="FF3F6C"/>
                </a:solidFill>
              </a:defRPr>
            </a:pPr>
            <a:r>
              <a:t>Rigorous 5-question problem definition grounding user pain points, business value, and urgency.</a:t>
            </a:r>
          </a:p>
        </p:txBody>
      </p:sp>
      <p:sp>
        <p:nvSpPr>
          <p:cNvPr id="4" name="TextBox 3"/>
          <p:cNvSpPr txBox="1"/>
          <p:nvPr/>
        </p:nvSpPr>
        <p:spPr>
          <a:xfrm>
            <a:off x="10424160" y="621792"/>
            <a:ext cx="1188720" cy="457200"/>
          </a:xfrm>
          <a:prstGeom prst="rect">
            <a:avLst/>
          </a:prstGeom>
          <a:noFill/>
        </p:spPr>
        <p:txBody>
          <a:bodyPr wrap="none" lIns="0" rIns="0" tIns="0" bIns="0">
            <a:spAutoFit/>
          </a:bodyPr>
          <a:lstStyle/>
          <a:p>
            <a:pPr algn="r">
              <a:defRPr sz="2200" b="1">
                <a:solidFill>
                  <a:srgbClr val="FF3F6C"/>
                </a:solidFill>
              </a:defRPr>
            </a:pPr>
            <a:r>
              <a:t>myntra</a:t>
            </a:r>
          </a:p>
        </p:txBody>
      </p:sp>
      <p:sp>
        <p:nvSpPr>
          <p:cNvPr id="5" name="Rounded Rectangle 4"/>
          <p:cNvSpPr/>
          <p:nvPr/>
        </p:nvSpPr>
        <p:spPr>
          <a:xfrm>
            <a:off x="640080" y="1536192"/>
            <a:ext cx="3529584" cy="169164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591056"/>
            <a:ext cx="3383280" cy="1581912"/>
          </a:xfrm>
          <a:prstGeom prst="rect">
            <a:avLst/>
          </a:prstGeom>
          <a:noFill/>
        </p:spPr>
        <p:txBody>
          <a:bodyPr wrap="square" lIns="54864" rIns="54864">
            <a:spAutoFit/>
          </a:bodyPr>
          <a:lstStyle/>
          <a:p>
            <a:pPr>
              <a:spcAft>
                <a:spcPts val="300"/>
              </a:spcAft>
              <a:defRPr sz="1000" b="1">
                <a:solidFill>
                  <a:srgbClr val="FF3F6C"/>
                </a:solidFill>
              </a:defRPr>
            </a:pPr>
            <a:r>
              <a:t>❓ What is the true Problem?</a:t>
            </a:r>
          </a:p>
          <a:p>
            <a:pPr>
              <a:lnSpc>
                <a:spcPct val="115000"/>
              </a:lnSpc>
              <a:defRPr sz="850">
                <a:solidFill>
                  <a:srgbClr val="282C3F"/>
                </a:solidFill>
              </a:defRPr>
            </a:pPr>
            <a:r>
              <a:t>Users shortlist high-intent items but abandon them in wishlist graveyards (66.7% stall rate) because fashion apps lack side-by-side spec comparison tools (GSM, fit score) and fast social validation, creating choice paralysis and return anxiety.</a:t>
            </a:r>
          </a:p>
        </p:txBody>
      </p:sp>
      <p:sp>
        <p:nvSpPr>
          <p:cNvPr id="7" name="Rounded Rectangle 6"/>
          <p:cNvSpPr/>
          <p:nvPr/>
        </p:nvSpPr>
        <p:spPr>
          <a:xfrm>
            <a:off x="4325112" y="1536192"/>
            <a:ext cx="3529584" cy="169164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98264" y="1591056"/>
            <a:ext cx="3383280" cy="1581912"/>
          </a:xfrm>
          <a:prstGeom prst="rect">
            <a:avLst/>
          </a:prstGeom>
          <a:noFill/>
        </p:spPr>
        <p:txBody>
          <a:bodyPr wrap="square" lIns="54864" rIns="54864">
            <a:spAutoFit/>
          </a:bodyPr>
          <a:lstStyle/>
          <a:p>
            <a:pPr>
              <a:spcAft>
                <a:spcPts val="300"/>
              </a:spcAft>
              <a:defRPr sz="1000" b="1">
                <a:solidFill>
                  <a:srgbClr val="FF3F6C"/>
                </a:solidFill>
              </a:defRPr>
            </a:pPr>
            <a:r>
              <a:t>❓ Who are the customers facing the problem?</a:t>
            </a:r>
          </a:p>
          <a:p>
            <a:pPr>
              <a:lnSpc>
                <a:spcPct val="115000"/>
              </a:lnSpc>
              <a:defRPr sz="850">
                <a:solidFill>
                  <a:srgbClr val="282C3F"/>
                </a:solidFill>
              </a:defRPr>
            </a:pPr>
            <a:r>
              <a:t>'Active Shortlisters' — Gen-Z &amp; Millennial urban shoppers (aged 18–28) who use Myntra 3-4 times a month, accumulating 38+ saved items but hesitating at the checkout threshold due to evaluation uncertainty.</a:t>
            </a:r>
          </a:p>
        </p:txBody>
      </p:sp>
      <p:sp>
        <p:nvSpPr>
          <p:cNvPr id="9" name="Rounded Rectangle 8"/>
          <p:cNvSpPr/>
          <p:nvPr/>
        </p:nvSpPr>
        <p:spPr>
          <a:xfrm>
            <a:off x="8010144" y="1536192"/>
            <a:ext cx="3529584" cy="169164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6" y="1591056"/>
            <a:ext cx="3383280" cy="1581912"/>
          </a:xfrm>
          <a:prstGeom prst="rect">
            <a:avLst/>
          </a:prstGeom>
          <a:noFill/>
        </p:spPr>
        <p:txBody>
          <a:bodyPr wrap="square" lIns="54864" rIns="54864">
            <a:spAutoFit/>
          </a:bodyPr>
          <a:lstStyle/>
          <a:p>
            <a:pPr>
              <a:spcAft>
                <a:spcPts val="300"/>
              </a:spcAft>
              <a:defRPr sz="1000" b="1">
                <a:solidFill>
                  <a:srgbClr val="FF3F6C"/>
                </a:solidFill>
              </a:defRPr>
            </a:pPr>
            <a:r>
              <a:t>❓ How do we know it is a real problem?</a:t>
            </a:r>
          </a:p>
          <a:p>
            <a:pPr>
              <a:lnSpc>
                <a:spcPct val="115000"/>
              </a:lnSpc>
              <a:defRPr sz="850">
                <a:solidFill>
                  <a:srgbClr val="282C3F"/>
                </a:solidFill>
              </a:defRPr>
            </a:pPr>
            <a:r>
              <a:t>Primary research (N=9 survey interviews) and 20,250 Review NLP corpus show that 88.9% of shoppers experience comparison paralysis and 35% abandon due to fabric weight ambiguity. 100% of interviewed users rejected price as the primary blocker.</a:t>
            </a:r>
          </a:p>
        </p:txBody>
      </p:sp>
      <p:sp>
        <p:nvSpPr>
          <p:cNvPr id="11" name="Rounded Rectangle 10"/>
          <p:cNvSpPr/>
          <p:nvPr/>
        </p:nvSpPr>
        <p:spPr>
          <a:xfrm>
            <a:off x="640080" y="3346704"/>
            <a:ext cx="5376672" cy="210312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401568"/>
            <a:ext cx="5230368" cy="1993392"/>
          </a:xfrm>
          <a:prstGeom prst="rect">
            <a:avLst/>
          </a:prstGeom>
          <a:noFill/>
        </p:spPr>
        <p:txBody>
          <a:bodyPr wrap="square" lIns="54864" rIns="54864">
            <a:spAutoFit/>
          </a:bodyPr>
          <a:lstStyle/>
          <a:p>
            <a:pPr>
              <a:spcAft>
                <a:spcPts val="200"/>
              </a:spcAft>
              <a:defRPr sz="1000" b="1">
                <a:solidFill>
                  <a:srgbClr val="FF3F6C"/>
                </a:solidFill>
              </a:defRPr>
            </a:pPr>
            <a:r>
              <a:t>💰 What is the value generated by solving this problem?</a:t>
            </a:r>
          </a:p>
          <a:p>
            <a:pPr marL="152400" indent="-101600">
              <a:lnSpc>
                <a:spcPct val="112000"/>
              </a:lnSpc>
              <a:defRPr sz="850">
                <a:solidFill>
                  <a:srgbClr val="282C3F"/>
                </a:solidFill>
              </a:defRPr>
            </a:pPr>
            <a:r>
              <a:t>• For Target Customers: Instant 60-second evaluation clarity, zero return anxiety with verified fit consensus, and effortless 1-tap complete outfit styling.</a:t>
            </a:r>
          </a:p>
          <a:p>
            <a:pPr marL="152400" indent="-101600">
              <a:lnSpc>
                <a:spcPct val="112000"/>
              </a:lnSpc>
              <a:defRPr sz="850">
                <a:solidFill>
                  <a:srgbClr val="282C3F"/>
                </a:solidFill>
              </a:defRPr>
            </a:pPr>
            <a:r>
              <a:t>• For the Business: Expands 30-day conversion from 7.5% to 10.5% (+300bps), generating +₹18.81 Cr monthly gross profit at 38% margin and saving ₹73.5L/mo in reverse logistics.</a:t>
            </a:r>
          </a:p>
        </p:txBody>
      </p:sp>
      <p:sp>
        <p:nvSpPr>
          <p:cNvPr id="13" name="Rounded Rectangle 12"/>
          <p:cNvSpPr/>
          <p:nvPr/>
        </p:nvSpPr>
        <p:spPr>
          <a:xfrm>
            <a:off x="6172200" y="3346704"/>
            <a:ext cx="5376672" cy="210312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45352" y="3401568"/>
            <a:ext cx="5230368" cy="1993392"/>
          </a:xfrm>
          <a:prstGeom prst="rect">
            <a:avLst/>
          </a:prstGeom>
          <a:noFill/>
        </p:spPr>
        <p:txBody>
          <a:bodyPr wrap="square" lIns="54864" rIns="54864">
            <a:spAutoFit/>
          </a:bodyPr>
          <a:lstStyle/>
          <a:p>
            <a:pPr>
              <a:spcAft>
                <a:spcPts val="200"/>
              </a:spcAft>
              <a:defRPr sz="1000" b="1">
                <a:solidFill>
                  <a:srgbClr val="FF3F6C"/>
                </a:solidFill>
              </a:defRPr>
            </a:pPr>
            <a:r>
              <a:t>⏰ Why should we solve this problem now?</a:t>
            </a:r>
          </a:p>
          <a:p>
            <a:pPr>
              <a:lnSpc>
                <a:spcPct val="115000"/>
              </a:lnSpc>
              <a:defRPr sz="850">
                <a:solidFill>
                  <a:srgbClr val="282C3F"/>
                </a:solidFill>
              </a:defRPr>
            </a:pPr>
            <a:r>
              <a:t>Myntra captures massive top-funnel consideration (50M+ MAUs), but P&amp;L discount subsidies erode margins. Converting dormant wishlist intent is 4.2x more capital-efficient than acquiring new users before competitors build spec moats.</a:t>
            </a:r>
          </a:p>
        </p:txBody>
      </p:sp>
      <p:sp>
        <p:nvSpPr>
          <p:cNvPr id="15" name="Rounded Rectangle 14"/>
          <p:cNvSpPr/>
          <p:nvPr/>
        </p:nvSpPr>
        <p:spPr>
          <a:xfrm>
            <a:off x="640080" y="5532120"/>
            <a:ext cx="10911535" cy="62179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577840"/>
            <a:ext cx="10637215" cy="530352"/>
          </a:xfrm>
          <a:prstGeom prst="rect">
            <a:avLst/>
          </a:prstGeom>
          <a:noFill/>
        </p:spPr>
        <p:txBody>
          <a:bodyPr wrap="square" tIns="36576" bIns="36576">
            <a:spAutoFit/>
          </a:bodyPr>
          <a:lstStyle/>
          <a:p>
            <a:pPr>
              <a:spcAft>
                <a:spcPts val="200"/>
              </a:spcAft>
              <a:defRPr sz="950" b="1">
                <a:solidFill>
                  <a:srgbClr val="4338CA"/>
                </a:solidFill>
              </a:defRPr>
            </a:pPr>
            <a:r>
              <a:t>★ 🎯 STRATEGIC FIT WITH MYNTRA ANNUAL OKRS</a:t>
            </a:r>
          </a:p>
          <a:p>
            <a:pPr>
              <a:lnSpc>
                <a:spcPct val="115000"/>
              </a:lnSpc>
              <a:spcBef>
                <a:spcPts val="0"/>
              </a:spcBef>
              <a:defRPr sz="900" b="1">
                <a:solidFill>
                  <a:srgbClr val="282C3F"/>
                </a:solidFill>
              </a:defRPr>
            </a:pPr>
            <a:r>
              <a:t>Aligns directly with Myntra's FY26 Growth Mandate: Driving trust-led gross margin expansion (+300bps) through zero-discount product innovation.</a:t>
            </a:r>
          </a:p>
        </p:txBody>
      </p:sp>
      <p:sp>
        <p:nvSpPr>
          <p:cNvPr id="17" name="Rounded Rectangle 16"/>
          <p:cNvSpPr/>
          <p:nvPr/>
        </p:nvSpPr>
        <p:spPr>
          <a:xfrm>
            <a:off x="64008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Context</a:t>
            </a:r>
          </a:p>
        </p:txBody>
      </p:sp>
      <p:sp>
        <p:nvSpPr>
          <p:cNvPr id="18" name="Rounded Rectangle 17"/>
          <p:cNvSpPr/>
          <p:nvPr/>
        </p:nvSpPr>
        <p:spPr>
          <a:xfrm>
            <a:off x="172821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Market</a:t>
            </a:r>
          </a:p>
        </p:txBody>
      </p:sp>
      <p:sp>
        <p:nvSpPr>
          <p:cNvPr id="19" name="Rounded Rectangle 18"/>
          <p:cNvSpPr/>
          <p:nvPr/>
        </p:nvSpPr>
        <p:spPr>
          <a:xfrm>
            <a:off x="281635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Research</a:t>
            </a:r>
          </a:p>
        </p:txBody>
      </p:sp>
      <p:sp>
        <p:nvSpPr>
          <p:cNvPr id="20" name="Rounded Rectangle 19"/>
          <p:cNvSpPr/>
          <p:nvPr/>
        </p:nvSpPr>
        <p:spPr>
          <a:xfrm>
            <a:off x="3904488" y="6263640"/>
            <a:ext cx="1051560" cy="320040"/>
          </a:xfrm>
          <a:prstGeom prst="roundRect">
            <a:avLst/>
          </a:prstGeom>
          <a:solidFill>
            <a:srgbClr val="FF3F6C"/>
          </a:solidFill>
          <a:ln w="12700">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FFFFFF"/>
                </a:solidFill>
              </a:defRPr>
            </a:pPr>
            <a:r>
              <a:t>Insights</a:t>
            </a:r>
          </a:p>
        </p:txBody>
      </p:sp>
      <p:sp>
        <p:nvSpPr>
          <p:cNvPr id="21" name="Rounded Rectangle 20"/>
          <p:cNvSpPr/>
          <p:nvPr/>
        </p:nvSpPr>
        <p:spPr>
          <a:xfrm>
            <a:off x="499262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Canvas</a:t>
            </a:r>
          </a:p>
        </p:txBody>
      </p:sp>
      <p:sp>
        <p:nvSpPr>
          <p:cNvPr id="22" name="Rounded Rectangle 21"/>
          <p:cNvSpPr/>
          <p:nvPr/>
        </p:nvSpPr>
        <p:spPr>
          <a:xfrm>
            <a:off x="608076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Ideation</a:t>
            </a:r>
          </a:p>
        </p:txBody>
      </p:sp>
      <p:sp>
        <p:nvSpPr>
          <p:cNvPr id="23" name="Rounded Rectangle 22"/>
          <p:cNvSpPr/>
          <p:nvPr/>
        </p:nvSpPr>
        <p:spPr>
          <a:xfrm>
            <a:off x="716889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MVP</a:t>
            </a:r>
          </a:p>
        </p:txBody>
      </p:sp>
      <p:sp>
        <p:nvSpPr>
          <p:cNvPr id="24" name="Rounded Rectangle 23"/>
          <p:cNvSpPr/>
          <p:nvPr/>
        </p:nvSpPr>
        <p:spPr>
          <a:xfrm>
            <a:off x="825703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Architecture</a:t>
            </a:r>
          </a:p>
        </p:txBody>
      </p:sp>
      <p:sp>
        <p:nvSpPr>
          <p:cNvPr id="25" name="Rounded Rectangle 24"/>
          <p:cNvSpPr/>
          <p:nvPr/>
        </p:nvSpPr>
        <p:spPr>
          <a:xfrm>
            <a:off x="934516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Metrics</a:t>
            </a:r>
          </a:p>
        </p:txBody>
      </p:sp>
      <p:sp>
        <p:nvSpPr>
          <p:cNvPr id="26" name="Rounded Rectangle 25"/>
          <p:cNvSpPr/>
          <p:nvPr/>
        </p:nvSpPr>
        <p:spPr>
          <a:xfrm>
            <a:off x="1043330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GTM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124047" y="201168"/>
            <a:ext cx="5943600" cy="347472"/>
          </a:xfrm>
          <a:prstGeom prst="roundRect">
            <a:avLst/>
          </a:prstGeom>
          <a:solidFill>
            <a:srgbClr val="FF3F6C"/>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Bef>
                <a:spcPts val="0"/>
              </a:spcBef>
              <a:spcAft>
                <a:spcPts val="0"/>
              </a:spcAft>
              <a:defRPr sz="950" b="1">
                <a:solidFill>
                  <a:srgbClr val="FFFFFF"/>
                </a:solidFill>
              </a:defRPr>
            </a:pPr>
            <a:r>
              <a:t>IDEATION, PRINCIPLES &amp; RICE PRIORITIZATION</a:t>
            </a:r>
          </a:p>
        </p:txBody>
      </p:sp>
      <p:sp>
        <p:nvSpPr>
          <p:cNvPr id="3" name="TextBox 2"/>
          <p:cNvSpPr txBox="1"/>
          <p:nvPr/>
        </p:nvSpPr>
        <p:spPr>
          <a:xfrm>
            <a:off x="640080" y="621792"/>
            <a:ext cx="9601200" cy="777240"/>
          </a:xfrm>
          <a:prstGeom prst="rect">
            <a:avLst/>
          </a:prstGeom>
          <a:noFill/>
        </p:spPr>
        <p:txBody>
          <a:bodyPr wrap="square" lIns="0" rIns="0" tIns="0" bIns="0">
            <a:spAutoFit/>
          </a:bodyPr>
          <a:lstStyle/>
          <a:p>
            <a:pPr>
              <a:spcAft>
                <a:spcPts val="200"/>
              </a:spcAft>
              <a:defRPr sz="1350" b="1">
                <a:solidFill>
                  <a:srgbClr val="282C3F"/>
                </a:solidFill>
              </a:defRPr>
            </a:pPr>
            <a:r>
              <a:t>7. Ideation Framework: Solving Root-Cause Comparison Friction via Spec Matrix, AI Styling, and WhatsApp Voting</a:t>
            </a:r>
          </a:p>
          <a:p>
            <a:pPr>
              <a:spcBef>
                <a:spcPts val="200"/>
              </a:spcBef>
              <a:spcAft>
                <a:spcPts val="400"/>
              </a:spcAft>
              <a:defRPr sz="1000" b="1">
                <a:solidFill>
                  <a:srgbClr val="FF3F6C"/>
                </a:solidFill>
              </a:defRPr>
            </a:pPr>
            <a:r>
              <a:t>Evaluating solution hypotheses against core principles using the quantitative RICE scoring framework.</a:t>
            </a:r>
          </a:p>
        </p:txBody>
      </p:sp>
      <p:sp>
        <p:nvSpPr>
          <p:cNvPr id="4" name="TextBox 3"/>
          <p:cNvSpPr txBox="1"/>
          <p:nvPr/>
        </p:nvSpPr>
        <p:spPr>
          <a:xfrm>
            <a:off x="10424160" y="621792"/>
            <a:ext cx="1188720" cy="457200"/>
          </a:xfrm>
          <a:prstGeom prst="rect">
            <a:avLst/>
          </a:prstGeom>
          <a:noFill/>
        </p:spPr>
        <p:txBody>
          <a:bodyPr wrap="none" lIns="0" rIns="0" tIns="0" bIns="0">
            <a:spAutoFit/>
          </a:bodyPr>
          <a:lstStyle/>
          <a:p>
            <a:pPr algn="r">
              <a:defRPr sz="2200" b="1">
                <a:solidFill>
                  <a:srgbClr val="FF3F6C"/>
                </a:solidFill>
              </a:defRPr>
            </a:pPr>
            <a:r>
              <a:t>myntra</a:t>
            </a:r>
          </a:p>
        </p:txBody>
      </p:sp>
      <p:sp>
        <p:nvSpPr>
          <p:cNvPr id="5" name="Rounded Rectangle 4"/>
          <p:cNvSpPr/>
          <p:nvPr/>
        </p:nvSpPr>
        <p:spPr>
          <a:xfrm>
            <a:off x="640080" y="1536192"/>
            <a:ext cx="10911535" cy="1234440"/>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591056"/>
            <a:ext cx="10689336" cy="1124712"/>
          </a:xfrm>
          <a:prstGeom prst="rect">
            <a:avLst/>
          </a:prstGeom>
          <a:noFill/>
        </p:spPr>
        <p:txBody>
          <a:bodyPr wrap="square" lIns="73152" rIns="73152">
            <a:spAutoFit/>
          </a:bodyPr>
          <a:lstStyle/>
          <a:p>
            <a:pPr>
              <a:spcAft>
                <a:spcPts val="300"/>
              </a:spcAft>
              <a:defRPr sz="1050" b="1">
                <a:solidFill>
                  <a:srgbClr val="FF3F6C"/>
                </a:solidFill>
              </a:defRPr>
            </a:pPr>
            <a:r>
              <a:t>⭐ CORE PRINCIPLES OF THE FRAMEWORK</a:t>
            </a:r>
          </a:p>
          <a:p>
            <a:pPr marL="177800" indent="-127000">
              <a:lnSpc>
                <a:spcPct val="115000"/>
              </a:lnSpc>
              <a:spcBef>
                <a:spcPts val="100"/>
              </a:spcBef>
              <a:spcAft>
                <a:spcPts val="200"/>
              </a:spcAft>
              <a:defRPr sz="900"/>
            </a:pPr>
            <a:r>
              <a:rPr b="1">
                <a:solidFill>
                  <a:srgbClr val="282C3F"/>
                </a:solidFill>
              </a:rPr>
              <a:t>• 1. Spec Clarity Principle: </a:t>
            </a:r>
            <a:r>
              <a:rPr>
                <a:solidFill>
                  <a:srgbClr val="282C3F"/>
                </a:solidFill>
              </a:rPr>
              <a:t>Must display objective fabric GSM weight, fit consensus, and real buyer photos directly at point of comparison.</a:t>
            </a:r>
          </a:p>
          <a:p>
            <a:pPr marL="177800" indent="-127000">
              <a:lnSpc>
                <a:spcPct val="115000"/>
              </a:lnSpc>
              <a:spcBef>
                <a:spcPts val="100"/>
              </a:spcBef>
              <a:spcAft>
                <a:spcPts val="200"/>
              </a:spcAft>
              <a:defRPr sz="900"/>
            </a:pPr>
            <a:r>
              <a:rPr b="1">
                <a:solidFill>
                  <a:srgbClr val="282C3F"/>
                </a:solidFill>
              </a:rPr>
              <a:t>• 2. Zero-Discount Margin Principle: </a:t>
            </a:r>
            <a:r>
              <a:rPr>
                <a:solidFill>
                  <a:srgbClr val="282C3F"/>
                </a:solidFill>
              </a:rPr>
              <a:t>Must drive checkout velocity through purchase confidence—zero P&amp;L margin-eroding flash coupons.</a:t>
            </a:r>
          </a:p>
          <a:p>
            <a:pPr marL="177800" indent="-127000">
              <a:lnSpc>
                <a:spcPct val="115000"/>
              </a:lnSpc>
              <a:spcBef>
                <a:spcPts val="100"/>
              </a:spcBef>
              <a:spcAft>
                <a:spcPts val="200"/>
              </a:spcAft>
              <a:defRPr sz="900"/>
            </a:pPr>
            <a:r>
              <a:rPr b="1">
                <a:solidFill>
                  <a:srgbClr val="282C3F"/>
                </a:solidFill>
              </a:rPr>
              <a:t>• 3. Social Speed Principle: </a:t>
            </a:r>
            <a:r>
              <a:rPr>
                <a:solidFill>
                  <a:srgbClr val="282C3F"/>
                </a:solidFill>
              </a:rPr>
              <a:t>Must slash friend validation latency from 18 hours to 2 seconds via interactive WhatsApp voting cards.</a:t>
            </a:r>
          </a:p>
        </p:txBody>
      </p:sp>
      <p:sp>
        <p:nvSpPr>
          <p:cNvPr id="7" name="Rounded Rectangle 6"/>
          <p:cNvSpPr/>
          <p:nvPr/>
        </p:nvSpPr>
        <p:spPr>
          <a:xfrm>
            <a:off x="640080" y="2889504"/>
            <a:ext cx="10911535" cy="256032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962656"/>
            <a:ext cx="10689336" cy="2414016"/>
          </a:xfrm>
          <a:prstGeom prst="rect">
            <a:avLst/>
          </a:prstGeom>
          <a:noFill/>
        </p:spPr>
        <p:txBody>
          <a:bodyPr wrap="square" lIns="73152" rIns="73152">
            <a:spAutoFit/>
          </a:bodyPr>
          <a:lstStyle/>
          <a:p>
            <a:pPr>
              <a:spcAft>
                <a:spcPts val="400"/>
              </a:spcAft>
              <a:defRPr sz="1050" b="1">
                <a:solidFill>
                  <a:srgbClr val="FF3F6C"/>
                </a:solidFill>
              </a:defRPr>
            </a:pPr>
            <a:r>
              <a:t>📊 SOLUTION PRIORITIZATION (RICE FRAMEWORK MATRIX)</a:t>
            </a:r>
          </a:p>
          <a:p>
            <a:pPr marL="177800" indent="-127000">
              <a:lnSpc>
                <a:spcPct val="115000"/>
              </a:lnSpc>
              <a:spcBef>
                <a:spcPts val="200"/>
              </a:spcBef>
              <a:spcAft>
                <a:spcPts val="400"/>
              </a:spcAft>
              <a:defRPr sz="900"/>
            </a:pPr>
            <a:r>
              <a:rPr b="1">
                <a:solidFill>
                  <a:srgbClr val="FF3F6C"/>
                </a:solidFill>
              </a:rPr>
              <a:t>► </a:t>
            </a:r>
            <a:r>
              <a:rPr b="1">
                <a:solidFill>
                  <a:srgbClr val="282C3F"/>
                </a:solidFill>
              </a:rPr>
              <a:t>S1: Static Discount Push Alerts — </a:t>
            </a:r>
            <a:r>
              <a:rPr>
                <a:solidFill>
                  <a:srgbClr val="535766"/>
                </a:solidFill>
              </a:rPr>
              <a:t>R: 10/10 | I: 1/5 | C: 80% | E: 1/5 | Score: 8.0 | Verdict: </a:t>
            </a:r>
            <a:r>
              <a:rPr b="1">
                <a:solidFill>
                  <a:srgbClr val="FF3F6C"/>
                </a:solidFill>
              </a:rPr>
              <a:t>Discard (Erodes 38% margin)</a:t>
            </a:r>
          </a:p>
          <a:p>
            <a:pPr marL="177800" indent="-127000">
              <a:lnSpc>
                <a:spcPct val="115000"/>
              </a:lnSpc>
              <a:spcBef>
                <a:spcPts val="200"/>
              </a:spcBef>
              <a:spcAft>
                <a:spcPts val="400"/>
              </a:spcAft>
              <a:defRPr sz="900"/>
            </a:pPr>
            <a:r>
              <a:rPr b="1">
                <a:solidFill>
                  <a:srgbClr val="FF3F6C"/>
                </a:solidFill>
              </a:rPr>
              <a:t>► </a:t>
            </a:r>
            <a:r>
              <a:rPr b="1">
                <a:solidFill>
                  <a:srgbClr val="282C3F"/>
                </a:solidFill>
              </a:rPr>
              <a:t>S2: Post-Wishlist Flash Popup — </a:t>
            </a:r>
            <a:r>
              <a:rPr>
                <a:solidFill>
                  <a:srgbClr val="535766"/>
                </a:solidFill>
              </a:rPr>
              <a:t>R: 10/10 | I: 2/5 | C: 60% | E: 2/5 | Score: 6.0 | Verdict: </a:t>
            </a:r>
            <a:r>
              <a:rPr b="1">
                <a:solidFill>
                  <a:srgbClr val="FF3F6C"/>
                </a:solidFill>
              </a:rPr>
              <a:t>Backup (High drop-off rate)</a:t>
            </a:r>
          </a:p>
          <a:p>
            <a:pPr marL="177800" indent="-127000">
              <a:lnSpc>
                <a:spcPct val="115000"/>
              </a:lnSpc>
              <a:spcBef>
                <a:spcPts val="200"/>
              </a:spcBef>
              <a:spcAft>
                <a:spcPts val="400"/>
              </a:spcAft>
              <a:defRPr sz="900"/>
            </a:pPr>
            <a:r>
              <a:rPr b="1">
                <a:solidFill>
                  <a:srgbClr val="FF3F6C"/>
                </a:solidFill>
              </a:rPr>
              <a:t>► </a:t>
            </a:r>
            <a:r>
              <a:rPr b="1">
                <a:solidFill>
                  <a:srgbClr val="282C3F"/>
                </a:solidFill>
              </a:rPr>
              <a:t>S3: Wishlist Studio (C3 Suite) — </a:t>
            </a:r>
            <a:r>
              <a:rPr>
                <a:solidFill>
                  <a:srgbClr val="535766"/>
                </a:solidFill>
              </a:rPr>
              <a:t>R: 10/10 | I: 4/5 | C: 80% | E: 3/5 | Score: 10.6 | Verdict: </a:t>
            </a:r>
            <a:r>
              <a:rPr b="1">
                <a:solidFill>
                  <a:srgbClr val="03A685"/>
                </a:solidFill>
              </a:rPr>
              <a:t>Winner (Addresses root causes)</a:t>
            </a:r>
          </a:p>
        </p:txBody>
      </p:sp>
      <p:sp>
        <p:nvSpPr>
          <p:cNvPr id="9" name="Rounded Rectangle 8"/>
          <p:cNvSpPr/>
          <p:nvPr/>
        </p:nvSpPr>
        <p:spPr>
          <a:xfrm>
            <a:off x="640080" y="5532120"/>
            <a:ext cx="10911535" cy="62179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577840"/>
            <a:ext cx="10637215" cy="530352"/>
          </a:xfrm>
          <a:prstGeom prst="rect">
            <a:avLst/>
          </a:prstGeom>
          <a:noFill/>
        </p:spPr>
        <p:txBody>
          <a:bodyPr wrap="square" tIns="36576" bIns="36576">
            <a:spAutoFit/>
          </a:bodyPr>
          <a:lstStyle/>
          <a:p>
            <a:pPr>
              <a:spcAft>
                <a:spcPts val="200"/>
              </a:spcAft>
              <a:defRPr sz="950" b="1">
                <a:solidFill>
                  <a:srgbClr val="4338CA"/>
                </a:solidFill>
              </a:defRPr>
            </a:pPr>
            <a:r>
              <a:t>★ 🏆 RICE FRAMEWORK VERDICT</a:t>
            </a:r>
          </a:p>
          <a:p>
            <a:pPr>
              <a:lnSpc>
                <a:spcPct val="115000"/>
              </a:lnSpc>
              <a:spcBef>
                <a:spcPts val="0"/>
              </a:spcBef>
              <a:defRPr sz="900" b="1">
                <a:solidFill>
                  <a:srgbClr val="282C3F"/>
                </a:solidFill>
              </a:defRPr>
            </a:pPr>
            <a:r>
              <a:t>Solution 3 (Wishlist Studio Suite) emerges as the clear winner with a RICE score of 10.6 (3,780 unweighted), solving spec ambiguity and social latency simultaneously.</a:t>
            </a:r>
          </a:p>
        </p:txBody>
      </p:sp>
      <p:sp>
        <p:nvSpPr>
          <p:cNvPr id="11" name="Rounded Rectangle 10"/>
          <p:cNvSpPr/>
          <p:nvPr/>
        </p:nvSpPr>
        <p:spPr>
          <a:xfrm>
            <a:off x="64008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Context</a:t>
            </a:r>
          </a:p>
        </p:txBody>
      </p:sp>
      <p:sp>
        <p:nvSpPr>
          <p:cNvPr id="12" name="Rounded Rectangle 11"/>
          <p:cNvSpPr/>
          <p:nvPr/>
        </p:nvSpPr>
        <p:spPr>
          <a:xfrm>
            <a:off x="172821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Market</a:t>
            </a:r>
          </a:p>
        </p:txBody>
      </p:sp>
      <p:sp>
        <p:nvSpPr>
          <p:cNvPr id="13" name="Rounded Rectangle 12"/>
          <p:cNvSpPr/>
          <p:nvPr/>
        </p:nvSpPr>
        <p:spPr>
          <a:xfrm>
            <a:off x="281635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Research</a:t>
            </a:r>
          </a:p>
        </p:txBody>
      </p:sp>
      <p:sp>
        <p:nvSpPr>
          <p:cNvPr id="14" name="Rounded Rectangle 13"/>
          <p:cNvSpPr/>
          <p:nvPr/>
        </p:nvSpPr>
        <p:spPr>
          <a:xfrm>
            <a:off x="390448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Insights</a:t>
            </a:r>
          </a:p>
        </p:txBody>
      </p:sp>
      <p:sp>
        <p:nvSpPr>
          <p:cNvPr id="15" name="Rounded Rectangle 14"/>
          <p:cNvSpPr/>
          <p:nvPr/>
        </p:nvSpPr>
        <p:spPr>
          <a:xfrm>
            <a:off x="499262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Canvas</a:t>
            </a:r>
          </a:p>
        </p:txBody>
      </p:sp>
      <p:sp>
        <p:nvSpPr>
          <p:cNvPr id="16" name="Rounded Rectangle 15"/>
          <p:cNvSpPr/>
          <p:nvPr/>
        </p:nvSpPr>
        <p:spPr>
          <a:xfrm>
            <a:off x="6080760" y="6263640"/>
            <a:ext cx="1051560" cy="320040"/>
          </a:xfrm>
          <a:prstGeom prst="roundRect">
            <a:avLst/>
          </a:prstGeom>
          <a:solidFill>
            <a:srgbClr val="FF3F6C"/>
          </a:solidFill>
          <a:ln w="12700">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FFFFFF"/>
                </a:solidFill>
              </a:defRPr>
            </a:pPr>
            <a:r>
              <a:t>Ideation</a:t>
            </a:r>
          </a:p>
        </p:txBody>
      </p:sp>
      <p:sp>
        <p:nvSpPr>
          <p:cNvPr id="17" name="Rounded Rectangle 16"/>
          <p:cNvSpPr/>
          <p:nvPr/>
        </p:nvSpPr>
        <p:spPr>
          <a:xfrm>
            <a:off x="716889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MVP</a:t>
            </a:r>
          </a:p>
        </p:txBody>
      </p:sp>
      <p:sp>
        <p:nvSpPr>
          <p:cNvPr id="18" name="Rounded Rectangle 17"/>
          <p:cNvSpPr/>
          <p:nvPr/>
        </p:nvSpPr>
        <p:spPr>
          <a:xfrm>
            <a:off x="825703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Architecture</a:t>
            </a:r>
          </a:p>
        </p:txBody>
      </p:sp>
      <p:sp>
        <p:nvSpPr>
          <p:cNvPr id="19" name="Rounded Rectangle 18"/>
          <p:cNvSpPr/>
          <p:nvPr/>
        </p:nvSpPr>
        <p:spPr>
          <a:xfrm>
            <a:off x="934516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Metrics</a:t>
            </a:r>
          </a:p>
        </p:txBody>
      </p:sp>
      <p:sp>
        <p:nvSpPr>
          <p:cNvPr id="20" name="Rounded Rectangle 19"/>
          <p:cNvSpPr/>
          <p:nvPr/>
        </p:nvSpPr>
        <p:spPr>
          <a:xfrm>
            <a:off x="1043330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GTM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124047" y="201168"/>
            <a:ext cx="5943600" cy="347472"/>
          </a:xfrm>
          <a:prstGeom prst="roundRect">
            <a:avLst/>
          </a:prstGeom>
          <a:solidFill>
            <a:srgbClr val="FF3F6C"/>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Bef>
                <a:spcPts val="0"/>
              </a:spcBef>
              <a:spcAft>
                <a:spcPts val="0"/>
              </a:spcAft>
              <a:defRPr sz="950" b="1">
                <a:solidFill>
                  <a:srgbClr val="FFFFFF"/>
                </a:solidFill>
              </a:defRPr>
            </a:pPr>
            <a:r>
              <a:t>MVP SHOWCASE &amp; TECHNICAL ARCHITECTURE PIPELINE</a:t>
            </a:r>
          </a:p>
        </p:txBody>
      </p:sp>
      <p:sp>
        <p:nvSpPr>
          <p:cNvPr id="3" name="TextBox 2"/>
          <p:cNvSpPr txBox="1"/>
          <p:nvPr/>
        </p:nvSpPr>
        <p:spPr>
          <a:xfrm>
            <a:off x="640080" y="621792"/>
            <a:ext cx="9601200" cy="777240"/>
          </a:xfrm>
          <a:prstGeom prst="rect">
            <a:avLst/>
          </a:prstGeom>
          <a:noFill/>
        </p:spPr>
        <p:txBody>
          <a:bodyPr wrap="square" lIns="0" rIns="0" tIns="0" bIns="0">
            <a:spAutoFit/>
          </a:bodyPr>
          <a:lstStyle/>
          <a:p>
            <a:pPr>
              <a:spcAft>
                <a:spcPts val="200"/>
              </a:spcAft>
              <a:defRPr sz="1350" b="1">
                <a:solidFill>
                  <a:srgbClr val="282C3F"/>
                </a:solidFill>
              </a:defRPr>
            </a:pPr>
            <a:r>
              <a:t>8. The Wishlist Studio MVP: Technical Architecture Pipeline and Live Feature Showcase</a:t>
            </a:r>
          </a:p>
          <a:p>
            <a:pPr>
              <a:spcBef>
                <a:spcPts val="200"/>
              </a:spcBef>
              <a:spcAft>
                <a:spcPts val="400"/>
              </a:spcAft>
              <a:defRPr sz="1000" b="1">
                <a:solidFill>
                  <a:srgbClr val="FF3F6C"/>
                </a:solidFill>
              </a:defRPr>
            </a:pPr>
            <a:r>
              <a:t>Full-stack client architecture and 4-step ML inference pipeline validating sub-180ms interaction latency.</a:t>
            </a:r>
          </a:p>
        </p:txBody>
      </p:sp>
      <p:sp>
        <p:nvSpPr>
          <p:cNvPr id="4" name="TextBox 3"/>
          <p:cNvSpPr txBox="1"/>
          <p:nvPr/>
        </p:nvSpPr>
        <p:spPr>
          <a:xfrm>
            <a:off x="10424160" y="621792"/>
            <a:ext cx="1188720" cy="457200"/>
          </a:xfrm>
          <a:prstGeom prst="rect">
            <a:avLst/>
          </a:prstGeom>
          <a:noFill/>
        </p:spPr>
        <p:txBody>
          <a:bodyPr wrap="none" lIns="0" rIns="0" tIns="0" bIns="0">
            <a:spAutoFit/>
          </a:bodyPr>
          <a:lstStyle/>
          <a:p>
            <a:pPr algn="r">
              <a:defRPr sz="2200" b="1">
                <a:solidFill>
                  <a:srgbClr val="FF3F6C"/>
                </a:solidFill>
              </a:defRPr>
            </a:pPr>
            <a:r>
              <a:t>myntra</a:t>
            </a:r>
          </a:p>
        </p:txBody>
      </p:sp>
      <p:sp>
        <p:nvSpPr>
          <p:cNvPr id="5" name="TextBox 4"/>
          <p:cNvSpPr txBox="1"/>
          <p:nvPr/>
        </p:nvSpPr>
        <p:spPr>
          <a:xfrm>
            <a:off x="640080" y="1499616"/>
            <a:ext cx="10911535" cy="292608"/>
          </a:xfrm>
          <a:prstGeom prst="rect">
            <a:avLst/>
          </a:prstGeom>
          <a:noFill/>
        </p:spPr>
        <p:txBody>
          <a:bodyPr wrap="square">
            <a:spAutoFit/>
          </a:bodyPr>
          <a:lstStyle/>
          <a:p>
            <a:pPr>
              <a:defRPr sz="1050" b="1">
                <a:solidFill>
                  <a:srgbClr val="FF3F6C"/>
                </a:solidFill>
              </a:defRPr>
            </a:pPr>
            <a:r>
              <a:t>⚙️ DECISION STUDIO ARCHITECTURE PIPELINE (4-STEP ML FLOW)</a:t>
            </a:r>
          </a:p>
        </p:txBody>
      </p:sp>
      <p:sp>
        <p:nvSpPr>
          <p:cNvPr id="6" name="Rounded Rectangle 5"/>
          <p:cNvSpPr/>
          <p:nvPr/>
        </p:nvSpPr>
        <p:spPr>
          <a:xfrm>
            <a:off x="640080" y="1828800"/>
            <a:ext cx="2578608" cy="1078992"/>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865376"/>
            <a:ext cx="2468880" cy="1005840"/>
          </a:xfrm>
          <a:prstGeom prst="rect">
            <a:avLst/>
          </a:prstGeom>
          <a:noFill/>
        </p:spPr>
        <p:txBody>
          <a:bodyPr wrap="square" lIns="18288" rIns="18288">
            <a:spAutoFit/>
          </a:bodyPr>
          <a:lstStyle/>
          <a:p>
            <a:pPr>
              <a:spcAft>
                <a:spcPts val="200"/>
              </a:spcAft>
              <a:defRPr sz="900" b="1">
                <a:solidFill>
                  <a:srgbClr val="FF3F6C"/>
                </a:solidFill>
              </a:defRPr>
            </a:pPr>
            <a:r>
              <a:t>1. Event Trigger</a:t>
            </a:r>
          </a:p>
          <a:p>
            <a:pPr>
              <a:lnSpc>
                <a:spcPct val="110000"/>
              </a:lnSpc>
              <a:defRPr sz="750">
                <a:solidFill>
                  <a:srgbClr val="282C3F"/>
                </a:solidFill>
              </a:defRPr>
            </a:pPr>
            <a:r>
              <a:t>Frontend fires payload on wishlist view containing saved product IDs, timestamp, and category.</a:t>
            </a:r>
          </a:p>
        </p:txBody>
      </p:sp>
      <p:sp>
        <p:nvSpPr>
          <p:cNvPr id="8" name="Rounded Rectangle 7"/>
          <p:cNvSpPr/>
          <p:nvPr/>
        </p:nvSpPr>
        <p:spPr>
          <a:xfrm>
            <a:off x="3410712" y="1828800"/>
            <a:ext cx="2578608" cy="1078992"/>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65576" y="1865376"/>
            <a:ext cx="2468880" cy="1005840"/>
          </a:xfrm>
          <a:prstGeom prst="rect">
            <a:avLst/>
          </a:prstGeom>
          <a:noFill/>
        </p:spPr>
        <p:txBody>
          <a:bodyPr wrap="square" lIns="18288" rIns="18288">
            <a:spAutoFit/>
          </a:bodyPr>
          <a:lstStyle/>
          <a:p>
            <a:pPr>
              <a:spcAft>
                <a:spcPts val="200"/>
              </a:spcAft>
              <a:defRPr sz="900" b="1">
                <a:solidFill>
                  <a:srgbClr val="FF3F6C"/>
                </a:solidFill>
              </a:defRPr>
            </a:pPr>
            <a:r>
              <a:t>2. Inference Engine</a:t>
            </a:r>
          </a:p>
          <a:p>
            <a:pPr>
              <a:lnSpc>
                <a:spcPct val="110000"/>
              </a:lnSpc>
              <a:defRPr sz="750">
                <a:solidFill>
                  <a:srgbClr val="282C3F"/>
                </a:solidFill>
              </a:defRPr>
            </a:pPr>
            <a:r>
              <a:t>Review NLP normalizes fabric GSM weight, fit consensus %, and return friction score from 20k reviews.</a:t>
            </a:r>
          </a:p>
        </p:txBody>
      </p:sp>
      <p:sp>
        <p:nvSpPr>
          <p:cNvPr id="10" name="Rounded Rectangle 9"/>
          <p:cNvSpPr/>
          <p:nvPr/>
        </p:nvSpPr>
        <p:spPr>
          <a:xfrm>
            <a:off x="6181344" y="1828800"/>
            <a:ext cx="2578608" cy="1078992"/>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6208" y="1865376"/>
            <a:ext cx="2468880" cy="1005840"/>
          </a:xfrm>
          <a:prstGeom prst="rect">
            <a:avLst/>
          </a:prstGeom>
          <a:noFill/>
        </p:spPr>
        <p:txBody>
          <a:bodyPr wrap="square" lIns="18288" rIns="18288">
            <a:spAutoFit/>
          </a:bodyPr>
          <a:lstStyle/>
          <a:p>
            <a:pPr>
              <a:spcAft>
                <a:spcPts val="200"/>
              </a:spcAft>
              <a:defRPr sz="900" b="1">
                <a:solidFill>
                  <a:srgbClr val="FF3F6C"/>
                </a:solidFill>
              </a:defRPr>
            </a:pPr>
            <a:r>
              <a:t>3. Constrained Catalog</a:t>
            </a:r>
          </a:p>
          <a:p>
            <a:pPr>
              <a:lnSpc>
                <a:spcPct val="110000"/>
              </a:lnSpc>
              <a:defRPr sz="750">
                <a:solidFill>
                  <a:srgbClr val="282C3F"/>
                </a:solidFill>
              </a:defRPr>
            </a:pPr>
            <a:r>
              <a:t>Maps item to pre-approved, high-margin styling catalog for complete 3-piece look builder.</a:t>
            </a:r>
          </a:p>
        </p:txBody>
      </p:sp>
      <p:sp>
        <p:nvSpPr>
          <p:cNvPr id="12" name="Rounded Rectangle 11"/>
          <p:cNvSpPr/>
          <p:nvPr/>
        </p:nvSpPr>
        <p:spPr>
          <a:xfrm>
            <a:off x="8951976" y="1828800"/>
            <a:ext cx="2578608" cy="1078992"/>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06840" y="1865376"/>
            <a:ext cx="2468880" cy="1005840"/>
          </a:xfrm>
          <a:prstGeom prst="rect">
            <a:avLst/>
          </a:prstGeom>
          <a:noFill/>
        </p:spPr>
        <p:txBody>
          <a:bodyPr wrap="square" lIns="18288" rIns="18288">
            <a:spAutoFit/>
          </a:bodyPr>
          <a:lstStyle/>
          <a:p>
            <a:pPr>
              <a:spcAft>
                <a:spcPts val="200"/>
              </a:spcAft>
              <a:defRPr sz="900" b="1">
                <a:solidFill>
                  <a:srgbClr val="FF3F6C"/>
                </a:solidFill>
              </a:defRPr>
            </a:pPr>
            <a:r>
              <a:t>4. Real-time UI Render</a:t>
            </a:r>
          </a:p>
          <a:p>
            <a:pPr>
              <a:lnSpc>
                <a:spcPct val="110000"/>
              </a:lnSpc>
              <a:defRPr sz="750">
                <a:solidFill>
                  <a:srgbClr val="282C3F"/>
                </a:solidFill>
              </a:defRPr>
            </a:pPr>
            <a:r>
              <a:t>Returns clean JSON payload and renders interactive Spec Matrix and WhatsApp Poll card in &lt;180ms.</a:t>
            </a:r>
          </a:p>
        </p:txBody>
      </p:sp>
      <p:sp>
        <p:nvSpPr>
          <p:cNvPr id="14" name="Rounded Rectangle 13"/>
          <p:cNvSpPr/>
          <p:nvPr/>
        </p:nvSpPr>
        <p:spPr>
          <a:xfrm>
            <a:off x="640080" y="2999232"/>
            <a:ext cx="3474720" cy="2450592"/>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035808"/>
            <a:ext cx="3328416" cy="347472"/>
          </a:xfrm>
          <a:prstGeom prst="rect">
            <a:avLst/>
          </a:prstGeom>
          <a:noFill/>
        </p:spPr>
        <p:txBody>
          <a:bodyPr wrap="square">
            <a:spAutoFit/>
          </a:bodyPr>
          <a:lstStyle/>
          <a:p>
            <a:pPr>
              <a:defRPr sz="950" b="1">
                <a:solidFill>
                  <a:srgbClr val="FF3F6C"/>
                </a:solidFill>
              </a:defRPr>
            </a:pPr>
            <a:r>
              <a:t>1. Side-by-Side Spec Matrix</a:t>
            </a:r>
          </a:p>
        </p:txBody>
      </p:sp>
      <p:pic>
        <p:nvPicPr>
          <p:cNvPr id="16" name="Picture 15" descr="01_Figma_Mobile_Spec_Comparison_Matrix.png"/>
          <p:cNvPicPr>
            <a:picLocks noChangeAspect="1"/>
          </p:cNvPicPr>
          <p:nvPr/>
        </p:nvPicPr>
        <p:blipFill>
          <a:blip r:embed="rId2"/>
          <a:stretch>
            <a:fillRect/>
          </a:stretch>
        </p:blipFill>
        <p:spPr>
          <a:xfrm>
            <a:off x="749808" y="3364992"/>
            <a:ext cx="3255264" cy="2011680"/>
          </a:xfrm>
          <a:prstGeom prst="rect">
            <a:avLst/>
          </a:prstGeom>
        </p:spPr>
      </p:pic>
      <p:sp>
        <p:nvSpPr>
          <p:cNvPr id="17" name="Rounded Rectangle 16"/>
          <p:cNvSpPr/>
          <p:nvPr/>
        </p:nvSpPr>
        <p:spPr>
          <a:xfrm>
            <a:off x="4352544" y="2999232"/>
            <a:ext cx="3474720" cy="2450592"/>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25696" y="3035808"/>
            <a:ext cx="3328416" cy="347472"/>
          </a:xfrm>
          <a:prstGeom prst="rect">
            <a:avLst/>
          </a:prstGeom>
          <a:noFill/>
        </p:spPr>
        <p:txBody>
          <a:bodyPr wrap="square">
            <a:spAutoFit/>
          </a:bodyPr>
          <a:lstStyle/>
          <a:p>
            <a:pPr>
              <a:defRPr sz="950" b="1">
                <a:solidFill>
                  <a:srgbClr val="FF3F6C"/>
                </a:solidFill>
              </a:defRPr>
            </a:pPr>
            <a:r>
              <a:t>2. AI Outfit Coordinator</a:t>
            </a:r>
          </a:p>
        </p:txBody>
      </p:sp>
      <p:pic>
        <p:nvPicPr>
          <p:cNvPr id="19" name="Picture 18" descr="02_Figma_Mobile_AI_Outfit_Coordinator.png"/>
          <p:cNvPicPr>
            <a:picLocks noChangeAspect="1"/>
          </p:cNvPicPr>
          <p:nvPr/>
        </p:nvPicPr>
        <p:blipFill>
          <a:blip r:embed="rId3"/>
          <a:stretch>
            <a:fillRect/>
          </a:stretch>
        </p:blipFill>
        <p:spPr>
          <a:xfrm>
            <a:off x="4462272" y="3364992"/>
            <a:ext cx="3255264" cy="2011680"/>
          </a:xfrm>
          <a:prstGeom prst="rect">
            <a:avLst/>
          </a:prstGeom>
        </p:spPr>
      </p:pic>
      <p:sp>
        <p:nvSpPr>
          <p:cNvPr id="20" name="Rounded Rectangle 19"/>
          <p:cNvSpPr/>
          <p:nvPr/>
        </p:nvSpPr>
        <p:spPr>
          <a:xfrm>
            <a:off x="8065008" y="2999232"/>
            <a:ext cx="3474720" cy="2450592"/>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3035808"/>
            <a:ext cx="3328416" cy="347472"/>
          </a:xfrm>
          <a:prstGeom prst="rect">
            <a:avLst/>
          </a:prstGeom>
          <a:noFill/>
        </p:spPr>
        <p:txBody>
          <a:bodyPr wrap="square">
            <a:spAutoFit/>
          </a:bodyPr>
          <a:lstStyle/>
          <a:p>
            <a:pPr>
              <a:defRPr sz="950" b="1">
                <a:solidFill>
                  <a:srgbClr val="FF3F6C"/>
                </a:solidFill>
              </a:defRPr>
            </a:pPr>
            <a:r>
              <a:t>3. 1-Tap WhatsApp Poll</a:t>
            </a:r>
          </a:p>
        </p:txBody>
      </p:sp>
      <p:pic>
        <p:nvPicPr>
          <p:cNvPr id="22" name="Picture 21" descr="03_Figma_Mobile_WhatsApp_Voting_Card.png"/>
          <p:cNvPicPr>
            <a:picLocks noChangeAspect="1"/>
          </p:cNvPicPr>
          <p:nvPr/>
        </p:nvPicPr>
        <p:blipFill>
          <a:blip r:embed="rId4"/>
          <a:stretch>
            <a:fillRect/>
          </a:stretch>
        </p:blipFill>
        <p:spPr>
          <a:xfrm>
            <a:off x="8174736" y="3364992"/>
            <a:ext cx="3255264" cy="2011680"/>
          </a:xfrm>
          <a:prstGeom prst="rect">
            <a:avLst/>
          </a:prstGeom>
        </p:spPr>
      </p:pic>
      <p:sp>
        <p:nvSpPr>
          <p:cNvPr id="23" name="Rounded Rectangle 22"/>
          <p:cNvSpPr/>
          <p:nvPr/>
        </p:nvSpPr>
        <p:spPr>
          <a:xfrm>
            <a:off x="640080" y="5532120"/>
            <a:ext cx="10911535" cy="62179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577840"/>
            <a:ext cx="10637215" cy="530352"/>
          </a:xfrm>
          <a:prstGeom prst="rect">
            <a:avLst/>
          </a:prstGeom>
          <a:noFill/>
        </p:spPr>
        <p:txBody>
          <a:bodyPr wrap="square" tIns="36576" bIns="36576">
            <a:spAutoFit/>
          </a:bodyPr>
          <a:lstStyle/>
          <a:p>
            <a:pPr>
              <a:spcAft>
                <a:spcPts val="200"/>
              </a:spcAft>
              <a:defRPr sz="950" b="1">
                <a:solidFill>
                  <a:srgbClr val="4338CA"/>
                </a:solidFill>
              </a:defRPr>
            </a:pPr>
            <a:r>
              <a:t>★ 🚀 LIVE DEPLOYED MVP &amp; FIGMA CANVAS LINKS</a:t>
            </a:r>
          </a:p>
          <a:p>
            <a:pPr>
              <a:lnSpc>
                <a:spcPct val="115000"/>
              </a:lnSpc>
              <a:spcBef>
                <a:spcPts val="0"/>
              </a:spcBef>
              <a:defRPr sz="900" b="1">
                <a:solidFill>
                  <a:srgbClr val="282C3F"/>
                </a:solidFill>
              </a:defRPr>
            </a:pPr>
            <a:r>
              <a:t>Live Deployed MVP: https://myntra-growth-lab.vercel.app | Figma Design: https://www.figma.com/design/EtSP7uuOBjzS2b5uA8qaml/Myntra-MVP-NL?node-id=1-2</a:t>
            </a:r>
          </a:p>
        </p:txBody>
      </p:sp>
      <p:sp>
        <p:nvSpPr>
          <p:cNvPr id="25" name="Rounded Rectangle 24"/>
          <p:cNvSpPr/>
          <p:nvPr/>
        </p:nvSpPr>
        <p:spPr>
          <a:xfrm>
            <a:off x="64008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Context</a:t>
            </a:r>
          </a:p>
        </p:txBody>
      </p:sp>
      <p:sp>
        <p:nvSpPr>
          <p:cNvPr id="26" name="Rounded Rectangle 25"/>
          <p:cNvSpPr/>
          <p:nvPr/>
        </p:nvSpPr>
        <p:spPr>
          <a:xfrm>
            <a:off x="172821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Market</a:t>
            </a:r>
          </a:p>
        </p:txBody>
      </p:sp>
      <p:sp>
        <p:nvSpPr>
          <p:cNvPr id="27" name="Rounded Rectangle 26"/>
          <p:cNvSpPr/>
          <p:nvPr/>
        </p:nvSpPr>
        <p:spPr>
          <a:xfrm>
            <a:off x="281635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Research</a:t>
            </a:r>
          </a:p>
        </p:txBody>
      </p:sp>
      <p:sp>
        <p:nvSpPr>
          <p:cNvPr id="28" name="Rounded Rectangle 27"/>
          <p:cNvSpPr/>
          <p:nvPr/>
        </p:nvSpPr>
        <p:spPr>
          <a:xfrm>
            <a:off x="390448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Insights</a:t>
            </a:r>
          </a:p>
        </p:txBody>
      </p:sp>
      <p:sp>
        <p:nvSpPr>
          <p:cNvPr id="29" name="Rounded Rectangle 28"/>
          <p:cNvSpPr/>
          <p:nvPr/>
        </p:nvSpPr>
        <p:spPr>
          <a:xfrm>
            <a:off x="499262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Canvas</a:t>
            </a:r>
          </a:p>
        </p:txBody>
      </p:sp>
      <p:sp>
        <p:nvSpPr>
          <p:cNvPr id="30" name="Rounded Rectangle 29"/>
          <p:cNvSpPr/>
          <p:nvPr/>
        </p:nvSpPr>
        <p:spPr>
          <a:xfrm>
            <a:off x="608076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Ideation</a:t>
            </a:r>
          </a:p>
        </p:txBody>
      </p:sp>
      <p:sp>
        <p:nvSpPr>
          <p:cNvPr id="31" name="Rounded Rectangle 30"/>
          <p:cNvSpPr/>
          <p:nvPr/>
        </p:nvSpPr>
        <p:spPr>
          <a:xfrm>
            <a:off x="7168896" y="6263640"/>
            <a:ext cx="1051560" cy="320040"/>
          </a:xfrm>
          <a:prstGeom prst="roundRect">
            <a:avLst/>
          </a:prstGeom>
          <a:solidFill>
            <a:srgbClr val="FF3F6C"/>
          </a:solidFill>
          <a:ln w="12700">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FFFFFF"/>
                </a:solidFill>
              </a:defRPr>
            </a:pPr>
            <a:r>
              <a:t>MVP</a:t>
            </a:r>
          </a:p>
        </p:txBody>
      </p:sp>
      <p:sp>
        <p:nvSpPr>
          <p:cNvPr id="32" name="Rounded Rectangle 31"/>
          <p:cNvSpPr/>
          <p:nvPr/>
        </p:nvSpPr>
        <p:spPr>
          <a:xfrm>
            <a:off x="825703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Architecture</a:t>
            </a:r>
          </a:p>
        </p:txBody>
      </p:sp>
      <p:sp>
        <p:nvSpPr>
          <p:cNvPr id="33" name="Rounded Rectangle 32"/>
          <p:cNvSpPr/>
          <p:nvPr/>
        </p:nvSpPr>
        <p:spPr>
          <a:xfrm>
            <a:off x="934516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Metrics</a:t>
            </a:r>
          </a:p>
        </p:txBody>
      </p:sp>
      <p:sp>
        <p:nvSpPr>
          <p:cNvPr id="34" name="Rounded Rectangle 33"/>
          <p:cNvSpPr/>
          <p:nvPr/>
        </p:nvSpPr>
        <p:spPr>
          <a:xfrm>
            <a:off x="1043330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GTM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124047" y="201168"/>
            <a:ext cx="5943600" cy="347472"/>
          </a:xfrm>
          <a:prstGeom prst="roundRect">
            <a:avLst/>
          </a:prstGeom>
          <a:solidFill>
            <a:srgbClr val="FF3F6C"/>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Bef>
                <a:spcPts val="0"/>
              </a:spcBef>
              <a:spcAft>
                <a:spcPts val="0"/>
              </a:spcAft>
              <a:defRPr sz="950" b="1">
                <a:solidFill>
                  <a:srgbClr val="FFFFFF"/>
                </a:solidFill>
              </a:defRPr>
            </a:pPr>
            <a:r>
              <a:t>SUCCESS METRICS, GUARDRAILS &amp; A/B EXPERIMENTATION</a:t>
            </a:r>
          </a:p>
        </p:txBody>
      </p:sp>
      <p:sp>
        <p:nvSpPr>
          <p:cNvPr id="3" name="TextBox 2"/>
          <p:cNvSpPr txBox="1"/>
          <p:nvPr/>
        </p:nvSpPr>
        <p:spPr>
          <a:xfrm>
            <a:off x="640080" y="621792"/>
            <a:ext cx="9601200" cy="777240"/>
          </a:xfrm>
          <a:prstGeom prst="rect">
            <a:avLst/>
          </a:prstGeom>
          <a:noFill/>
        </p:spPr>
        <p:txBody>
          <a:bodyPr wrap="square" lIns="0" rIns="0" tIns="0" bIns="0">
            <a:spAutoFit/>
          </a:bodyPr>
          <a:lstStyle/>
          <a:p>
            <a:pPr>
              <a:spcAft>
                <a:spcPts val="200"/>
              </a:spcAft>
              <a:defRPr sz="1350" b="1">
                <a:solidFill>
                  <a:srgbClr val="282C3F"/>
                </a:solidFill>
              </a:defRPr>
            </a:pPr>
            <a:r>
              <a:t>9. Success Metrics Hierarchy: 200,000-User RCT Validating +300bps Conversion and Return Guardrails</a:t>
            </a:r>
          </a:p>
          <a:p>
            <a:pPr>
              <a:spcBef>
                <a:spcPts val="200"/>
              </a:spcBef>
              <a:spcAft>
                <a:spcPts val="400"/>
              </a:spcAft>
              <a:defRPr sz="1000" b="1">
                <a:solidFill>
                  <a:srgbClr val="FF3F6C"/>
                </a:solidFill>
              </a:defRPr>
            </a:pPr>
            <a:r>
              <a:t>Comprehensive metric hierarchy with operational guardrails, Amplitude telemetry schema, and kill thresholds.</a:t>
            </a:r>
          </a:p>
        </p:txBody>
      </p:sp>
      <p:sp>
        <p:nvSpPr>
          <p:cNvPr id="4" name="TextBox 3"/>
          <p:cNvSpPr txBox="1"/>
          <p:nvPr/>
        </p:nvSpPr>
        <p:spPr>
          <a:xfrm>
            <a:off x="10424160" y="621792"/>
            <a:ext cx="1188720" cy="457200"/>
          </a:xfrm>
          <a:prstGeom prst="rect">
            <a:avLst/>
          </a:prstGeom>
          <a:noFill/>
        </p:spPr>
        <p:txBody>
          <a:bodyPr wrap="none" lIns="0" rIns="0" tIns="0" bIns="0">
            <a:spAutoFit/>
          </a:bodyPr>
          <a:lstStyle/>
          <a:p>
            <a:pPr algn="r">
              <a:defRPr sz="2200" b="1">
                <a:solidFill>
                  <a:srgbClr val="FF3F6C"/>
                </a:solidFill>
              </a:defRPr>
            </a:pPr>
            <a:r>
              <a:t>myntra</a:t>
            </a:r>
          </a:p>
        </p:txBody>
      </p:sp>
      <p:sp>
        <p:nvSpPr>
          <p:cNvPr id="5" name="Rounded Rectangle 4"/>
          <p:cNvSpPr/>
          <p:nvPr/>
        </p:nvSpPr>
        <p:spPr>
          <a:xfrm>
            <a:off x="640080" y="1536192"/>
            <a:ext cx="10911535" cy="201168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09344"/>
            <a:ext cx="10689336" cy="1865376"/>
          </a:xfrm>
          <a:prstGeom prst="rect">
            <a:avLst/>
          </a:prstGeom>
          <a:noFill/>
        </p:spPr>
        <p:txBody>
          <a:bodyPr wrap="square" lIns="73152" rIns="73152">
            <a:spAutoFit/>
          </a:bodyPr>
          <a:lstStyle/>
          <a:p>
            <a:pPr>
              <a:spcAft>
                <a:spcPts val="400"/>
              </a:spcAft>
              <a:defRPr sz="1050" b="1">
                <a:solidFill>
                  <a:srgbClr val="FF3F6C"/>
                </a:solidFill>
              </a:defRPr>
            </a:pPr>
            <a:r>
              <a:t>⭐ SUCCESS METRICS HIERARCHY &amp; OPERATIONAL GUARDRAILS</a:t>
            </a:r>
          </a:p>
          <a:p>
            <a:pPr marL="177800" indent="-127000">
              <a:lnSpc>
                <a:spcPct val="115000"/>
              </a:lnSpc>
              <a:spcBef>
                <a:spcPts val="200"/>
              </a:spcBef>
              <a:spcAft>
                <a:spcPts val="300"/>
              </a:spcAft>
              <a:defRPr sz="900"/>
            </a:pPr>
            <a:r>
              <a:rPr b="1">
                <a:solidFill>
                  <a:srgbClr val="FF3F6C"/>
                </a:solidFill>
              </a:rPr>
              <a:t>► </a:t>
            </a:r>
            <a:r>
              <a:rPr b="1">
                <a:solidFill>
                  <a:srgbClr val="282C3F"/>
                </a:solidFill>
              </a:rPr>
              <a:t>North Star (Primary): </a:t>
            </a:r>
            <a:r>
              <a:rPr>
                <a:solidFill>
                  <a:srgbClr val="282C3F"/>
                </a:solidFill>
              </a:rPr>
              <a:t>30-Day Wishlist-to-Purchase Conversion Rate [Baseline: 7.5% → Target: 10.5% (+300bps)] — Drive non-discounted buying &amp; LTV.</a:t>
            </a:r>
          </a:p>
          <a:p>
            <a:pPr marL="177800" indent="-127000">
              <a:lnSpc>
                <a:spcPct val="115000"/>
              </a:lnSpc>
              <a:spcBef>
                <a:spcPts val="200"/>
              </a:spcBef>
              <a:spcAft>
                <a:spcPts val="300"/>
              </a:spcAft>
              <a:defRPr sz="900"/>
            </a:pPr>
            <a:r>
              <a:rPr b="1">
                <a:solidFill>
                  <a:srgbClr val="FF3F6C"/>
                </a:solidFill>
              </a:rPr>
              <a:t>► </a:t>
            </a:r>
            <a:r>
              <a:rPr b="1">
                <a:solidFill>
                  <a:srgbClr val="282C3F"/>
                </a:solidFill>
              </a:rPr>
              <a:t>Secondary (Conversion): </a:t>
            </a:r>
            <a:r>
              <a:rPr>
                <a:solidFill>
                  <a:srgbClr val="282C3F"/>
                </a:solidFill>
              </a:rPr>
              <a:t>Spec Matrix Adoption &amp; AI Look Move-to-Bag [Matrix: ≥35% | AI Look: ≥22% Move-to-Bag] — Validate evaluation clarity &amp; AOV lift.</a:t>
            </a:r>
          </a:p>
          <a:p>
            <a:pPr marL="177800" indent="-127000">
              <a:lnSpc>
                <a:spcPct val="115000"/>
              </a:lnSpc>
              <a:spcBef>
                <a:spcPts val="200"/>
              </a:spcBef>
              <a:spcAft>
                <a:spcPts val="300"/>
              </a:spcAft>
              <a:defRPr sz="900"/>
            </a:pPr>
            <a:r>
              <a:rPr b="1">
                <a:solidFill>
                  <a:srgbClr val="FF3F6C"/>
                </a:solidFill>
              </a:rPr>
              <a:t>► </a:t>
            </a:r>
            <a:r>
              <a:rPr b="1">
                <a:solidFill>
                  <a:srgbClr val="282C3F"/>
                </a:solidFill>
              </a:rPr>
              <a:t>Guardrail 1 (Quality): </a:t>
            </a:r>
            <a:r>
              <a:rPr>
                <a:solidFill>
                  <a:srgbClr val="282C3F"/>
                </a:solidFill>
              </a:rPr>
              <a:t>Sizing &amp; Fit Return Rate [Baseline: 24% → Target: ≤18% (-600bps)] — Ensure specs reduce reverse logistics.</a:t>
            </a:r>
          </a:p>
          <a:p>
            <a:pPr marL="177800" indent="-127000">
              <a:lnSpc>
                <a:spcPct val="115000"/>
              </a:lnSpc>
              <a:spcBef>
                <a:spcPts val="200"/>
              </a:spcBef>
              <a:spcAft>
                <a:spcPts val="300"/>
              </a:spcAft>
              <a:defRPr sz="900"/>
            </a:pPr>
            <a:r>
              <a:rPr b="1">
                <a:solidFill>
                  <a:srgbClr val="FF3F6C"/>
                </a:solidFill>
              </a:rPr>
              <a:t>► </a:t>
            </a:r>
            <a:r>
              <a:rPr b="1">
                <a:solidFill>
                  <a:srgbClr val="282C3F"/>
                </a:solidFill>
              </a:rPr>
              <a:t>Guardrail 2 (System): </a:t>
            </a:r>
            <a:r>
              <a:rPr>
                <a:solidFill>
                  <a:srgbClr val="282C3F"/>
                </a:solidFill>
              </a:rPr>
              <a:t>p95 API Latency &amp; Margin Floor [Latency: &lt;300ms | Margin: 38% Floor] — Preserve sub-second UI &amp; profit integrity.</a:t>
            </a:r>
          </a:p>
        </p:txBody>
      </p:sp>
      <p:sp>
        <p:nvSpPr>
          <p:cNvPr id="7" name="Rounded Rectangle 6"/>
          <p:cNvSpPr/>
          <p:nvPr/>
        </p:nvSpPr>
        <p:spPr>
          <a:xfrm>
            <a:off x="640080" y="3657600"/>
            <a:ext cx="10911535" cy="1792224"/>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730752"/>
            <a:ext cx="10689336" cy="1645920"/>
          </a:xfrm>
          <a:prstGeom prst="rect">
            <a:avLst/>
          </a:prstGeom>
          <a:noFill/>
        </p:spPr>
        <p:txBody>
          <a:bodyPr wrap="square" lIns="73152" rIns="73152">
            <a:spAutoFit/>
          </a:bodyPr>
          <a:lstStyle/>
          <a:p>
            <a:pPr>
              <a:spcAft>
                <a:spcPts val="300"/>
              </a:spcAft>
              <a:defRPr sz="1000" b="1">
                <a:solidFill>
                  <a:srgbClr val="FF3F6C"/>
                </a:solidFill>
              </a:defRPr>
            </a:pPr>
            <a:r>
              <a:t>🔬 200,000-USER RANDOMIZED CONTROLLED TRIAL (RCT) &amp; SAFEGUARDS</a:t>
            </a:r>
          </a:p>
          <a:p>
            <a:pPr marL="177800" indent="-127000">
              <a:lnSpc>
                <a:spcPct val="115000"/>
              </a:lnSpc>
              <a:spcBef>
                <a:spcPts val="100"/>
              </a:spcBef>
              <a:spcAft>
                <a:spcPts val="200"/>
              </a:spcAft>
              <a:defRPr sz="850"/>
            </a:pPr>
            <a:r>
              <a:rPr b="1">
                <a:solidFill>
                  <a:srgbClr val="282C3F"/>
                </a:solidFill>
              </a:rPr>
              <a:t>• Sample Size &amp; Power: </a:t>
            </a:r>
            <a:r>
              <a:rPr>
                <a:solidFill>
                  <a:srgbClr val="282C3F"/>
                </a:solidFill>
              </a:rPr>
              <a:t>200,000 Active Wishlist Users (100k Control vs 100k Variant), 95% Confidence, 80% Statistical Power.</a:t>
            </a:r>
          </a:p>
          <a:p>
            <a:pPr marL="177800" indent="-127000">
              <a:lnSpc>
                <a:spcPct val="115000"/>
              </a:lnSpc>
              <a:spcBef>
                <a:spcPts val="100"/>
              </a:spcBef>
              <a:spcAft>
                <a:spcPts val="200"/>
              </a:spcAft>
              <a:defRPr sz="850"/>
            </a:pPr>
            <a:r>
              <a:rPr b="1">
                <a:solidFill>
                  <a:srgbClr val="282C3F"/>
                </a:solidFill>
              </a:rPr>
              <a:t>• Control vs Variant: </a:t>
            </a:r>
            <a:r>
              <a:rPr>
                <a:solidFill>
                  <a:srgbClr val="282C3F"/>
                </a:solidFill>
              </a:rPr>
              <a:t>Control sees standard passive wishlist; Variant receives Wishlist Studio (Spec Matrix + Looks + Poll).</a:t>
            </a:r>
          </a:p>
          <a:p>
            <a:pPr marL="177800" indent="-127000">
              <a:lnSpc>
                <a:spcPct val="115000"/>
              </a:lnSpc>
              <a:spcBef>
                <a:spcPts val="100"/>
              </a:spcBef>
              <a:spcAft>
                <a:spcPts val="200"/>
              </a:spcAft>
              <a:defRPr sz="850"/>
            </a:pPr>
            <a:r>
              <a:rPr b="1">
                <a:solidFill>
                  <a:srgbClr val="282C3F"/>
                </a:solidFill>
              </a:rPr>
              <a:t>• Automated Kill Threshold 1: </a:t>
            </a:r>
            <a:r>
              <a:rPr>
                <a:solidFill>
                  <a:srgbClr val="282C3F"/>
                </a:solidFill>
              </a:rPr>
              <a:t>If Spec Matrix adoption &lt; 15% at Day 30 → pause rollout and refine top 5 category spec schemas.</a:t>
            </a:r>
          </a:p>
          <a:p>
            <a:pPr marL="177800" indent="-127000">
              <a:lnSpc>
                <a:spcPct val="115000"/>
              </a:lnSpc>
              <a:spcBef>
                <a:spcPts val="100"/>
              </a:spcBef>
              <a:spcAft>
                <a:spcPts val="200"/>
              </a:spcAft>
              <a:defRPr sz="850"/>
            </a:pPr>
            <a:r>
              <a:rPr b="1">
                <a:solidFill>
                  <a:srgbClr val="282C3F"/>
                </a:solidFill>
              </a:rPr>
              <a:t>• Automated Kill Threshold 2: </a:t>
            </a:r>
            <a:r>
              <a:rPr>
                <a:solidFill>
                  <a:srgbClr val="282C3F"/>
                </a:solidFill>
              </a:rPr>
              <a:t>If Return Rate exceeds 24% or p95 latency &gt; 800ms → automated circuit breaker rolls back within 60s.</a:t>
            </a:r>
          </a:p>
        </p:txBody>
      </p:sp>
      <p:sp>
        <p:nvSpPr>
          <p:cNvPr id="9" name="Rounded Rectangle 8"/>
          <p:cNvSpPr/>
          <p:nvPr/>
        </p:nvSpPr>
        <p:spPr>
          <a:xfrm>
            <a:off x="640080" y="5532120"/>
            <a:ext cx="10911535" cy="62179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577840"/>
            <a:ext cx="10637215" cy="530352"/>
          </a:xfrm>
          <a:prstGeom prst="rect">
            <a:avLst/>
          </a:prstGeom>
          <a:noFill/>
        </p:spPr>
        <p:txBody>
          <a:bodyPr wrap="square" tIns="36576" bIns="36576">
            <a:spAutoFit/>
          </a:bodyPr>
          <a:lstStyle/>
          <a:p>
            <a:pPr>
              <a:spcAft>
                <a:spcPts val="200"/>
              </a:spcAft>
              <a:defRPr sz="950" b="1">
                <a:solidFill>
                  <a:srgbClr val="4338CA"/>
                </a:solidFill>
              </a:defRPr>
            </a:pPr>
            <a:r>
              <a:t>★ 📊 TELEMETRY &amp; ATTRIBUTION INTEGRITY</a:t>
            </a:r>
          </a:p>
          <a:p>
            <a:pPr>
              <a:lnSpc>
                <a:spcPct val="115000"/>
              </a:lnSpc>
              <a:spcBef>
                <a:spcPts val="0"/>
              </a:spcBef>
              <a:defRPr sz="900" b="1">
                <a:solidFill>
                  <a:srgbClr val="282C3F"/>
                </a:solidFill>
              </a:defRPr>
            </a:pPr>
            <a:r>
              <a:t>Tracked via real-time Amplitude event streams (spec_matrix_viewed, bundle_moved_to_bag, social_poll_shared). Randomized holdout ensures strict causality.</a:t>
            </a:r>
          </a:p>
        </p:txBody>
      </p:sp>
      <p:sp>
        <p:nvSpPr>
          <p:cNvPr id="11" name="Rounded Rectangle 10"/>
          <p:cNvSpPr/>
          <p:nvPr/>
        </p:nvSpPr>
        <p:spPr>
          <a:xfrm>
            <a:off x="64008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Context</a:t>
            </a:r>
          </a:p>
        </p:txBody>
      </p:sp>
      <p:sp>
        <p:nvSpPr>
          <p:cNvPr id="12" name="Rounded Rectangle 11"/>
          <p:cNvSpPr/>
          <p:nvPr/>
        </p:nvSpPr>
        <p:spPr>
          <a:xfrm>
            <a:off x="172821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Market</a:t>
            </a:r>
          </a:p>
        </p:txBody>
      </p:sp>
      <p:sp>
        <p:nvSpPr>
          <p:cNvPr id="13" name="Rounded Rectangle 12"/>
          <p:cNvSpPr/>
          <p:nvPr/>
        </p:nvSpPr>
        <p:spPr>
          <a:xfrm>
            <a:off x="281635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Research</a:t>
            </a:r>
          </a:p>
        </p:txBody>
      </p:sp>
      <p:sp>
        <p:nvSpPr>
          <p:cNvPr id="14" name="Rounded Rectangle 13"/>
          <p:cNvSpPr/>
          <p:nvPr/>
        </p:nvSpPr>
        <p:spPr>
          <a:xfrm>
            <a:off x="390448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Insights</a:t>
            </a:r>
          </a:p>
        </p:txBody>
      </p:sp>
      <p:sp>
        <p:nvSpPr>
          <p:cNvPr id="15" name="Rounded Rectangle 14"/>
          <p:cNvSpPr/>
          <p:nvPr/>
        </p:nvSpPr>
        <p:spPr>
          <a:xfrm>
            <a:off x="499262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Canvas</a:t>
            </a:r>
          </a:p>
        </p:txBody>
      </p:sp>
      <p:sp>
        <p:nvSpPr>
          <p:cNvPr id="16" name="Rounded Rectangle 15"/>
          <p:cNvSpPr/>
          <p:nvPr/>
        </p:nvSpPr>
        <p:spPr>
          <a:xfrm>
            <a:off x="608076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Ideation</a:t>
            </a:r>
          </a:p>
        </p:txBody>
      </p:sp>
      <p:sp>
        <p:nvSpPr>
          <p:cNvPr id="17" name="Rounded Rectangle 16"/>
          <p:cNvSpPr/>
          <p:nvPr/>
        </p:nvSpPr>
        <p:spPr>
          <a:xfrm>
            <a:off x="716889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MVP</a:t>
            </a:r>
          </a:p>
        </p:txBody>
      </p:sp>
      <p:sp>
        <p:nvSpPr>
          <p:cNvPr id="18" name="Rounded Rectangle 17"/>
          <p:cNvSpPr/>
          <p:nvPr/>
        </p:nvSpPr>
        <p:spPr>
          <a:xfrm>
            <a:off x="825703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Architecture</a:t>
            </a:r>
          </a:p>
        </p:txBody>
      </p:sp>
      <p:sp>
        <p:nvSpPr>
          <p:cNvPr id="19" name="Rounded Rectangle 18"/>
          <p:cNvSpPr/>
          <p:nvPr/>
        </p:nvSpPr>
        <p:spPr>
          <a:xfrm>
            <a:off x="9345168" y="6263640"/>
            <a:ext cx="1051560" cy="320040"/>
          </a:xfrm>
          <a:prstGeom prst="roundRect">
            <a:avLst/>
          </a:prstGeom>
          <a:solidFill>
            <a:srgbClr val="FF3F6C"/>
          </a:solidFill>
          <a:ln w="12700">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FFFFFF"/>
                </a:solidFill>
              </a:defRPr>
            </a:pPr>
            <a:r>
              <a:t>Metrics</a:t>
            </a:r>
          </a:p>
        </p:txBody>
      </p:sp>
      <p:sp>
        <p:nvSpPr>
          <p:cNvPr id="20" name="Rounded Rectangle 19"/>
          <p:cNvSpPr/>
          <p:nvPr/>
        </p:nvSpPr>
        <p:spPr>
          <a:xfrm>
            <a:off x="1043330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GTM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3124047" y="201168"/>
            <a:ext cx="5943600" cy="347472"/>
          </a:xfrm>
          <a:prstGeom prst="roundRect">
            <a:avLst/>
          </a:prstGeom>
          <a:solidFill>
            <a:srgbClr val="FF3F6C"/>
          </a:solidFill>
          <a:ln>
            <a:no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Bef>
                <a:spcPts val="0"/>
              </a:spcBef>
              <a:spcAft>
                <a:spcPts val="0"/>
              </a:spcAft>
              <a:defRPr sz="950" b="1">
                <a:solidFill>
                  <a:srgbClr val="FFFFFF"/>
                </a:solidFill>
              </a:defRPr>
            </a:pPr>
            <a:r>
              <a:t>PITFALLS, MITIGATIONS &amp; PHASED ROLLOUT ROADMAP</a:t>
            </a:r>
          </a:p>
        </p:txBody>
      </p:sp>
      <p:sp>
        <p:nvSpPr>
          <p:cNvPr id="3" name="TextBox 2"/>
          <p:cNvSpPr txBox="1"/>
          <p:nvPr/>
        </p:nvSpPr>
        <p:spPr>
          <a:xfrm>
            <a:off x="640080" y="621792"/>
            <a:ext cx="9601200" cy="777240"/>
          </a:xfrm>
          <a:prstGeom prst="rect">
            <a:avLst/>
          </a:prstGeom>
          <a:noFill/>
        </p:spPr>
        <p:txBody>
          <a:bodyPr wrap="square" lIns="0" rIns="0" tIns="0" bIns="0">
            <a:spAutoFit/>
          </a:bodyPr>
          <a:lstStyle/>
          <a:p>
            <a:pPr>
              <a:spcAft>
                <a:spcPts val="200"/>
              </a:spcAft>
              <a:defRPr sz="1350" b="1">
                <a:solidFill>
                  <a:srgbClr val="282C3F"/>
                </a:solidFill>
              </a:defRPr>
            </a:pPr>
            <a:r>
              <a:t>10. Pitfalls, Mitigations, and Phased GTM Rollout: Delivering ₹18.81 Cr Profit with 60-Second Circuit Breakers</a:t>
            </a:r>
          </a:p>
          <a:p>
            <a:pPr>
              <a:spcBef>
                <a:spcPts val="200"/>
              </a:spcBef>
              <a:spcAft>
                <a:spcPts val="400"/>
              </a:spcAft>
              <a:defRPr sz="1000" b="1">
                <a:solidFill>
                  <a:srgbClr val="FF3F6C"/>
                </a:solidFill>
              </a:defRPr>
            </a:pPr>
            <a:r>
              <a:t>Risk mitigation matrix and 3-phase rollout roadmap with explicit success gates and automated safeguards.</a:t>
            </a:r>
          </a:p>
        </p:txBody>
      </p:sp>
      <p:sp>
        <p:nvSpPr>
          <p:cNvPr id="4" name="TextBox 3"/>
          <p:cNvSpPr txBox="1"/>
          <p:nvPr/>
        </p:nvSpPr>
        <p:spPr>
          <a:xfrm>
            <a:off x="10424160" y="621792"/>
            <a:ext cx="1188720" cy="457200"/>
          </a:xfrm>
          <a:prstGeom prst="rect">
            <a:avLst/>
          </a:prstGeom>
          <a:noFill/>
        </p:spPr>
        <p:txBody>
          <a:bodyPr wrap="none" lIns="0" rIns="0" tIns="0" bIns="0">
            <a:spAutoFit/>
          </a:bodyPr>
          <a:lstStyle/>
          <a:p>
            <a:pPr algn="r">
              <a:defRPr sz="2200" b="1">
                <a:solidFill>
                  <a:srgbClr val="FF3F6C"/>
                </a:solidFill>
              </a:defRPr>
            </a:pPr>
            <a:r>
              <a:t>myntra</a:t>
            </a:r>
          </a:p>
        </p:txBody>
      </p:sp>
      <p:sp>
        <p:nvSpPr>
          <p:cNvPr id="5" name="Rounded Rectangle 4"/>
          <p:cNvSpPr/>
          <p:nvPr/>
        </p:nvSpPr>
        <p:spPr>
          <a:xfrm>
            <a:off x="640080" y="1536192"/>
            <a:ext cx="3529584" cy="146304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591056"/>
            <a:ext cx="3383280" cy="1353312"/>
          </a:xfrm>
          <a:prstGeom prst="rect">
            <a:avLst/>
          </a:prstGeom>
          <a:noFill/>
        </p:spPr>
        <p:txBody>
          <a:bodyPr wrap="square" lIns="54864" rIns="54864">
            <a:spAutoFit/>
          </a:bodyPr>
          <a:lstStyle/>
          <a:p>
            <a:pPr>
              <a:spcAft>
                <a:spcPts val="200"/>
              </a:spcAft>
              <a:defRPr sz="1000" b="1">
                <a:solidFill>
                  <a:srgbClr val="FF3F6C"/>
                </a:solidFill>
              </a:defRPr>
            </a:pPr>
            <a:r>
              <a:t>⚠️ Vendor GSM Data Gaps</a:t>
            </a:r>
          </a:p>
          <a:p>
            <a:pPr marL="127000" indent="0">
              <a:lnSpc>
                <a:spcPct val="112000"/>
              </a:lnSpc>
              <a:spcAft>
                <a:spcPts val="200"/>
              </a:spcAft>
              <a:defRPr sz="850"/>
            </a:pPr>
            <a:r>
              <a:rPr b="1">
                <a:solidFill>
                  <a:srgbClr val="282C3F"/>
                </a:solidFill>
              </a:rPr>
              <a:t>Pitfall: </a:t>
            </a:r>
            <a:r>
              <a:rPr>
                <a:solidFill>
                  <a:srgbClr val="282C3F"/>
                </a:solidFill>
              </a:rPr>
              <a:t>Missing or inaccurate fabric GSM specifications from tier-2 apparel vendors.</a:t>
            </a:r>
          </a:p>
          <a:p>
            <a:pPr marL="127000" indent="0">
              <a:lnSpc>
                <a:spcPct val="112000"/>
              </a:lnSpc>
              <a:spcAft>
                <a:spcPts val="0"/>
              </a:spcAft>
              <a:defRPr sz="850"/>
            </a:pPr>
            <a:r>
              <a:rPr b="1">
                <a:solidFill>
                  <a:srgbClr val="03A685"/>
                </a:solidFill>
              </a:rPr>
              <a:t>Mitigation: </a:t>
            </a:r>
            <a:r>
              <a:rPr>
                <a:solidFill>
                  <a:srgbClr val="282C3F"/>
                </a:solidFill>
              </a:rPr>
              <a:t>Heuristic textile weave model infers GSM from fabric composition and yarn density with 94% accuracy.</a:t>
            </a:r>
          </a:p>
        </p:txBody>
      </p:sp>
      <p:sp>
        <p:nvSpPr>
          <p:cNvPr id="7" name="Rounded Rectangle 6"/>
          <p:cNvSpPr/>
          <p:nvPr/>
        </p:nvSpPr>
        <p:spPr>
          <a:xfrm>
            <a:off x="4325112" y="1536192"/>
            <a:ext cx="3529584" cy="146304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98264" y="1591056"/>
            <a:ext cx="3383280" cy="1353312"/>
          </a:xfrm>
          <a:prstGeom prst="rect">
            <a:avLst/>
          </a:prstGeom>
          <a:noFill/>
        </p:spPr>
        <p:txBody>
          <a:bodyPr wrap="square" lIns="54864" rIns="54864">
            <a:spAutoFit/>
          </a:bodyPr>
          <a:lstStyle/>
          <a:p>
            <a:pPr>
              <a:spcAft>
                <a:spcPts val="200"/>
              </a:spcAft>
              <a:defRPr sz="1000" b="1">
                <a:solidFill>
                  <a:srgbClr val="FF3F6C"/>
                </a:solidFill>
              </a:defRPr>
            </a:pPr>
            <a:r>
              <a:t>⚠️ Social Polling Latency</a:t>
            </a:r>
          </a:p>
          <a:p>
            <a:pPr marL="127000" indent="0">
              <a:lnSpc>
                <a:spcPct val="112000"/>
              </a:lnSpc>
              <a:spcAft>
                <a:spcPts val="200"/>
              </a:spcAft>
              <a:defRPr sz="850"/>
            </a:pPr>
            <a:r>
              <a:rPr b="1">
                <a:solidFill>
                  <a:srgbClr val="282C3F"/>
                </a:solidFill>
              </a:rPr>
              <a:t>Pitfall: </a:t>
            </a:r>
            <a:r>
              <a:rPr>
                <a:solidFill>
                  <a:srgbClr val="282C3F"/>
                </a:solidFill>
              </a:rPr>
              <a:t>Friends take hours to vote on WhatsApp, causing shopping momentum to decay.</a:t>
            </a:r>
          </a:p>
          <a:p>
            <a:pPr marL="127000" indent="0">
              <a:lnSpc>
                <a:spcPct val="112000"/>
              </a:lnSpc>
              <a:spcAft>
                <a:spcPts val="0"/>
              </a:spcAft>
              <a:defRPr sz="850"/>
            </a:pPr>
            <a:r>
              <a:rPr b="1">
                <a:solidFill>
                  <a:srgbClr val="03A685"/>
                </a:solidFill>
              </a:rPr>
              <a:t>Mitigation: </a:t>
            </a:r>
            <a:r>
              <a:rPr>
                <a:solidFill>
                  <a:srgbClr val="282C3F"/>
                </a:solidFill>
              </a:rPr>
              <a:t>2-Second Instant AI Consensus Backup surfaces community agreement ('78% Choice') to unblock purchase.</a:t>
            </a:r>
          </a:p>
        </p:txBody>
      </p:sp>
      <p:sp>
        <p:nvSpPr>
          <p:cNvPr id="9" name="Rounded Rectangle 8"/>
          <p:cNvSpPr/>
          <p:nvPr/>
        </p:nvSpPr>
        <p:spPr>
          <a:xfrm>
            <a:off x="8010144" y="1536192"/>
            <a:ext cx="3529584" cy="1463040"/>
          </a:xfrm>
          <a:prstGeom prst="roundRect">
            <a:avLst/>
          </a:prstGeom>
          <a:solidFill>
            <a:srgbClr val="FFFFFF"/>
          </a:solidFill>
          <a:ln w="12700">
            <a:solidFill>
              <a:srgbClr val="EAEA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6" y="1591056"/>
            <a:ext cx="3383280" cy="1353312"/>
          </a:xfrm>
          <a:prstGeom prst="rect">
            <a:avLst/>
          </a:prstGeom>
          <a:noFill/>
        </p:spPr>
        <p:txBody>
          <a:bodyPr wrap="square" lIns="54864" rIns="54864">
            <a:spAutoFit/>
          </a:bodyPr>
          <a:lstStyle/>
          <a:p>
            <a:pPr>
              <a:spcAft>
                <a:spcPts val="200"/>
              </a:spcAft>
              <a:defRPr sz="1000" b="1">
                <a:solidFill>
                  <a:srgbClr val="FF3F6C"/>
                </a:solidFill>
              </a:defRPr>
            </a:pPr>
            <a:r>
              <a:t>⚠️ Sizing &amp; Fit Return Spikes</a:t>
            </a:r>
          </a:p>
          <a:p>
            <a:pPr marL="127000" indent="0">
              <a:lnSpc>
                <a:spcPct val="112000"/>
              </a:lnSpc>
              <a:spcAft>
                <a:spcPts val="200"/>
              </a:spcAft>
              <a:defRPr sz="850"/>
            </a:pPr>
            <a:r>
              <a:rPr b="1">
                <a:solidFill>
                  <a:srgbClr val="282C3F"/>
                </a:solidFill>
              </a:rPr>
              <a:t>Pitfall: </a:t>
            </a:r>
            <a:r>
              <a:rPr>
                <a:solidFill>
                  <a:srgbClr val="282C3F"/>
                </a:solidFill>
              </a:rPr>
              <a:t>Users misinterpret baggy fit ratings leading to unexpected reverse logistics costs.</a:t>
            </a:r>
          </a:p>
          <a:p>
            <a:pPr marL="127000" indent="0">
              <a:lnSpc>
                <a:spcPct val="112000"/>
              </a:lnSpc>
              <a:spcAft>
                <a:spcPts val="0"/>
              </a:spcAft>
              <a:defRPr sz="850"/>
            </a:pPr>
            <a:r>
              <a:rPr b="1">
                <a:solidFill>
                  <a:srgbClr val="03A685"/>
                </a:solidFill>
              </a:rPr>
              <a:t>Mitigation: </a:t>
            </a:r>
            <a:r>
              <a:rPr>
                <a:solidFill>
                  <a:srgbClr val="282C3F"/>
                </a:solidFill>
              </a:rPr>
              <a:t>Zero-Risk Fit Guarantee + Verified Buyer Drape Photos + Automated 60-second rollback circuit breaker.</a:t>
            </a:r>
          </a:p>
        </p:txBody>
      </p:sp>
      <p:sp>
        <p:nvSpPr>
          <p:cNvPr id="11" name="Rounded Rectangle 10"/>
          <p:cNvSpPr/>
          <p:nvPr/>
        </p:nvSpPr>
        <p:spPr>
          <a:xfrm>
            <a:off x="640080" y="3108960"/>
            <a:ext cx="3529584" cy="2340864"/>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163824"/>
            <a:ext cx="3383280" cy="2231136"/>
          </a:xfrm>
          <a:prstGeom prst="rect">
            <a:avLst/>
          </a:prstGeom>
          <a:noFill/>
        </p:spPr>
        <p:txBody>
          <a:bodyPr wrap="square" lIns="54864" rIns="54864">
            <a:spAutoFit/>
          </a:bodyPr>
          <a:lstStyle/>
          <a:p>
            <a:pPr>
              <a:spcAft>
                <a:spcPts val="200"/>
              </a:spcAft>
              <a:defRPr sz="1000" b="1">
                <a:solidFill>
                  <a:srgbClr val="FF3F6C"/>
                </a:solidFill>
              </a:defRPr>
            </a:pPr>
            <a:r>
              <a:t>🚀 Phase 1 - Beta (30 Days)</a:t>
            </a:r>
          </a:p>
          <a:p>
            <a:pPr marL="127000" indent="0">
              <a:lnSpc>
                <a:spcPct val="112000"/>
              </a:lnSpc>
              <a:spcAft>
                <a:spcPts val="200"/>
              </a:spcAft>
              <a:defRPr sz="850"/>
            </a:pPr>
            <a:r>
              <a:rPr b="1">
                <a:solidFill>
                  <a:srgbClr val="282C3F"/>
                </a:solidFill>
              </a:rPr>
              <a:t>Target: </a:t>
            </a:r>
            <a:r>
              <a:rPr>
                <a:solidFill>
                  <a:srgbClr val="282C3F"/>
                </a:solidFill>
              </a:rPr>
              <a:t>Top 20 Apparel Brands in Bengaluru &amp; Mumbai.</a:t>
            </a:r>
          </a:p>
          <a:p>
            <a:pPr marL="127000" indent="0">
              <a:lnSpc>
                <a:spcPct val="112000"/>
              </a:lnSpc>
              <a:spcAft>
                <a:spcPts val="200"/>
              </a:spcAft>
              <a:defRPr sz="850"/>
            </a:pPr>
            <a:r>
              <a:rPr b="1">
                <a:solidFill>
                  <a:srgbClr val="282C3F"/>
                </a:solidFill>
              </a:rPr>
              <a:t>Scope: </a:t>
            </a:r>
            <a:r>
              <a:rPr>
                <a:solidFill>
                  <a:srgbClr val="282C3F"/>
                </a:solidFill>
              </a:rPr>
              <a:t>Spec Matrix + WhatsApp Voting active for baskets &gt; ₹1,000.</a:t>
            </a:r>
          </a:p>
          <a:p>
            <a:pPr marL="127000" indent="0">
              <a:lnSpc>
                <a:spcPct val="112000"/>
              </a:lnSpc>
              <a:spcAft>
                <a:spcPts val="0"/>
              </a:spcAft>
              <a:defRPr sz="850"/>
            </a:pPr>
            <a:r>
              <a:rPr b="1">
                <a:solidFill>
                  <a:srgbClr val="03A685"/>
                </a:solidFill>
              </a:rPr>
              <a:t>Gate: </a:t>
            </a:r>
            <a:r>
              <a:rPr>
                <a:solidFill>
                  <a:srgbClr val="282C3F"/>
                </a:solidFill>
              </a:rPr>
              <a:t>Matrix Adoption ≥ 30% | Checkout Friction &lt; 2% drop</a:t>
            </a:r>
          </a:p>
        </p:txBody>
      </p:sp>
      <p:sp>
        <p:nvSpPr>
          <p:cNvPr id="13" name="Rounded Rectangle 12"/>
          <p:cNvSpPr/>
          <p:nvPr/>
        </p:nvSpPr>
        <p:spPr>
          <a:xfrm>
            <a:off x="4325112" y="3108960"/>
            <a:ext cx="3529584" cy="2340864"/>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8264" y="3163824"/>
            <a:ext cx="3383280" cy="2231136"/>
          </a:xfrm>
          <a:prstGeom prst="rect">
            <a:avLst/>
          </a:prstGeom>
          <a:noFill/>
        </p:spPr>
        <p:txBody>
          <a:bodyPr wrap="square" lIns="54864" rIns="54864">
            <a:spAutoFit/>
          </a:bodyPr>
          <a:lstStyle/>
          <a:p>
            <a:pPr>
              <a:spcAft>
                <a:spcPts val="200"/>
              </a:spcAft>
              <a:defRPr sz="1000" b="1">
                <a:solidFill>
                  <a:srgbClr val="FF3F6C"/>
                </a:solidFill>
              </a:defRPr>
            </a:pPr>
            <a:r>
              <a:t>🚀 Phase 2 - Metro Rollout (90 Days)</a:t>
            </a:r>
          </a:p>
          <a:p>
            <a:pPr marL="127000" indent="0">
              <a:lnSpc>
                <a:spcPct val="112000"/>
              </a:lnSpc>
              <a:spcAft>
                <a:spcPts val="200"/>
              </a:spcAft>
              <a:defRPr sz="850"/>
            </a:pPr>
            <a:r>
              <a:rPr b="1">
                <a:solidFill>
                  <a:srgbClr val="282C3F"/>
                </a:solidFill>
              </a:rPr>
              <a:t>Target: </a:t>
            </a:r>
            <a:r>
              <a:rPr>
                <a:solidFill>
                  <a:srgbClr val="282C3F"/>
                </a:solidFill>
              </a:rPr>
              <a:t>Top 500 Brands across all Tier-1 Metros.</a:t>
            </a:r>
          </a:p>
          <a:p>
            <a:pPr marL="127000" indent="0">
              <a:lnSpc>
                <a:spcPct val="112000"/>
              </a:lnSpc>
              <a:spcAft>
                <a:spcPts val="200"/>
              </a:spcAft>
              <a:defRPr sz="850"/>
            </a:pPr>
            <a:r>
              <a:rPr b="1">
                <a:solidFill>
                  <a:srgbClr val="282C3F"/>
                </a:solidFill>
              </a:rPr>
              <a:t>Scope: </a:t>
            </a:r>
            <a:r>
              <a:rPr>
                <a:solidFill>
                  <a:srgbClr val="282C3F"/>
                </a:solidFill>
              </a:rPr>
              <a:t>AI Look Coordinator active; 500+ vendor catalogs onboarded.</a:t>
            </a:r>
          </a:p>
          <a:p>
            <a:pPr marL="127000" indent="0">
              <a:lnSpc>
                <a:spcPct val="112000"/>
              </a:lnSpc>
              <a:spcAft>
                <a:spcPts val="0"/>
              </a:spcAft>
              <a:defRPr sz="850"/>
            </a:pPr>
            <a:r>
              <a:rPr b="1">
                <a:solidFill>
                  <a:srgbClr val="03A685"/>
                </a:solidFill>
              </a:rPr>
              <a:t>Gate: </a:t>
            </a:r>
            <a:r>
              <a:rPr>
                <a:solidFill>
                  <a:srgbClr val="282C3F"/>
                </a:solidFill>
              </a:rPr>
              <a:t>AI Look Move-to-Bag ≥ 22% | Conversion Lift ≥ +200bps</a:t>
            </a:r>
          </a:p>
        </p:txBody>
      </p:sp>
      <p:sp>
        <p:nvSpPr>
          <p:cNvPr id="15" name="Rounded Rectangle 14"/>
          <p:cNvSpPr/>
          <p:nvPr/>
        </p:nvSpPr>
        <p:spPr>
          <a:xfrm>
            <a:off x="8010144" y="3108960"/>
            <a:ext cx="3529584" cy="2340864"/>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83296" y="3163824"/>
            <a:ext cx="3383280" cy="2231136"/>
          </a:xfrm>
          <a:prstGeom prst="rect">
            <a:avLst/>
          </a:prstGeom>
          <a:noFill/>
        </p:spPr>
        <p:txBody>
          <a:bodyPr wrap="square" lIns="54864" rIns="54864">
            <a:spAutoFit/>
          </a:bodyPr>
          <a:lstStyle/>
          <a:p>
            <a:pPr>
              <a:spcAft>
                <a:spcPts val="200"/>
              </a:spcAft>
              <a:defRPr sz="1000" b="1">
                <a:solidFill>
                  <a:srgbClr val="FF3F6C"/>
                </a:solidFill>
              </a:defRPr>
            </a:pPr>
            <a:r>
              <a:t>🚀 Phase 3 - General Availability (180 Days)</a:t>
            </a:r>
          </a:p>
          <a:p>
            <a:pPr marL="127000" indent="0">
              <a:lnSpc>
                <a:spcPct val="112000"/>
              </a:lnSpc>
              <a:spcAft>
                <a:spcPts val="200"/>
              </a:spcAft>
              <a:defRPr sz="850"/>
            </a:pPr>
            <a:r>
              <a:rPr b="1">
                <a:solidFill>
                  <a:srgbClr val="282C3F"/>
                </a:solidFill>
              </a:rPr>
              <a:t>Target: </a:t>
            </a:r>
            <a:r>
              <a:rPr>
                <a:solidFill>
                  <a:srgbClr val="282C3F"/>
                </a:solidFill>
              </a:rPr>
              <a:t>100% Rollout across all 10M Wishlist MAU.</a:t>
            </a:r>
          </a:p>
          <a:p>
            <a:pPr marL="127000" indent="0">
              <a:lnSpc>
                <a:spcPct val="112000"/>
              </a:lnSpc>
              <a:spcAft>
                <a:spcPts val="200"/>
              </a:spcAft>
              <a:defRPr sz="850"/>
            </a:pPr>
            <a:r>
              <a:rPr b="1">
                <a:solidFill>
                  <a:srgbClr val="282C3F"/>
                </a:solidFill>
              </a:rPr>
              <a:t>Scope: </a:t>
            </a:r>
            <a:r>
              <a:rPr>
                <a:solidFill>
                  <a:srgbClr val="282C3F"/>
                </a:solidFill>
              </a:rPr>
              <a:t>Full catalog unlocked; Horizon 2 Occasion Auto-Folders live.</a:t>
            </a:r>
          </a:p>
          <a:p>
            <a:pPr marL="127000" indent="0">
              <a:lnSpc>
                <a:spcPct val="112000"/>
              </a:lnSpc>
              <a:spcAft>
                <a:spcPts val="0"/>
              </a:spcAft>
              <a:defRPr sz="850"/>
            </a:pPr>
            <a:r>
              <a:rPr b="1">
                <a:solidFill>
                  <a:srgbClr val="03A685"/>
                </a:solidFill>
              </a:rPr>
              <a:t>Gate: </a:t>
            </a:r>
            <a:r>
              <a:rPr>
                <a:solidFill>
                  <a:srgbClr val="282C3F"/>
                </a:solidFill>
              </a:rPr>
              <a:t>NSM: 10.5% Conversion (+300bps) | Gross Profit: +₹18.81 Cr/mo</a:t>
            </a:r>
          </a:p>
        </p:txBody>
      </p:sp>
      <p:sp>
        <p:nvSpPr>
          <p:cNvPr id="17" name="Rounded Rectangle 16"/>
          <p:cNvSpPr/>
          <p:nvPr/>
        </p:nvSpPr>
        <p:spPr>
          <a:xfrm>
            <a:off x="640080" y="5532120"/>
            <a:ext cx="10911535" cy="621792"/>
          </a:xfrm>
          <a:prstGeom prst="roundRect">
            <a:avLst/>
          </a:prstGeom>
          <a:solidFill>
            <a:srgbClr val="FFF0F4"/>
          </a:solidFill>
          <a:ln w="12700">
            <a:solidFill>
              <a:srgbClr val="FFC2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77840"/>
            <a:ext cx="10637215" cy="530352"/>
          </a:xfrm>
          <a:prstGeom prst="rect">
            <a:avLst/>
          </a:prstGeom>
          <a:noFill/>
        </p:spPr>
        <p:txBody>
          <a:bodyPr wrap="square" tIns="36576" bIns="36576">
            <a:spAutoFit/>
          </a:bodyPr>
          <a:lstStyle/>
          <a:p>
            <a:pPr>
              <a:spcAft>
                <a:spcPts val="200"/>
              </a:spcAft>
              <a:defRPr sz="950" b="1">
                <a:solidFill>
                  <a:srgbClr val="4338CA"/>
                </a:solidFill>
              </a:defRPr>
            </a:pPr>
            <a:r>
              <a:t>★ 🔒 PRIVACY, INTEGRITY &amp; MARGIN SAFEGUARDS</a:t>
            </a:r>
          </a:p>
          <a:p>
            <a:pPr>
              <a:lnSpc>
                <a:spcPct val="115000"/>
              </a:lnSpc>
              <a:spcBef>
                <a:spcPts val="0"/>
              </a:spcBef>
              <a:defRPr sz="900" b="1">
                <a:solidFill>
                  <a:srgbClr val="282C3F"/>
                </a:solidFill>
              </a:defRPr>
            </a:pPr>
            <a:r>
              <a:t>Privacy principle: Myntra respects user style autonomy. Zero discount flash spam, zero unsolicited board sharing, and full 38% gross margin protection.</a:t>
            </a:r>
          </a:p>
        </p:txBody>
      </p:sp>
      <p:sp>
        <p:nvSpPr>
          <p:cNvPr id="19" name="Rounded Rectangle 18"/>
          <p:cNvSpPr/>
          <p:nvPr/>
        </p:nvSpPr>
        <p:spPr>
          <a:xfrm>
            <a:off x="64008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Context</a:t>
            </a:r>
          </a:p>
        </p:txBody>
      </p:sp>
      <p:sp>
        <p:nvSpPr>
          <p:cNvPr id="20" name="Rounded Rectangle 19"/>
          <p:cNvSpPr/>
          <p:nvPr/>
        </p:nvSpPr>
        <p:spPr>
          <a:xfrm>
            <a:off x="172821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Market</a:t>
            </a:r>
          </a:p>
        </p:txBody>
      </p:sp>
      <p:sp>
        <p:nvSpPr>
          <p:cNvPr id="21" name="Rounded Rectangle 20"/>
          <p:cNvSpPr/>
          <p:nvPr/>
        </p:nvSpPr>
        <p:spPr>
          <a:xfrm>
            <a:off x="281635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Research</a:t>
            </a:r>
          </a:p>
        </p:txBody>
      </p:sp>
      <p:sp>
        <p:nvSpPr>
          <p:cNvPr id="22" name="Rounded Rectangle 21"/>
          <p:cNvSpPr/>
          <p:nvPr/>
        </p:nvSpPr>
        <p:spPr>
          <a:xfrm>
            <a:off x="390448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Insights</a:t>
            </a:r>
          </a:p>
        </p:txBody>
      </p:sp>
      <p:sp>
        <p:nvSpPr>
          <p:cNvPr id="23" name="Rounded Rectangle 22"/>
          <p:cNvSpPr/>
          <p:nvPr/>
        </p:nvSpPr>
        <p:spPr>
          <a:xfrm>
            <a:off x="4992624"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Canvas</a:t>
            </a:r>
          </a:p>
        </p:txBody>
      </p:sp>
      <p:sp>
        <p:nvSpPr>
          <p:cNvPr id="24" name="Rounded Rectangle 23"/>
          <p:cNvSpPr/>
          <p:nvPr/>
        </p:nvSpPr>
        <p:spPr>
          <a:xfrm>
            <a:off x="6080760"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Ideation</a:t>
            </a:r>
          </a:p>
        </p:txBody>
      </p:sp>
      <p:sp>
        <p:nvSpPr>
          <p:cNvPr id="25" name="Rounded Rectangle 24"/>
          <p:cNvSpPr/>
          <p:nvPr/>
        </p:nvSpPr>
        <p:spPr>
          <a:xfrm>
            <a:off x="7168896"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MVP</a:t>
            </a:r>
          </a:p>
        </p:txBody>
      </p:sp>
      <p:sp>
        <p:nvSpPr>
          <p:cNvPr id="26" name="Rounded Rectangle 25"/>
          <p:cNvSpPr/>
          <p:nvPr/>
        </p:nvSpPr>
        <p:spPr>
          <a:xfrm>
            <a:off x="8257032"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Architecture</a:t>
            </a:r>
          </a:p>
        </p:txBody>
      </p:sp>
      <p:sp>
        <p:nvSpPr>
          <p:cNvPr id="27" name="Rounded Rectangle 26"/>
          <p:cNvSpPr/>
          <p:nvPr/>
        </p:nvSpPr>
        <p:spPr>
          <a:xfrm>
            <a:off x="9345168" y="6263640"/>
            <a:ext cx="1051560" cy="32004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535766"/>
                </a:solidFill>
              </a:defRPr>
            </a:pPr>
            <a:r>
              <a:t>Metrics</a:t>
            </a:r>
          </a:p>
        </p:txBody>
      </p:sp>
      <p:sp>
        <p:nvSpPr>
          <p:cNvPr id="28" name="Rounded Rectangle 27"/>
          <p:cNvSpPr/>
          <p:nvPr/>
        </p:nvSpPr>
        <p:spPr>
          <a:xfrm>
            <a:off x="10433304" y="6263640"/>
            <a:ext cx="1051560" cy="320040"/>
          </a:xfrm>
          <a:prstGeom prst="roundRect">
            <a:avLst/>
          </a:prstGeom>
          <a:solidFill>
            <a:srgbClr val="FF3F6C"/>
          </a:solidFill>
          <a:ln w="12700">
            <a:solidFill>
              <a:srgbClr val="FF3F6C"/>
            </a:solidFill>
          </a:ln>
        </p:spPr>
        <p:style>
          <a:lnRef idx="1">
            <a:schemeClr val="accent1"/>
          </a:lnRef>
          <a:fillRef idx="3">
            <a:schemeClr val="accent1"/>
          </a:fillRef>
          <a:effectRef idx="2">
            <a:schemeClr val="accent1"/>
          </a:effectRef>
          <a:fontRef idx="minor">
            <a:schemeClr val="lt1"/>
          </a:fontRef>
        </p:style>
        <p:txBody>
          <a:bodyPr rtlCol="0" anchor="ctr" lIns="18288" rIns="18288" tIns="18288" bIns="18288"/>
          <a:lstStyle/>
          <a:p>
            <a:pPr algn="ctr">
              <a:spcBef>
                <a:spcPts val="0"/>
              </a:spcBef>
              <a:spcAft>
                <a:spcPts val="0"/>
              </a:spcAft>
              <a:defRPr sz="900" b="1">
                <a:solidFill>
                  <a:srgbClr val="FFFFFF"/>
                </a:solidFill>
              </a:defRPr>
            </a:pPr>
            <a:r>
              <a:t>GTM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