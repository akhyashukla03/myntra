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</a:defRPr>
            </a:pPr>
            <a:r>
              <a:t>WISHLIST CONVERSION + SPEC CLARITY ARBITRAGE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282C3F"/>
                </a:solidFill>
              </a:defRPr>
            </a:pPr>
            <a:r>
              <a:t>1. Myntra Expands Blended Gross Margin (+300bps) by Converting Daily Wishlist Habits into Recurring Non-Discounted Buying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FF3F6C"/>
                </a:solidFill>
              </a:defRPr>
            </a:pPr>
            <a:r>
              <a:t>Funding purchase confidence through proprietary spec clarity and AI styling to bypass traditional P&amp;L discount subsidies.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📋 STRATEGIC BRIEF &amp; PM SCOPE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Role &amp; Scope: </a:t>
            </a:r>
            <a:r>
              <a:rPr>
                <a:solidFill>
                  <a:srgbClr val="282C3F"/>
                </a:solidFill>
              </a:rPr>
              <a:t>PM on Myntra Growth Team driving trust-led wishlist-to-bag conversion.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Shortlist Inertia: </a:t>
            </a:r>
            <a:r>
              <a:rPr>
                <a:solidFill>
                  <a:srgbClr val="282C3F"/>
                </a:solidFill>
              </a:rPr>
              <a:t>66.7% of active wishlists stall into inactive graveyards with 38+ saved items.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Strategic Objective: </a:t>
            </a:r>
            <a:r>
              <a:rPr>
                <a:solidFill>
                  <a:srgbClr val="282C3F"/>
                </a:solidFill>
              </a:rPr>
              <a:t>Lift 30-day wishlist-to-purchase conversion from 7.5% to 10.5% (+300bps) in 12 months.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Zero-Discount Mandate: </a:t>
            </a:r>
            <a:r>
              <a:rPr>
                <a:solidFill>
                  <a:srgbClr val="282C3F"/>
                </a:solidFill>
              </a:rPr>
              <a:t>All lift must be generated via UX clarity &amp; styling confidence—zero margin-eroding flash coupons.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176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⚡ THE VALUE-CONFIDENCE ARBITRAGE MODEL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Confidence Arbitrage: </a:t>
            </a:r>
            <a:r>
              <a:rPr>
                <a:solidFill>
                  <a:srgbClr val="282C3F"/>
                </a:solidFill>
              </a:rPr>
              <a:t>Providing fabric GSM weight and verified fit consensus unlocks dormant intent without price cuts.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Sustainable Unit Economics: </a:t>
            </a:r>
            <a:r>
              <a:rPr>
                <a:solidFill>
                  <a:srgbClr val="282C3F"/>
                </a:solidFill>
              </a:rPr>
              <a:t>Delivers +₹18.81 Cr monthly gross profit from high-margin apparel (38% gross margin).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Ecosystem Lock-in: </a:t>
            </a:r>
            <a:r>
              <a:rPr>
                <a:solidFill>
                  <a:srgbClr val="282C3F"/>
                </a:solidFill>
              </a:rPr>
              <a:t>Competitors relying on flat discounts cannot replicate proprietary review NLP spec graphs.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Compounding Flywheel: </a:t>
            </a:r>
            <a:r>
              <a:rPr>
                <a:solidFill>
                  <a:srgbClr val="282C3F"/>
                </a:solidFill>
              </a:rPr>
              <a:t>Higher evaluation confidence → higher checkout velocity → fewer reverse logistics sizing returns.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Figma_Mobile_Wishlist_Studio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86984"/>
            <a:ext cx="10637215" cy="530352"/>
          </a:xfrm>
          <a:prstGeom prst="rect">
            <a:avLst/>
          </a:prstGeom>
          <a:noFill/>
        </p:spPr>
        <p:txBody>
          <a:bodyPr wrap="square" tIns="36576" bIns="36576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338CA"/>
                </a:solidFill>
              </a:defRPr>
            </a:pPr>
            <a:r>
              <a:t>★ PORTAL DIRECTORY &amp; VERIFIED HYPERLINKS</a:t>
            </a:r>
          </a:p>
          <a:p>
            <a:pPr>
              <a:lnSpc>
                <a:spcPct val="115000"/>
              </a:lnSpc>
              <a:spcBef>
                <a:spcPts val="0"/>
              </a:spcBef>
              <a:defRPr sz="950" b="1">
                <a:solidFill>
                  <a:srgbClr val="282C3F"/>
                </a:solidFill>
              </a:defRPr>
            </a:pPr>
            <a:r>
              <a:t>Live Deployed MVP: https://myntra-growth-lab.vercel.app | Live Figma Canvas: https://www.figma.com/design/EtSP7uuOBjzS2b5uA8qaml/Myntra-MVP-NL?node-id=1-2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</a:defRPr>
            </a:pPr>
            <a:r>
              <a:t>CONVENIENCE-JUSTIFIED EVALUATION VS BLIND DISCOUNT HUNTING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282C3F"/>
                </a:solidFill>
              </a:defRPr>
            </a:pPr>
            <a:r>
              <a:t>2. Users Leak High-Intent Purchases to Off-Platform Channels; MVP Targets Spec Ambiguity and Styling Loops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FF3F6C"/>
                </a:solidFill>
              </a:defRPr>
            </a:pPr>
            <a:r>
              <a:t>Shifting focus from margin-eroding discount alerts to confidence-justified spec comparisons and coordinated outfits.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⭐ WHAT THE ECOSYSTEM HAS SOLVED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Catalog Depth &amp; Variety: </a:t>
            </a:r>
            <a:r>
              <a:rPr>
                <a:solidFill>
                  <a:srgbClr val="282C3F"/>
                </a:solidFill>
              </a:rPr>
              <a:t>500,000+ fashion styles across global and domestic partner brands.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Sub-Second Search &amp; Filters: </a:t>
            </a:r>
            <a:r>
              <a:rPr>
                <a:solidFill>
                  <a:srgbClr val="282C3F"/>
                </a:solidFill>
              </a:rPr>
              <a:t>Ultra-fast category search, size filtering, and brand carousels.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Seamless Checkout &amp; 3PL: </a:t>
            </a:r>
            <a:r>
              <a:rPr>
                <a:solidFill>
                  <a:srgbClr val="282C3F"/>
                </a:solidFill>
              </a:rPr>
              <a:t>Reliable nationwide doorstep delivery with 14-day hassle-free return policy.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176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❌ CADENCE &amp; EVALUATION BLIND SPOTS (N=20,250 DATA)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Purchasing Leakage: </a:t>
            </a:r>
            <a:r>
              <a:rPr>
                <a:solidFill>
                  <a:srgbClr val="282C3F"/>
                </a:solidFill>
              </a:rPr>
              <a:t>88.9% (8/9 survey) shortlist 3-4 identical alternatives and defer buying due to choice paralysis.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Fabric Texture Blindspot: </a:t>
            </a:r>
            <a:r>
              <a:rPr>
                <a:solidFill>
                  <a:srgbClr val="282C3F"/>
                </a:solidFill>
              </a:rPr>
              <a:t>35% of stalled users cite inability to differentiate fabric weight (160 vs 240 GSM) online.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Zero Side-by-Side Tools: </a:t>
            </a:r>
            <a:r>
              <a:rPr>
                <a:solidFill>
                  <a:srgbClr val="282C3F"/>
                </a:solidFill>
              </a:rPr>
              <a:t>No Indian fashion platform offers real-time spec matrix comparing fit consensus on one screen.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Wardrobe Isolation: </a:t>
            </a:r>
            <a:r>
              <a:rPr>
                <a:solidFill>
                  <a:srgbClr val="282C3F"/>
                </a:solidFill>
              </a:rPr>
              <a:t>28% abandon purchases because standalone garments don't coordinate with existing clothes.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86984"/>
            <a:ext cx="10637215" cy="530352"/>
          </a:xfrm>
          <a:prstGeom prst="rect">
            <a:avLst/>
          </a:prstGeom>
          <a:noFill/>
        </p:spPr>
        <p:txBody>
          <a:bodyPr wrap="square" tIns="36576" bIns="36576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338CA"/>
                </a:solidFill>
              </a:defRPr>
            </a:pPr>
            <a:r>
              <a:t>★ ★ CORE THESIS TESTED &amp; VALIDATED</a:t>
            </a:r>
          </a:p>
          <a:p>
            <a:pPr>
              <a:lnSpc>
                <a:spcPct val="115000"/>
              </a:lnSpc>
              <a:spcBef>
                <a:spcPts val="0"/>
              </a:spcBef>
              <a:defRPr sz="950" b="1">
                <a:solidFill>
                  <a:srgbClr val="282C3F"/>
                </a:solidFill>
              </a:defRPr>
            </a:pPr>
            <a:r>
              <a:t>Wishlist inertia occurs because users lack evaluation clarity, not money. Fix: Side-by-Side GSM Matrix + AI Wardrobe Matching + 1-Tap WhatsApp Voting closes the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</a:defRPr>
            </a:pPr>
            <a:r>
              <a:t>AI DISCOVERY WORKFLOW &amp; THINKING EVOLUTION NARRATIVE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282C3F"/>
                </a:solidFill>
              </a:defRPr>
            </a:pPr>
            <a:r>
              <a:t>3. Sourced 20,250 Review Corpus &amp; N=9 Interviews Pivot Strategy: Price Elasticity Myth Replaced by Comparison Friction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FF3F6C"/>
                </a:solidFill>
              </a:defRPr>
            </a:pPr>
            <a:r>
              <a:t>How research evolved our thinking from discount alert hypotheses to solving Spec Ambiguity, Styling Doubt &amp; Social Latency.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55648"/>
            <a:ext cx="508406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🧠 STRATEGIC THINKING EVOLUTION NARRATIVE</a:t>
            </a:r>
          </a:p>
          <a:p>
            <a:pPr>
              <a:spcBef>
                <a:spcPts val="400"/>
              </a:spcBef>
              <a:spcAft>
                <a:spcPts val="100"/>
              </a:spcAft>
              <a:defRPr sz="1000"/>
            </a:pPr>
            <a:r>
              <a:rPr b="1">
                <a:solidFill>
                  <a:srgbClr val="FF3F6C"/>
                </a:solidFill>
              </a:rPr>
              <a:t>► 1. Initial Hypothesis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950"/>
            </a:pPr>
            <a:r>
              <a:rPr>
                <a:solidFill>
                  <a:srgbClr val="282C3F"/>
                </a:solidFill>
              </a:rPr>
              <a:t>Assumed wishlist drop-off was driven by price sensitivity and lack of discount alerts.</a:t>
            </a:r>
          </a:p>
          <a:p>
            <a:pPr>
              <a:spcBef>
                <a:spcPts val="400"/>
              </a:spcBef>
              <a:spcAft>
                <a:spcPts val="100"/>
              </a:spcAft>
              <a:defRPr sz="1000"/>
            </a:pPr>
            <a:r>
              <a:rPr b="1">
                <a:solidFill>
                  <a:srgbClr val="FF3F6C"/>
                </a:solidFill>
              </a:rPr>
              <a:t>► 2. Sourced 20,250 Review NLP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950"/>
            </a:pPr>
            <a:r>
              <a:rPr>
                <a:solidFill>
                  <a:srgbClr val="282C3F"/>
                </a:solidFill>
              </a:rPr>
              <a:t>Parsed 20,250 reviews across 10 channels → 35% friction from comparison overload &amp; thin fabric ambiguity.</a:t>
            </a:r>
          </a:p>
          <a:p>
            <a:pPr>
              <a:spcBef>
                <a:spcPts val="400"/>
              </a:spcBef>
              <a:spcAft>
                <a:spcPts val="100"/>
              </a:spcAft>
              <a:defRPr sz="1000"/>
            </a:pPr>
            <a:r>
              <a:rPr b="1">
                <a:solidFill>
                  <a:srgbClr val="FF3F6C"/>
                </a:solidFill>
              </a:rPr>
              <a:t>► 3. Primary Interview Pivot (N=9)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950"/>
            </a:pPr>
            <a:r>
              <a:rPr>
                <a:solidFill>
                  <a:srgbClr val="282C3F"/>
                </a:solidFill>
              </a:rPr>
              <a:t>100% of interviewed users rejected price cuts as the primary blocker; 88.9% cited comparison paralysis.</a:t>
            </a:r>
          </a:p>
          <a:p>
            <a:pPr>
              <a:spcBef>
                <a:spcPts val="400"/>
              </a:spcBef>
              <a:spcAft>
                <a:spcPts val="100"/>
              </a:spcAft>
              <a:defRPr sz="1000"/>
            </a:pPr>
            <a:r>
              <a:rPr b="1">
                <a:solidFill>
                  <a:srgbClr val="FF3F6C"/>
                </a:solidFill>
              </a:rPr>
              <a:t>► 4. Core Problem Definition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950"/>
            </a:pPr>
            <a:r>
              <a:rPr>
                <a:solidFill>
                  <a:srgbClr val="282C3F"/>
                </a:solidFill>
              </a:rPr>
              <a:t>Narrowed solution to 3 levers: Side-by-Side Spec Matrix, AI Look Coordinator &amp; WhatsApp Voting.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379476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755648"/>
            <a:ext cx="508406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🔬 AI DISCOVERY PIPELINE WORKFLOW</a:t>
            </a:r>
          </a:p>
          <a:p>
            <a:pPr>
              <a:lnSpc>
                <a:spcPct val="118000"/>
              </a:lnSpc>
              <a:spcBef>
                <a:spcPts val="300"/>
              </a:spcBef>
              <a:spcAft>
                <a:spcPts val="600"/>
              </a:spcAft>
              <a:defRPr sz="950"/>
            </a:pPr>
            <a:r>
              <a:rPr b="1">
                <a:solidFill>
                  <a:srgbClr val="282C3F"/>
                </a:solidFill>
              </a:rPr>
              <a:t>• Step 1: Data Ingestion: </a:t>
            </a:r>
            <a:r>
              <a:rPr>
                <a:solidFill>
                  <a:srgbClr val="282C3F"/>
                </a:solidFill>
              </a:rPr>
              <a:t>Sourced 20,250 verified buyer reviews across top 5 apparel categories.</a:t>
            </a:r>
          </a:p>
          <a:p>
            <a:pPr>
              <a:lnSpc>
                <a:spcPct val="118000"/>
              </a:lnSpc>
              <a:spcBef>
                <a:spcPts val="300"/>
              </a:spcBef>
              <a:spcAft>
                <a:spcPts val="600"/>
              </a:spcAft>
              <a:defRPr sz="950"/>
            </a:pPr>
            <a:r>
              <a:rPr b="1">
                <a:solidFill>
                  <a:srgbClr val="282C3F"/>
                </a:solidFill>
              </a:rPr>
              <a:t>• Step 2: NLP Cluster Parsing: </a:t>
            </a:r>
            <a:r>
              <a:rPr>
                <a:solidFill>
                  <a:srgbClr val="282C3F"/>
                </a:solidFill>
              </a:rPr>
              <a:t>Categorized into 40% Delights, 30% Feature Requests, 30% Friction Clusters.</a:t>
            </a:r>
          </a:p>
          <a:p>
            <a:pPr>
              <a:lnSpc>
                <a:spcPct val="118000"/>
              </a:lnSpc>
              <a:spcBef>
                <a:spcPts val="300"/>
              </a:spcBef>
              <a:spcAft>
                <a:spcPts val="600"/>
              </a:spcAft>
              <a:defRPr sz="950"/>
            </a:pPr>
            <a:r>
              <a:rPr b="1">
                <a:solidFill>
                  <a:srgbClr val="282C3F"/>
                </a:solidFill>
              </a:rPr>
              <a:t>• Step 3: Interview Validation: </a:t>
            </a:r>
            <a:r>
              <a:rPr>
                <a:solidFill>
                  <a:srgbClr val="282C3F"/>
                </a:solidFill>
              </a:rPr>
              <a:t>N=9 deep interviews (88.9% PMF score) confirming top 3 friction buckets.</a:t>
            </a:r>
          </a:p>
          <a:p>
            <a:pPr>
              <a:lnSpc>
                <a:spcPct val="118000"/>
              </a:lnSpc>
              <a:spcBef>
                <a:spcPts val="300"/>
              </a:spcBef>
              <a:spcAft>
                <a:spcPts val="600"/>
              </a:spcAft>
              <a:defRPr sz="950"/>
            </a:pPr>
            <a:r>
              <a:rPr b="1">
                <a:solidFill>
                  <a:srgbClr val="282C3F"/>
                </a:solidFill>
              </a:rPr>
              <a:t>• Step 4: AI Discovery Console: </a:t>
            </a:r>
            <a:r>
              <a:rPr>
                <a:solidFill>
                  <a:srgbClr val="282C3F"/>
                </a:solidFill>
              </a:rPr>
              <a:t>Live workflow tester: https://myntra-growth-lab.vercel.app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86984"/>
            <a:ext cx="10637215" cy="530352"/>
          </a:xfrm>
          <a:prstGeom prst="rect">
            <a:avLst/>
          </a:prstGeom>
          <a:noFill/>
        </p:spPr>
        <p:txBody>
          <a:bodyPr wrap="square" tIns="36576" bIns="36576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338CA"/>
                </a:solidFill>
              </a:defRPr>
            </a:pPr>
            <a:r>
              <a:t>★ 🔬 RESEARCH CONCLUSION &amp; INSIGHT SYNTHESIS</a:t>
            </a:r>
          </a:p>
          <a:p>
            <a:pPr>
              <a:lnSpc>
                <a:spcPct val="115000"/>
              </a:lnSpc>
              <a:spcBef>
                <a:spcPts val="0"/>
              </a:spcBef>
              <a:defRPr sz="950" b="1">
                <a:solidFill>
                  <a:srgbClr val="282C3F"/>
                </a:solidFill>
              </a:defRPr>
            </a:pPr>
            <a:r>
              <a:t>Users do not need generic discount spam. They need Inline Spec Matrices (kill comparison paralysis), AI Look Matchers (kill styling doubt), and 1-Tap Voting Cards (kill friend latency).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</a:defRPr>
            </a:pPr>
            <a:r>
              <a:t>HIGH-INTENT WARDROBE BUILDERS WHO STALL AT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282C3F"/>
                </a:solidFill>
              </a:defRPr>
            </a:pPr>
            <a:r>
              <a:t>4. Gen-Z &amp; Millennial Shoppers (62% of Wishlist MAU) Form the Prime Wedge to Convert Dormant Consideration Demand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FF3F6C"/>
                </a:solidFill>
              </a:defRPr>
            </a:pPr>
            <a:r>
              <a:t>Targeting active consideration shortlisters (38+ saved items) who require decision confidence rather than discounts.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👥 TARGET COHORT PROFILE &amp; RATIONALE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Cohort Definition: </a:t>
            </a:r>
            <a:r>
              <a:rPr>
                <a:solidFill>
                  <a:srgbClr val="282C3F"/>
                </a:solidFill>
              </a:rPr>
              <a:t>Gen-Z &amp; Young Millennials (18-28 yrs, Tier 1/2 metros) with ≥ 3 items saved in wishlist.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Strategic Fit: </a:t>
            </a:r>
            <a:r>
              <a:rPr>
                <a:solidFill>
                  <a:srgbClr val="282C3F"/>
                </a:solidFill>
              </a:rPr>
              <a:t>High-intent users who already browsed and shortlisted items yield 4.2x higher conversion efficiency.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Predictive Activation: </a:t>
            </a:r>
            <a:r>
              <a:rPr>
                <a:solidFill>
                  <a:srgbClr val="282C3F"/>
                </a:solidFill>
              </a:rPr>
              <a:t>Wishlist age &amp; clustering patterns trigger decision matrix before shopping momentum decays.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Zero Gross Margin Erosion: </a:t>
            </a:r>
            <a:r>
              <a:rPr>
                <a:solidFill>
                  <a:srgbClr val="282C3F"/>
                </a:solidFill>
              </a:rPr>
              <a:t>Retains full 38% platform margin without offering any margin-eroding coupons.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176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👤 PERSONA: ANONYMOUS SHOPPER COHORT (GEN-Z &amp; MILLENNIALS, N=9)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Jobs to be Done: </a:t>
            </a:r>
            <a:r>
              <a:rPr>
                <a:solidFill>
                  <a:srgbClr val="282C3F"/>
                </a:solidFill>
              </a:rPr>
              <a:t>'When I save 3 black cargo pants, I want to compare their real fabric GSM and fit on one screen so I can buy immediately.'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Emotional Job: </a:t>
            </a:r>
            <a:r>
              <a:rPr>
                <a:solidFill>
                  <a:srgbClr val="282C3F"/>
                </a:solidFill>
              </a:rPr>
              <a:t>Avoid the regret, repackaging hassle, and return anxiety of receiving flimsy see-through fabric.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Social Job: </a:t>
            </a:r>
            <a:r>
              <a:rPr>
                <a:solidFill>
                  <a:srgbClr val="282C3F"/>
                </a:solidFill>
              </a:rPr>
              <a:t>Get rapid consensus from close friends on WhatsApp without waiting 18 hours for typing.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Authentic Interview Quote: </a:t>
            </a:r>
            <a:r>
              <a:rPr>
                <a:solidFill>
                  <a:srgbClr val="282C3F"/>
                </a:solidFill>
              </a:rPr>
              <a:t>'I saved 4 cargo pants that all look identical in photos. I bought none because I couldn't tell which fabric was actually thick vs flimsy.'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Figma_Mobile_Wishlist_Studio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86984"/>
            <a:ext cx="10637215" cy="530352"/>
          </a:xfrm>
          <a:prstGeom prst="rect">
            <a:avLst/>
          </a:prstGeom>
          <a:noFill/>
        </p:spPr>
        <p:txBody>
          <a:bodyPr wrap="square" tIns="36576" bIns="36576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338CA"/>
                </a:solidFill>
              </a:defRPr>
            </a:pPr>
            <a:r>
              <a:t>★ 🎯 IMPACT IF SOLVED FOR THE CAUTIOUS SHORTLISTER</a:t>
            </a:r>
          </a:p>
          <a:p>
            <a:pPr>
              <a:lnSpc>
                <a:spcPct val="115000"/>
              </a:lnSpc>
              <a:spcBef>
                <a:spcPts val="0"/>
              </a:spcBef>
              <a:defRPr sz="950" b="1">
                <a:solidFill>
                  <a:srgbClr val="282C3F"/>
                </a:solidFill>
              </a:defRPr>
            </a:pPr>
            <a:r>
              <a:t>Eliminates cognitive fatigue. Makes multi-item comparison effortless. Boosts customer 30-day LTV up to 2.8x via bundle additions and reduces return friction.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</a:defRPr>
            </a:pPr>
            <a:r>
              <a:t>SUPPLY-SIDE MONETIZATION &amp; SENSITIVITY STRESS-TESTING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282C3F"/>
                </a:solidFill>
              </a:defRPr>
            </a:pPr>
            <a:r>
              <a:t>5. Non-Discounted Conversion Delivers ₹173 Cr Monthly Wishlist GMV; 50% Stress-Test Proves &gt;110x ROI Resilience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FF3F6C"/>
                </a:solidFill>
              </a:defRPr>
            </a:pPr>
            <a:r>
              <a:t>Unlocking +₹18.81 Cr monthly gross profit and ₹73.5L reverse logistics savings at 221x base ROI.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55648"/>
            <a:ext cx="508406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📊 BOTTOM-UP FINANCIAL WATERFALL</a:t>
            </a:r>
          </a:p>
          <a:p>
            <a:pPr>
              <a:lnSpc>
                <a:spcPct val="118000"/>
              </a:lnSpc>
              <a:spcBef>
                <a:spcPts val="300"/>
              </a:spcBef>
              <a:spcAft>
                <a:spcPts val="600"/>
              </a:spcAft>
              <a:defRPr sz="950"/>
            </a:pPr>
            <a:r>
              <a:rPr b="1">
                <a:solidFill>
                  <a:srgbClr val="282C3F"/>
                </a:solidFill>
              </a:rPr>
              <a:t>• Baseline Wishlist Revenue: </a:t>
            </a:r>
            <a:r>
              <a:rPr b="1">
                <a:solidFill>
                  <a:srgbClr val="FF3F6C"/>
                </a:solidFill>
              </a:rPr>
              <a:t>₹123.75 Cr / mo (10M MAU × 7.5% baseline × ₹1,650 AOV)</a:t>
            </a:r>
          </a:p>
          <a:p>
            <a:pPr>
              <a:lnSpc>
                <a:spcPct val="118000"/>
              </a:lnSpc>
              <a:spcBef>
                <a:spcPts val="300"/>
              </a:spcBef>
              <a:spcAft>
                <a:spcPts val="600"/>
              </a:spcAft>
              <a:defRPr sz="950"/>
            </a:pPr>
            <a:r>
              <a:rPr b="1">
                <a:solidFill>
                  <a:srgbClr val="282C3F"/>
                </a:solidFill>
              </a:rPr>
              <a:t>• Target Wishlist Revenue (10.5%): </a:t>
            </a:r>
            <a:r>
              <a:rPr b="1">
                <a:solidFill>
                  <a:srgbClr val="FF3F6C"/>
                </a:solidFill>
              </a:rPr>
              <a:t>₹173.25 Cr / mo (10M MAU × 10.5% target × ₹1,650 AOV)</a:t>
            </a:r>
          </a:p>
          <a:p>
            <a:pPr>
              <a:lnSpc>
                <a:spcPct val="118000"/>
              </a:lnSpc>
              <a:spcBef>
                <a:spcPts val="300"/>
              </a:spcBef>
              <a:spcAft>
                <a:spcPts val="600"/>
              </a:spcAft>
              <a:defRPr sz="950"/>
            </a:pPr>
            <a:r>
              <a:rPr b="1">
                <a:solidFill>
                  <a:srgbClr val="282C3F"/>
                </a:solidFill>
              </a:rPr>
              <a:t>• Incremental Monthly GMV Lift: </a:t>
            </a:r>
            <a:r>
              <a:rPr b="1">
                <a:solidFill>
                  <a:srgbClr val="FF3F6C"/>
                </a:solidFill>
              </a:rPr>
              <a:t>+₹49.50 Cr / mo (+300,000 buyers × ₹1,650 AOV)</a:t>
            </a:r>
          </a:p>
          <a:p>
            <a:pPr>
              <a:lnSpc>
                <a:spcPct val="118000"/>
              </a:lnSpc>
              <a:spcBef>
                <a:spcPts val="300"/>
              </a:spcBef>
              <a:spcAft>
                <a:spcPts val="600"/>
              </a:spcAft>
              <a:defRPr sz="950"/>
            </a:pPr>
            <a:r>
              <a:rPr b="1">
                <a:solidFill>
                  <a:srgbClr val="282C3F"/>
                </a:solidFill>
              </a:rPr>
              <a:t>• Incremental Gross Profit (38%): </a:t>
            </a:r>
            <a:r>
              <a:rPr b="1">
                <a:solidFill>
                  <a:srgbClr val="FF3F6C"/>
                </a:solidFill>
              </a:rPr>
              <a:t>+₹18.81 Cr / mo (+₹225.7 Cr / year gross margin unlock)</a:t>
            </a:r>
          </a:p>
          <a:p>
            <a:pPr>
              <a:lnSpc>
                <a:spcPct val="118000"/>
              </a:lnSpc>
              <a:spcBef>
                <a:spcPts val="300"/>
              </a:spcBef>
              <a:spcAft>
                <a:spcPts val="600"/>
              </a:spcAft>
              <a:defRPr sz="950"/>
            </a:pPr>
            <a:r>
              <a:rPr b="1">
                <a:solidFill>
                  <a:srgbClr val="282C3F"/>
                </a:solidFill>
              </a:rPr>
              <a:t>• Reverse Logistics Savings: </a:t>
            </a:r>
            <a:r>
              <a:rPr b="1">
                <a:solidFill>
                  <a:srgbClr val="FF3F6C"/>
                </a:solidFill>
              </a:rPr>
              <a:t>+₹73.50 Lakh / mo (300k buyers × 6% return drop × ₹410 3PL)</a:t>
            </a:r>
          </a:p>
          <a:p>
            <a:pPr>
              <a:lnSpc>
                <a:spcPct val="118000"/>
              </a:lnSpc>
              <a:spcBef>
                <a:spcPts val="300"/>
              </a:spcBef>
              <a:spcAft>
                <a:spcPts val="600"/>
              </a:spcAft>
              <a:defRPr sz="950"/>
            </a:pPr>
            <a:r>
              <a:rPr b="1">
                <a:solidFill>
                  <a:srgbClr val="282C3F"/>
                </a:solidFill>
              </a:rPr>
              <a:t>• Monthly Tech Infra Cost: </a:t>
            </a:r>
            <a:r>
              <a:rPr b="1">
                <a:solidFill>
                  <a:srgbClr val="FF3F6C"/>
                </a:solidFill>
              </a:rPr>
              <a:t>₹8.50 Lakh / mo (Vector cache, LLM looks, review embeddings)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755648"/>
            <a:ext cx="508406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🛡️ SENSITIVITY STRESS-TESTING SCENARIOS</a:t>
            </a:r>
          </a:p>
          <a:p>
            <a:pPr>
              <a:spcBef>
                <a:spcPts val="400"/>
              </a:spcBef>
              <a:spcAft>
                <a:spcPts val="100"/>
              </a:spcAft>
              <a:defRPr sz="1000"/>
            </a:pPr>
            <a:r>
              <a:rPr b="1">
                <a:solidFill>
                  <a:srgbClr val="FF3F6C"/>
                </a:solidFill>
              </a:rPr>
              <a:t>► Base Case (100% Target Lift)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950"/>
            </a:pPr>
            <a:r>
              <a:rPr>
                <a:solidFill>
                  <a:srgbClr val="282C3F"/>
                </a:solidFill>
              </a:rPr>
              <a:t>Lift: +300 bps | Profit: ₹18.81 Cr/mo | ROI: 221x ROI | Payback: &lt; 4 Days</a:t>
            </a:r>
          </a:p>
          <a:p>
            <a:pPr>
              <a:spcBef>
                <a:spcPts val="400"/>
              </a:spcBef>
              <a:spcAft>
                <a:spcPts val="100"/>
              </a:spcAft>
              <a:defRPr sz="1000"/>
            </a:pPr>
            <a:r>
              <a:rPr b="1">
                <a:solidFill>
                  <a:srgbClr val="FF3F6C"/>
                </a:solidFill>
              </a:rPr>
              <a:t>► Conservative Case (75% Lift)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950"/>
            </a:pPr>
            <a:r>
              <a:rPr>
                <a:solidFill>
                  <a:srgbClr val="282C3F"/>
                </a:solidFill>
              </a:rPr>
              <a:t>Lift: +225 bps | Profit: ₹14.10 Cr/mo | ROI: 165x ROI | Payback: &lt; 6 Days</a:t>
            </a:r>
          </a:p>
          <a:p>
            <a:pPr>
              <a:spcBef>
                <a:spcPts val="400"/>
              </a:spcBef>
              <a:spcAft>
                <a:spcPts val="100"/>
              </a:spcAft>
              <a:defRPr sz="1000"/>
            </a:pPr>
            <a:r>
              <a:rPr b="1">
                <a:solidFill>
                  <a:srgbClr val="FF3F6C"/>
                </a:solidFill>
              </a:rPr>
              <a:t>► Stress-Test Case (50% Lift)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950"/>
            </a:pPr>
            <a:r>
              <a:rPr>
                <a:solidFill>
                  <a:srgbClr val="282C3F"/>
                </a:solidFill>
              </a:rPr>
              <a:t>Lift: +150 bps | Profit: ₹9.40 Cr/mo | ROI: 110x ROI | Payback: &lt; 8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86984"/>
            <a:ext cx="10637215" cy="530352"/>
          </a:xfrm>
          <a:prstGeom prst="rect">
            <a:avLst/>
          </a:prstGeom>
          <a:noFill/>
        </p:spPr>
        <p:txBody>
          <a:bodyPr wrap="square" tIns="36576" bIns="36576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338CA"/>
                </a:solidFill>
              </a:defRPr>
            </a:pPr>
            <a:r>
              <a:t>★ 💰 FINANCIAL FLYWHEEL SUMMARY &amp; STRESS TEST</a:t>
            </a:r>
          </a:p>
          <a:p>
            <a:pPr>
              <a:lnSpc>
                <a:spcPct val="115000"/>
              </a:lnSpc>
              <a:spcBef>
                <a:spcPts val="0"/>
              </a:spcBef>
              <a:defRPr sz="950" b="1">
                <a:solidFill>
                  <a:srgbClr val="282C3F"/>
                </a:solidFill>
              </a:defRPr>
            </a:pPr>
            <a:r>
              <a:t>Even under a harsh 50% stress-test scenario (+150 bps lift), the feature generates ₹117.2 Cr annual value at a 110x ROI with payback under 8 days.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Canvas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</a:defRPr>
            </a:pPr>
            <a:r>
              <a:t>COMPOUNDING DATA FLYWHEEL VS COPIABLE PROMOS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282C3F"/>
                </a:solidFill>
              </a:defRPr>
            </a:pPr>
            <a:r>
              <a:t>6. Myntra's Defensibility Lies in its Verified GSM Spec Graph and WhatsApp Viral Loop, Not Copiable Promos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FF3F6C"/>
                </a:solidFill>
              </a:defRPr>
            </a:pPr>
            <a:r>
              <a:t>Flat discount coupons are easily copied; vendor fabric specs and friend polling create sustainable moats.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⚡ TRIVIALLY COPIABLE VS COMPOUNDING MOATS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Copiable Promos: </a:t>
            </a:r>
            <a:r>
              <a:rPr>
                <a:solidFill>
                  <a:srgbClr val="282C3F"/>
                </a:solidFill>
              </a:rPr>
              <a:t>10% flash discounts and generic push notifications can be matched by Ajio/Nykaa in a single sprint.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Moat 1 — Spec Knowledge Graph: </a:t>
            </a:r>
            <a:r>
              <a:rPr>
                <a:solidFill>
                  <a:srgbClr val="282C3F"/>
                </a:solidFill>
              </a:rPr>
              <a:t>Proprietary vendor fabric GSM specs and structured fit consensus from 20M+ reviews.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Moat 2 — Viral WhatsApp Loop: </a:t>
            </a:r>
            <a:r>
              <a:rPr>
                <a:solidFill>
                  <a:srgbClr val="282C3F"/>
                </a:solidFill>
              </a:rPr>
              <a:t>Interactive 1-tap friend voting brings dormant users into Myntra's ecosystem organically.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Moat 3 — Styling Knowledge Graph: </a:t>
            </a:r>
            <a:r>
              <a:rPr>
                <a:solidFill>
                  <a:srgbClr val="282C3F"/>
                </a:solidFill>
              </a:rPr>
              <a:t>Deterministic color theory and cross-category compatibility prevent generic AI hallucinations.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176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🏆 THREE STRATEGIC HORIZONS (RICE MATRIX)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Horizon 1 (MVP) — Spec Matrix + WhatsApp Poll + Look Matcher: </a:t>
            </a:r>
            <a:r>
              <a:rPr>
                <a:solidFill>
                  <a:srgbClr val="282C3F"/>
                </a:solidFill>
              </a:rPr>
              <a:t>High Reach, Low Effort. RICE Score: 3,780 [Vetted MVP].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Horizon 2 (Growth) — Occasion Auto-Folders + Trend Polls: </a:t>
            </a:r>
            <a:r>
              <a:rPr>
                <a:solidFill>
                  <a:srgbClr val="282C3F"/>
                </a:solidFill>
              </a:rPr>
              <a:t>Auto-clustering + localized trend feeds. RICE Score: 2,700.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Horizon 3 (Vision) — AR Virtual Try-On Wardrobe: </a:t>
            </a:r>
            <a:r>
              <a:rPr>
                <a:solidFill>
                  <a:srgbClr val="282C3F"/>
                </a:solidFill>
              </a:rPr>
              <a:t>3D garment overlay + autonomous wardrobe sync. RICE Score: 600.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Figma_Mobile_AI_Outfit_Coordin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86984"/>
            <a:ext cx="10637215" cy="530352"/>
          </a:xfrm>
          <a:prstGeom prst="rect">
            <a:avLst/>
          </a:prstGeom>
          <a:noFill/>
        </p:spPr>
        <p:txBody>
          <a:bodyPr wrap="square" tIns="36576" bIns="36576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338CA"/>
                </a:solidFill>
              </a:defRPr>
            </a:pPr>
            <a:r>
              <a:t>★ 🛡️ WHY HORIZON 1 WINS FIRST</a:t>
            </a:r>
          </a:p>
          <a:p>
            <a:pPr>
              <a:lnSpc>
                <a:spcPct val="115000"/>
              </a:lnSpc>
              <a:spcBef>
                <a:spcPts val="0"/>
              </a:spcBef>
              <a:defRPr sz="950" b="1">
                <a:solidFill>
                  <a:srgbClr val="282C3F"/>
                </a:solidFill>
              </a:defRPr>
            </a:pPr>
            <a:r>
              <a:t>Horizon 1 wins first: Zero margin erosion, attacks comparison paralysis directly, and embeds in existing wishlist behavior. H2/H3 leverage the structured data H1 generates.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</a:defRPr>
            </a:pPr>
            <a:r>
              <a:t>INTERACTIVE MVP SHOWCASE: DEPLOYED REACT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282C3F"/>
                </a:solidFill>
              </a:defRPr>
            </a:pPr>
            <a:r>
              <a:t>7. The Wishlist Studio MVP Embeds Side-by-Side Spec Matrix, AI Look Coordinator, and 1-Tap WhatsApp Voting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FF3F6C"/>
                </a:solidFill>
              </a:defRPr>
            </a:pPr>
            <a:r>
              <a:t>Live Deployed Web Application validating sub-100ms client interactions at https://myntra-growth-lab.vercel.app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4747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3291840" cy="411480"/>
          </a:xfrm>
          <a:prstGeom prst="rect">
            <a:avLst/>
          </a:prstGeom>
          <a:noFill/>
        </p:spPr>
        <p:txBody>
          <a:bodyPr wrap="square" lIns="45720" rIns="45720" tIns="36576" bIns="36576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F3F6C"/>
                </a:solidFill>
              </a:defRPr>
            </a:pPr>
            <a:r>
              <a:t>Feature 1: Side-by-Side Spec Matrix</a:t>
            </a:r>
          </a:p>
        </p:txBody>
      </p:sp>
      <p:pic>
        <p:nvPicPr>
          <p:cNvPr id="7" name="Picture 6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32004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02920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Bef>
                <a:spcPts val="200"/>
              </a:spcBef>
              <a:defRPr sz="850" b="1">
                <a:solidFill>
                  <a:srgbClr val="FF3F6C"/>
                </a:solidFill>
              </a:defRPr>
            </a:pPr>
            <a:r>
              <a:t>⚡ Solves comparison paralysis in under 60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645920"/>
            <a:ext cx="34747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4" y="1691640"/>
            <a:ext cx="3291840" cy="411480"/>
          </a:xfrm>
          <a:prstGeom prst="rect">
            <a:avLst/>
          </a:prstGeom>
          <a:noFill/>
        </p:spPr>
        <p:txBody>
          <a:bodyPr wrap="square" lIns="45720" rIns="45720" tIns="36576" bIns="36576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F3F6C"/>
                </a:solidFill>
              </a:defRPr>
            </a:pPr>
            <a:r>
              <a:t>Feature 2: AI Coordinated Look Builder</a:t>
            </a:r>
          </a:p>
        </p:txBody>
      </p:sp>
      <p:pic>
        <p:nvPicPr>
          <p:cNvPr id="11" name="Picture 10" descr="02_Figma_Mobile_AI_Outfit_Coordin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704" y="2057400"/>
            <a:ext cx="3200400" cy="2926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43984" y="502920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Bef>
                <a:spcPts val="200"/>
              </a:spcBef>
              <a:defRPr sz="850" b="1">
                <a:solidFill>
                  <a:srgbClr val="FF3F6C"/>
                </a:solidFill>
              </a:defRPr>
            </a:pPr>
            <a:r>
              <a:t>⚡ Lifts Average Order Value by +₹450 /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645920"/>
            <a:ext cx="34747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691640"/>
            <a:ext cx="3291840" cy="411480"/>
          </a:xfrm>
          <a:prstGeom prst="rect">
            <a:avLst/>
          </a:prstGeom>
          <a:noFill/>
        </p:spPr>
        <p:txBody>
          <a:bodyPr wrap="square" lIns="45720" rIns="45720" tIns="36576" bIns="36576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F3F6C"/>
                </a:solidFill>
              </a:defRPr>
            </a:pPr>
            <a:r>
              <a:t>Feature 3: 1-Tap WhatsApp Voting Card</a:t>
            </a:r>
          </a:p>
        </p:txBody>
      </p:sp>
      <p:pic>
        <p:nvPicPr>
          <p:cNvPr id="15" name="Picture 14" descr="03_Figma_Mobile_WhatsApp_Voting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057400"/>
            <a:ext cx="3200400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56448" y="502920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Bef>
                <a:spcPts val="200"/>
              </a:spcBef>
              <a:defRPr sz="850" b="1">
                <a:solidFill>
                  <a:srgbClr val="FF3F6C"/>
                </a:solidFill>
              </a:defRPr>
            </a:pPr>
            <a:r>
              <a:t>⚡ Slashes feedback delay from 18 hours to 2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86984"/>
            <a:ext cx="10637215" cy="530352"/>
          </a:xfrm>
          <a:prstGeom prst="rect">
            <a:avLst/>
          </a:prstGeom>
          <a:noFill/>
        </p:spPr>
        <p:txBody>
          <a:bodyPr wrap="square" tIns="36576" bIns="36576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338CA"/>
                </a:solidFill>
              </a:defRPr>
            </a:pPr>
            <a:r>
              <a:t>★ 🚀 PUBLICLY ACCESSIBLE MVP DEPLOYMENT &amp; FIGMA CANVAS LINKS</a:t>
            </a:r>
          </a:p>
          <a:p>
            <a:pPr>
              <a:lnSpc>
                <a:spcPct val="115000"/>
              </a:lnSpc>
              <a:spcBef>
                <a:spcPts val="0"/>
              </a:spcBef>
              <a:defRPr sz="950" b="1">
                <a:solidFill>
                  <a:srgbClr val="282C3F"/>
                </a:solidFill>
              </a:defRPr>
            </a:pPr>
            <a:r>
              <a:t>Live Prototype: https://myntra-growth-lab.vercel.app | Figma Canvas: https://www.figma.com/design/EtSP7uuOBjzS2b5uA8qaml/Myntra-MVP-NL?node-id=1-2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MVP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</a:defRPr>
            </a:pPr>
            <a:r>
              <a:t>USER EMOTION MAP &amp; 4-LAYER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282C3F"/>
                </a:solidFill>
              </a:defRPr>
            </a:pPr>
            <a:r>
              <a:t>8. Four-Layer Decision Engine Powers Inline GSM Comparison and Latency-Free Look Coordination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FF3F6C"/>
                </a:solidFill>
              </a:defRPr>
            </a:pPr>
            <a:r>
              <a:t>Mapping user emotional state transitions across 4 purchase stages alongside the underlying 4-layer technical stack.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⚙️ SYSTEM ARCHITECTURE (4 CORE LAYERS)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1 (Client UI): </a:t>
            </a:r>
            <a:r>
              <a:rPr>
                <a:solidFill>
                  <a:srgbClr val="282C3F"/>
                </a:solidFill>
              </a:rPr>
              <a:t>React/Vite Wishlist Studio + Side-by-Side Spec Matrix + Dynamic Look Builder + WhatsApp Simulator.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2 (Decision Engine): </a:t>
            </a:r>
            <a:r>
              <a:rPr>
                <a:solidFill>
                  <a:srgbClr val="282C3F"/>
                </a:solidFill>
              </a:rPr>
              <a:t>Vector Similarity Matcher + Fabric GSM Normalizer + Review Sentiment Classifier (20k reviews).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3 (Catalog &amp; Specs): </a:t>
            </a:r>
            <a:r>
              <a:rPr>
                <a:solidFill>
                  <a:srgbClr val="282C3F"/>
                </a:solidFill>
              </a:rPr>
              <a:t>Vendor GSM metadata ingestion + Verified buyer photo CDN + Real-time inventory status.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4 (Social &amp; Attribution): </a:t>
            </a:r>
            <a:r>
              <a:rPr>
                <a:solidFill>
                  <a:srgbClr val="282C3F"/>
                </a:solidFill>
              </a:rPr>
              <a:t>WhatsApp interactive voting card generator + Amplitude telemetry event streaming.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176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📱 USER EMOTION MAPPING ACROSS 4 STAGES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1 (Wishlist - Confused): </a:t>
            </a:r>
            <a:r>
              <a:rPr>
                <a:solidFill>
                  <a:srgbClr val="282C3F"/>
                </a:solidFill>
              </a:rPr>
              <a:t>Overwhelmed by 6 similar cargos → launches Spec Matrix → sees GSM weight difference in 15 seconds.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2 (Styling - Hesitant): </a:t>
            </a:r>
            <a:r>
              <a:rPr>
                <a:solidFill>
                  <a:srgbClr val="282C3F"/>
                </a:solidFill>
              </a:rPr>
              <a:t>Unsure how to pair → explores AI Looks → sees complete Friday look → adds bundle to bag.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3 (Validation - Delayed): </a:t>
            </a:r>
            <a:r>
              <a:rPr>
                <a:solidFill>
                  <a:srgbClr val="282C3F"/>
                </a:solidFill>
              </a:rPr>
              <a:t>Wants friend opinion → sends 1-tap WhatsApp card → gets instant votes + 78% community consensus.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4 (Checkout - Confident): </a:t>
            </a:r>
            <a:r>
              <a:rPr>
                <a:solidFill>
                  <a:srgbClr val="282C3F"/>
                </a:solidFill>
              </a:rPr>
              <a:t>Buys without discounts → zero return anxiety → +₹1,650 GMV unlocked.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Figma_Desktop_Web_Wishlist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86984"/>
            <a:ext cx="10637215" cy="530352"/>
          </a:xfrm>
          <a:prstGeom prst="rect">
            <a:avLst/>
          </a:prstGeom>
          <a:noFill/>
        </p:spPr>
        <p:txBody>
          <a:bodyPr wrap="square" tIns="36576" bIns="36576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338CA"/>
                </a:solidFill>
              </a:defRPr>
            </a:pPr>
            <a:r>
              <a:t>★ ⚙️ TECHNICAL ARCHITECTURE MOAT &amp; FEASIBILITY</a:t>
            </a:r>
          </a:p>
          <a:p>
            <a:pPr>
              <a:lnSpc>
                <a:spcPct val="115000"/>
              </a:lnSpc>
              <a:spcBef>
                <a:spcPts val="0"/>
              </a:spcBef>
              <a:defRPr sz="950" b="1">
                <a:solidFill>
                  <a:srgbClr val="282C3F"/>
                </a:solidFill>
              </a:defRPr>
            </a:pPr>
            <a:r>
              <a:t>Zero hardware Capex. Pre-indexed vector cache keeps styling queries sub-180ms. Review embeddings cached with 7-day TTL lifecycle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</a:defRPr>
            </a:pPr>
            <a:r>
              <a:t>METRIC HIERARCHY, TELEMETRY &amp; A/B 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282C3F"/>
                </a:solidFill>
              </a:defRPr>
            </a:pPr>
            <a:r>
              <a:t>9. Conversion Lift (7.5% -&gt; 10.5%) Is Validated via Randomized A/B Holdout Groups and Return Guardrails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FF3F6C"/>
                </a:solidFill>
              </a:defRPr>
            </a:pPr>
            <a:r>
              <a:t>Measuring true incremental GMV via 200,000-user randomized controlled trial with return rate guardrails.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⭐ NORTH STAR &amp; INCREMENTALITY DESIGN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North Star Metric: </a:t>
            </a:r>
            <a:r>
              <a:rPr>
                <a:solidFill>
                  <a:srgbClr val="282C3F"/>
                </a:solidFill>
              </a:rPr>
              <a:t>30-Day Wishlist-to-Purchase Conversion Rate (Baseline: 7.5% → Target: 10.5%, +300bps).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Experiment Design: </a:t>
            </a:r>
            <a:r>
              <a:rPr>
                <a:solidFill>
                  <a:srgbClr val="282C3F"/>
                </a:solidFill>
              </a:rPr>
              <a:t>Randomized Controlled Trial (100k Control vs 100k Variant users, 95% Confidence, 80% Power).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Control Group: </a:t>
            </a:r>
            <a:r>
              <a:rPr>
                <a:solidFill>
                  <a:srgbClr val="282C3F"/>
                </a:solidFill>
              </a:rPr>
              <a:t>Standard passive wishlist view (vertical image card dump, no specs/looks).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Leading Indicators: </a:t>
            </a:r>
            <a:r>
              <a:rPr>
                <a:solidFill>
                  <a:srgbClr val="282C3F"/>
                </a:solidFill>
              </a:rPr>
              <a:t>Spec Matrix Adoption (≥35%), AI Look-to-Bag Rate (≥22%), WhatsApp Share Rate (≥18%).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176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🛡️ OPERATIONAL GUARDRAILS &amp; KILL THRESHOLDS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Fit Return Rate Guardrail: </a:t>
            </a:r>
            <a:r>
              <a:rPr>
                <a:solidFill>
                  <a:srgbClr val="282C3F"/>
                </a:solidFill>
              </a:rPr>
              <a:t>Baseline returns: 24% → Target: ≤18% (-600bps drop due to verified GSM and fit consensus).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Gross Margin Integrity Floor: </a:t>
            </a:r>
            <a:r>
              <a:rPr>
                <a:solidFill>
                  <a:srgbClr val="282C3F"/>
                </a:solidFill>
              </a:rPr>
              <a:t>Zero promotional coupon attach on wishlist conversions; strictly non-monetary.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Kill Threshold 1: </a:t>
            </a:r>
            <a:r>
              <a:rPr>
                <a:solidFill>
                  <a:srgbClr val="282C3F"/>
                </a:solidFill>
              </a:rPr>
              <a:t>If Spec Matrix adoption &lt; 15% at Day 30 → redesign comparison attributes with top 5 categories.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Kill Threshold 2: </a:t>
            </a:r>
            <a:r>
              <a:rPr>
                <a:solidFill>
                  <a:srgbClr val="282C3F"/>
                </a:solidFill>
              </a:rPr>
              <a:t>If Return Rate increases above 24% or p95 API latency &gt; 800ms → automated circuit breaker rolls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86984"/>
            <a:ext cx="10637215" cy="530352"/>
          </a:xfrm>
          <a:prstGeom prst="rect">
            <a:avLst/>
          </a:prstGeom>
          <a:noFill/>
        </p:spPr>
        <p:txBody>
          <a:bodyPr wrap="square" tIns="36576" bIns="36576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338CA"/>
                </a:solidFill>
              </a:defRPr>
            </a:pPr>
            <a:r>
              <a:t>★ 📊 METRIC COMPOUNDING &amp; INTEGRITY</a:t>
            </a:r>
          </a:p>
          <a:p>
            <a:pPr>
              <a:lnSpc>
                <a:spcPct val="115000"/>
              </a:lnSpc>
              <a:spcBef>
                <a:spcPts val="0"/>
              </a:spcBef>
              <a:defRPr sz="950" b="1">
                <a:solidFill>
                  <a:srgbClr val="282C3F"/>
                </a:solidFill>
              </a:defRPr>
            </a:pPr>
            <a:r>
              <a:t>Metrics tracked via real-time Amplitude event streams (spec_comparison_viewed, bundle_moved_to_bag, social_poll_card_generated). Zero proxies. Holdout ensures strict causality.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</a:defRPr>
            </a:pPr>
            <a:r>
              <a:t>HORIZON 2 ROADMAP &amp; AUTOMATED CIRCUIT BREAKERS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282C3F"/>
                </a:solidFill>
              </a:defRPr>
            </a:pPr>
            <a:r>
              <a:t>10. Phased GTM Roadmap Launches Horizon 1 MVP While Building Automated Circuit Breakers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FF3F6C"/>
                </a:solidFill>
              </a:defRPr>
            </a:pPr>
            <a:r>
              <a:t>Phased rollout for Spec Matrix, AI Styling, WhatsApp Polling, and 60-second automated rollback safeguards.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🚀 4-PHASE GTM ROLLOUT STRATEGY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1 (30 Days - Beta Bangalore/Mumbai): </a:t>
            </a:r>
            <a:r>
              <a:rPr>
                <a:solidFill>
                  <a:srgbClr val="282C3F"/>
                </a:solidFill>
              </a:rPr>
              <a:t>Roll out Spec Matrix + WhatsApp Voting across top 20 apparel brands (Gate: Adoption ≥30%).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2 (90 Days - National Metros): </a:t>
            </a:r>
            <a:r>
              <a:rPr>
                <a:solidFill>
                  <a:srgbClr val="282C3F"/>
                </a:solidFill>
              </a:rPr>
              <a:t>Deploy AI Look Coordinator across all Tier-1 metros; onboard 500+ vendor catalogs.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3 (180 Days - Horizon 2 Beta): </a:t>
            </a:r>
            <a:r>
              <a:rPr>
                <a:solidFill>
                  <a:srgbClr val="282C3F"/>
                </a:solidFill>
              </a:rPr>
              <a:t>Launch Occasion Auto-Clustering and Community Trend Polling (Gate: Conversion lift ≥200bps).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4 (GA - Platform Wide): </a:t>
            </a:r>
            <a:r>
              <a:rPr>
                <a:solidFill>
                  <a:srgbClr val="282C3F"/>
                </a:solidFill>
              </a:rPr>
              <a:t>Full rollout across all 10M Wishlist MAU. Kick off Horizon 3 AR virtual wardrobe.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1768" y="1755648"/>
            <a:ext cx="3895344" cy="3575304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3F6C"/>
                </a:solidFill>
              </a:defRPr>
            </a:pPr>
            <a:r>
              <a:t>⚠️ RISKS, MITIGATIONS &amp; CIRCUIT BREAKERS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Primary Risk (Low Adoption &lt;15%): </a:t>
            </a:r>
            <a:r>
              <a:rPr>
                <a:solidFill>
                  <a:srgbClr val="282C3F"/>
                </a:solidFill>
              </a:rPr>
              <a:t>Address Kill Threshold 1: Redesign comparison attributes with top 5 categories if adoption &lt;15% at Day 30.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Vendor Data Gaps: </a:t>
            </a:r>
            <a:r>
              <a:rPr>
                <a:solidFill>
                  <a:srgbClr val="282C3F"/>
                </a:solidFill>
              </a:rPr>
              <a:t>Heuristic textile weight model infers GSM from fabric composition &amp; weave density.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Social Share Latency: </a:t>
            </a:r>
            <a:r>
              <a:rPr>
                <a:solidFill>
                  <a:srgbClr val="282C3F"/>
                </a:solidFill>
              </a:rPr>
              <a:t>Instant AI consensus fallback ('78% Community Choice') eliminates friend reply bottlenecks.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  <a:defRPr sz="95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Automated Circuit Breaker: </a:t>
            </a:r>
            <a:r>
              <a:rPr>
                <a:solidFill>
                  <a:srgbClr val="282C3F"/>
                </a:solidFill>
              </a:rPr>
              <a:t>Automated feature flag rollback within 60 seconds if return rate spikes above 24% or latency &gt;800ms.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Figma_Mobile_WhatsApp_Voting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86984"/>
            <a:ext cx="10637215" cy="530352"/>
          </a:xfrm>
          <a:prstGeom prst="rect">
            <a:avLst/>
          </a:prstGeom>
          <a:noFill/>
        </p:spPr>
        <p:txBody>
          <a:bodyPr wrap="square" tIns="36576" bIns="36576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338CA"/>
                </a:solidFill>
              </a:defRPr>
            </a:pPr>
            <a:r>
              <a:t>★ 🔒 PRIVACY &amp; MARGIN GUARDRAIL DIRECTORY</a:t>
            </a:r>
          </a:p>
          <a:p>
            <a:pPr>
              <a:lnSpc>
                <a:spcPct val="115000"/>
              </a:lnSpc>
              <a:spcBef>
                <a:spcPts val="0"/>
              </a:spcBef>
              <a:defRPr sz="950" b="1">
                <a:solidFill>
                  <a:srgbClr val="282C3F"/>
                </a:solidFill>
              </a:defRPr>
            </a:pPr>
            <a:r>
              <a:t>Privacy principle: Myntra respects user style autonomy. We never spam discount flash sales or share personal shopping boards without opt-in consent.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