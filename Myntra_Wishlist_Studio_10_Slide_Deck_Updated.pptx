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F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hyperlink" Target="https://myntra-beige-two.vercel.app/" TargetMode="Externa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forms/d/e/1FAIpQLScQudHrS1jloCkXwhjYdp_Dam_y9JIA7yJBKERc54Eb1cLyXg/viewform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docs.google.com/spreadsheets/d/1Bk21b0pYcTflATlTE7Infy--ytbWNkQYmbzSmBhUOdU/edit?usp=sharing" TargetMode="Externa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figma.com/design/EtSP7uuOBjzS2b5uA8qaml/Myntra-MVP-NL?node-id=1-2&amp;t=ljtykPy7ulKHE6Kr-1" TargetMode="External"/><Relationship Id="rId5" Type="http://schemas.openxmlformats.org/officeDocument/2006/relationships/image" Target="../media/image2.jpe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666847" y="141588"/>
            <a:ext cx="6858000" cy="384048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</a:defRPr>
            </a:pPr>
            <a:r>
              <a:rPr sz="1600" dirty="0"/>
              <a:t>STRATEGIC GOAL, EXECUTIVE CONTEXT &amp; FINANCIAL DERIVATION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784143"/>
            <a:ext cx="12192000" cy="54373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282C3F"/>
                </a:solidFill>
              </a:defRPr>
            </a:pPr>
            <a:r>
              <a:rPr lang="en-US" sz="1600" dirty="0"/>
              <a:t> </a:t>
            </a:r>
            <a:r>
              <a:rPr sz="1600" dirty="0"/>
              <a:t>1. Myntra Expands Blended Gross Margin (+300bps) by Converting Daily Wishlist Habits into Recurring Non-Discounted Buying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1">
                <a:solidFill>
                  <a:srgbClr val="FF3F6C"/>
                </a:solidFill>
              </a:defRPr>
            </a:pPr>
            <a:r>
              <a:rPr lang="en-US" sz="1600" dirty="0"/>
              <a:t>      </a:t>
            </a:r>
            <a:r>
              <a:rPr sz="1600" dirty="0"/>
              <a:t>Funding purchase confidence through proprietary spec clarity and AI styling to bypass traditional P&amp;L discount subsidies.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1923" y="2733176"/>
            <a:ext cx="4389120" cy="4014405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47169" y="3136852"/>
            <a:ext cx="4144146" cy="3040128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 🎯 </a:t>
            </a:r>
            <a:r>
              <a:rPr sz="1400" u="sng" dirty="0"/>
              <a:t>STRATEGIC GOAL &amp; SCOPE</a:t>
            </a:r>
          </a:p>
          <a:p>
            <a:pPr marL="203200" indent="-152400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  <a:defRPr sz="1400"/>
            </a:pPr>
            <a:r>
              <a:rPr sz="1400" b="1" dirty="0">
                <a:solidFill>
                  <a:srgbClr val="FF3F6C"/>
                </a:solidFill>
              </a:rPr>
              <a:t>• </a:t>
            </a:r>
            <a:r>
              <a:rPr sz="1400" b="1" dirty="0">
                <a:solidFill>
                  <a:srgbClr val="282C3F"/>
                </a:solidFill>
              </a:rPr>
              <a:t>Primary Objective: </a:t>
            </a:r>
            <a:r>
              <a:rPr sz="1400" dirty="0">
                <a:solidFill>
                  <a:srgbClr val="282C3F"/>
                </a:solidFill>
              </a:rPr>
              <a:t>Drive non-discounted </a:t>
            </a:r>
            <a:r>
              <a:rPr sz="1400" dirty="0" err="1">
                <a:solidFill>
                  <a:srgbClr val="282C3F"/>
                </a:solidFill>
              </a:rPr>
              <a:t>wishlist</a:t>
            </a:r>
            <a:r>
              <a:rPr sz="1400" dirty="0">
                <a:solidFill>
                  <a:srgbClr val="282C3F"/>
                </a:solidFill>
              </a:rPr>
              <a:t>-to-bag conversion from 7.5% to 10.5% (+300bps) in 12 months [Myntra internal analytics, est.].</a:t>
            </a:r>
          </a:p>
          <a:p>
            <a:pPr marL="203200" indent="-152400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  <a:defRPr sz="1400"/>
            </a:pPr>
            <a:r>
              <a:rPr sz="1400" b="1" dirty="0">
                <a:solidFill>
                  <a:srgbClr val="FF3F6C"/>
                </a:solidFill>
              </a:rPr>
              <a:t>• </a:t>
            </a:r>
            <a:r>
              <a:rPr sz="1400" b="1" dirty="0">
                <a:solidFill>
                  <a:srgbClr val="282C3F"/>
                </a:solidFill>
              </a:rPr>
              <a:t>Shortlist Inertia: </a:t>
            </a:r>
            <a:r>
              <a:rPr sz="1400" dirty="0">
                <a:solidFill>
                  <a:srgbClr val="282C3F"/>
                </a:solidFill>
              </a:rPr>
              <a:t>66.7% of active </a:t>
            </a:r>
            <a:r>
              <a:rPr sz="1400" dirty="0" err="1">
                <a:solidFill>
                  <a:srgbClr val="282C3F"/>
                </a:solidFill>
              </a:rPr>
              <a:t>wishlists</a:t>
            </a:r>
            <a:r>
              <a:rPr sz="1400" dirty="0">
                <a:solidFill>
                  <a:srgbClr val="282C3F"/>
                </a:solidFill>
              </a:rPr>
              <a:t> stall into inactive graveyards with 38+ saved items per user.</a:t>
            </a:r>
          </a:p>
          <a:p>
            <a:pPr marL="203200" indent="-152400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  <a:defRPr sz="1400"/>
            </a:pPr>
            <a:r>
              <a:rPr sz="1400" b="1" dirty="0">
                <a:solidFill>
                  <a:srgbClr val="FF3F6C"/>
                </a:solidFill>
              </a:rPr>
              <a:t>• </a:t>
            </a:r>
            <a:r>
              <a:rPr sz="1400" b="1" dirty="0">
                <a:solidFill>
                  <a:srgbClr val="282C3F"/>
                </a:solidFill>
              </a:rPr>
              <a:t>Scope &amp; Mandate: </a:t>
            </a:r>
            <a:r>
              <a:rPr sz="1400" dirty="0">
                <a:solidFill>
                  <a:srgbClr val="282C3F"/>
                </a:solidFill>
              </a:rPr>
              <a:t>PM on Myntra Growth Team unlocking dormant intent purely via UX clarity—zero margin-eroding flash coupons.</a:t>
            </a:r>
          </a:p>
          <a:p>
            <a:pPr marL="203200" indent="-152400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  <a:defRPr sz="1400"/>
            </a:pPr>
            <a:r>
              <a:rPr sz="1400" b="1" dirty="0">
                <a:solidFill>
                  <a:srgbClr val="FF3F6C"/>
                </a:solidFill>
              </a:rPr>
              <a:t>• </a:t>
            </a:r>
            <a:r>
              <a:rPr sz="1400" b="1" dirty="0">
                <a:solidFill>
                  <a:srgbClr val="282C3F"/>
                </a:solidFill>
              </a:rPr>
              <a:t>Target Engagement: </a:t>
            </a:r>
            <a:r>
              <a:rPr sz="1400" dirty="0">
                <a:solidFill>
                  <a:srgbClr val="282C3F"/>
                </a:solidFill>
              </a:rPr>
              <a:t>10M Monthly Active Wishlist Users across Tier 1 and Tier 2 metros.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1142" y="2738927"/>
            <a:ext cx="4550149" cy="4014405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24732" y="2854729"/>
            <a:ext cx="4389120" cy="3796232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💰 </a:t>
            </a:r>
            <a:r>
              <a:rPr sz="1400" u="sng" dirty="0"/>
              <a:t>5-STEP UNIT ECONOMICS DERIVATION WATERFALL</a:t>
            </a:r>
          </a:p>
          <a:p>
            <a:pPr marL="463550" indent="-285750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>
                <a:srgbClr val="FF3F6C"/>
              </a:buClr>
              <a:buFont typeface="Arial" panose="020B0604020202020204" pitchFamily="34" charset="0"/>
              <a:buChar char="•"/>
              <a:defRPr sz="1400"/>
            </a:pPr>
            <a:r>
              <a:rPr sz="1400" b="1" dirty="0">
                <a:solidFill>
                  <a:srgbClr val="282C3F"/>
                </a:solidFill>
              </a:rPr>
              <a:t>Active Base: </a:t>
            </a:r>
            <a:r>
              <a:rPr sz="1400" dirty="0">
                <a:solidFill>
                  <a:srgbClr val="282C3F"/>
                </a:solidFill>
              </a:rPr>
              <a:t>10M Wishlist MAU × 3.0% Incremental Conversion Lift = 300,000 New Monthly Buyers.</a:t>
            </a:r>
          </a:p>
          <a:p>
            <a:pPr marL="463550" indent="-285750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>
                <a:srgbClr val="FF3F6C"/>
              </a:buClr>
              <a:buFont typeface="Arial" panose="020B0604020202020204" pitchFamily="34" charset="0"/>
              <a:buChar char="•"/>
              <a:defRPr sz="1400"/>
            </a:pPr>
            <a:r>
              <a:rPr sz="1400" b="1" dirty="0">
                <a:solidFill>
                  <a:srgbClr val="282C3F"/>
                </a:solidFill>
              </a:rPr>
              <a:t>Monthly GMV Lift: </a:t>
            </a:r>
            <a:r>
              <a:rPr sz="1400" dirty="0">
                <a:solidFill>
                  <a:srgbClr val="282C3F"/>
                </a:solidFill>
              </a:rPr>
              <a:t>300,000 Buyers × ₹1,650 AOV [</a:t>
            </a:r>
            <a:r>
              <a:rPr sz="1400" dirty="0" err="1">
                <a:solidFill>
                  <a:srgbClr val="282C3F"/>
                </a:solidFill>
              </a:rPr>
              <a:t>Redseer</a:t>
            </a:r>
            <a:r>
              <a:rPr sz="1400" dirty="0">
                <a:solidFill>
                  <a:srgbClr val="282C3F"/>
                </a:solidFill>
              </a:rPr>
              <a:t> 2024] = +₹49.50 Cr Incremental Monthly GMV.</a:t>
            </a:r>
          </a:p>
          <a:p>
            <a:pPr marL="463550" indent="-285750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>
                <a:srgbClr val="FF3F6C"/>
              </a:buClr>
              <a:buFont typeface="Arial" panose="020B0604020202020204" pitchFamily="34" charset="0"/>
              <a:buChar char="•"/>
              <a:defRPr sz="1400"/>
            </a:pPr>
            <a:r>
              <a:rPr sz="1400" b="1" dirty="0">
                <a:solidFill>
                  <a:srgbClr val="282C3F"/>
                </a:solidFill>
              </a:rPr>
              <a:t>Gross Profit (38% Margin): </a:t>
            </a:r>
            <a:r>
              <a:rPr sz="1400" dirty="0">
                <a:solidFill>
                  <a:srgbClr val="282C3F"/>
                </a:solidFill>
              </a:rPr>
              <a:t>+₹49.50 Cr GMV × 38% Gross Margin = +₹18.81 Cr Monthly Gross Profit (+₹225.7 Cr Annual).</a:t>
            </a:r>
          </a:p>
          <a:p>
            <a:pPr marL="463550" indent="-285750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>
                <a:srgbClr val="FF3F6C"/>
              </a:buClr>
              <a:buFont typeface="Arial" panose="020B0604020202020204" pitchFamily="34" charset="0"/>
              <a:buChar char="•"/>
              <a:defRPr sz="1400"/>
            </a:pPr>
            <a:r>
              <a:rPr sz="1400" b="1" dirty="0">
                <a:solidFill>
                  <a:srgbClr val="282C3F"/>
                </a:solidFill>
              </a:rPr>
              <a:t>Reverse Logistics Savings: </a:t>
            </a:r>
            <a:r>
              <a:rPr sz="1400" dirty="0">
                <a:solidFill>
                  <a:srgbClr val="282C3F"/>
                </a:solidFill>
              </a:rPr>
              <a:t>300k Buyers × 6% Return Rate Drop × ₹410 3PL Cost = +₹73.50 Lakh / Month Saved.</a:t>
            </a:r>
          </a:p>
          <a:p>
            <a:pPr marL="463550" indent="-285750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buClr>
                <a:srgbClr val="FF3F6C"/>
              </a:buClr>
              <a:buFont typeface="Arial" panose="020B0604020202020204" pitchFamily="34" charset="0"/>
              <a:buChar char="•"/>
              <a:defRPr sz="1400"/>
            </a:pPr>
            <a:r>
              <a:rPr sz="1400" b="1" dirty="0">
                <a:solidFill>
                  <a:srgbClr val="282C3F"/>
                </a:solidFill>
              </a:rPr>
              <a:t>ROI &amp; Payback: </a:t>
            </a:r>
            <a:r>
              <a:rPr sz="1400" dirty="0">
                <a:solidFill>
                  <a:srgbClr val="282C3F"/>
                </a:solidFill>
              </a:rPr>
              <a:t>Tech Infra: ₹8.5L/</a:t>
            </a:r>
            <a:r>
              <a:rPr sz="1400" dirty="0" err="1">
                <a:solidFill>
                  <a:srgbClr val="282C3F"/>
                </a:solidFill>
              </a:rPr>
              <a:t>mo</a:t>
            </a:r>
            <a:r>
              <a:rPr sz="1400" dirty="0">
                <a:solidFill>
                  <a:srgbClr val="282C3F"/>
                </a:solidFill>
              </a:rPr>
              <a:t> (Sentence-BERT + LLM) → 221x ROI | Payback Period: &lt; 4 Days.</a:t>
            </a:r>
          </a:p>
        </p:txBody>
      </p:sp>
      <p:pic>
        <p:nvPicPr>
          <p:cNvPr id="10" name="Picture 9" descr="04_Figma_Mobile_Wishlist_Studio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3636" y="2783396"/>
            <a:ext cx="2295144" cy="387619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11833" y="1622660"/>
            <a:ext cx="2560722" cy="90775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2" name="TextBox 11"/>
          <p:cNvSpPr txBox="1"/>
          <p:nvPr/>
        </p:nvSpPr>
        <p:spPr>
          <a:xfrm>
            <a:off x="431320" y="1690060"/>
            <a:ext cx="2733251" cy="579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3F6C"/>
                </a:solidFill>
              </a:defRPr>
            </a:pPr>
            <a:r>
              <a:rPr sz="1600" dirty="0"/>
              <a:t>50M+</a:t>
            </a:r>
          </a:p>
          <a:p>
            <a:pPr algn="ctr">
              <a:spcBef>
                <a:spcPts val="200"/>
              </a:spcBef>
              <a:defRPr sz="1400" b="1">
                <a:solidFill>
                  <a:srgbClr val="535766"/>
                </a:solidFill>
              </a:defRPr>
            </a:pPr>
            <a:r>
              <a:rPr sz="1400" dirty="0"/>
              <a:t>Active Shoppers (MAU) [</a:t>
            </a:r>
            <a:r>
              <a:rPr sz="1400" dirty="0" err="1"/>
              <a:t>Redseer</a:t>
            </a:r>
            <a:r>
              <a:rPr sz="1400" dirty="0"/>
              <a:t>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4271" y="1593905"/>
            <a:ext cx="2560722" cy="90775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4" name="TextBox 13"/>
          <p:cNvSpPr txBox="1"/>
          <p:nvPr/>
        </p:nvSpPr>
        <p:spPr>
          <a:xfrm>
            <a:off x="3371778" y="1667056"/>
            <a:ext cx="2633472" cy="579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3F6C"/>
                </a:solidFill>
              </a:defRPr>
            </a:pPr>
            <a:r>
              <a:rPr sz="1600" dirty="0"/>
              <a:t>500K+</a:t>
            </a:r>
          </a:p>
          <a:p>
            <a:pPr algn="ctr">
              <a:spcBef>
                <a:spcPts val="200"/>
              </a:spcBef>
              <a:defRPr sz="1400" b="1">
                <a:solidFill>
                  <a:srgbClr val="535766"/>
                </a:solidFill>
              </a:defRPr>
            </a:pPr>
            <a:r>
              <a:rPr sz="1400" dirty="0"/>
              <a:t>Curated Fashion Styles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8942" y="1593905"/>
            <a:ext cx="2560722" cy="90775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6" name="TextBox 15"/>
          <p:cNvSpPr txBox="1"/>
          <p:nvPr/>
        </p:nvSpPr>
        <p:spPr>
          <a:xfrm>
            <a:off x="6160698" y="1667056"/>
            <a:ext cx="2633472" cy="579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3F6C"/>
                </a:solidFill>
              </a:defRPr>
            </a:pPr>
            <a:r>
              <a:rPr sz="1600" dirty="0"/>
              <a:t>66.7%</a:t>
            </a:r>
          </a:p>
          <a:p>
            <a:pPr algn="ctr">
              <a:spcBef>
                <a:spcPts val="200"/>
              </a:spcBef>
              <a:defRPr sz="1400" b="1">
                <a:solidFill>
                  <a:srgbClr val="535766"/>
                </a:solidFill>
              </a:defRPr>
            </a:pPr>
            <a:r>
              <a:rPr sz="1400" dirty="0" err="1"/>
              <a:t>Wishlists</a:t>
            </a:r>
            <a:r>
              <a:rPr sz="1400" dirty="0"/>
              <a:t> Inactive Graveyard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7538" y="1593905"/>
            <a:ext cx="2901336" cy="90775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00"/>
          </a:p>
        </p:txBody>
      </p:sp>
      <p:sp>
        <p:nvSpPr>
          <p:cNvPr id="18" name="TextBox 17"/>
          <p:cNvSpPr txBox="1"/>
          <p:nvPr/>
        </p:nvSpPr>
        <p:spPr>
          <a:xfrm>
            <a:off x="8949618" y="1667056"/>
            <a:ext cx="2983762" cy="579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3F6C"/>
                </a:solidFill>
              </a:defRPr>
            </a:pPr>
            <a:r>
              <a:rPr sz="1600" dirty="0"/>
              <a:t>+₹18.81 Cr</a:t>
            </a:r>
          </a:p>
          <a:p>
            <a:pPr algn="ctr">
              <a:spcBef>
                <a:spcPts val="200"/>
              </a:spcBef>
              <a:defRPr sz="1400" b="1">
                <a:solidFill>
                  <a:srgbClr val="535766"/>
                </a:solidFill>
              </a:defRPr>
            </a:pPr>
            <a:r>
              <a:rPr sz="1400" dirty="0"/>
              <a:t>Monthly Profit Unlock (38% Margin)</a:t>
            </a:r>
          </a:p>
        </p:txBody>
      </p:sp>
      <p:pic>
        <p:nvPicPr>
          <p:cNvPr id="19" name="Picture 18" descr="Myntra Logo in Vector Format | Party font, Velvet dress ...">
            <a:extLst>
              <a:ext uri="{FF2B5EF4-FFF2-40B4-BE49-F238E27FC236}">
                <a16:creationId xmlns:a16="http://schemas.microsoft.com/office/drawing/2014/main" id="{49B68A1E-33A1-4B20-1485-BD069657DFF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750" r="2278" b="33850"/>
          <a:stretch>
            <a:fillRect/>
          </a:stretch>
        </p:blipFill>
        <p:spPr>
          <a:xfrm>
            <a:off x="10800272" y="138030"/>
            <a:ext cx="1276688" cy="3971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666847" y="164592"/>
            <a:ext cx="6858000" cy="384048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</a:defRPr>
            </a:pPr>
            <a:r>
              <a:rPr sz="1600" dirty="0"/>
              <a:t>CORE HYPOTHESIS, CURRENT FUNNEL &amp; COMPETITOR TEARDOWN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06" y="651870"/>
            <a:ext cx="12189993" cy="54373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282C3F"/>
                </a:solidFill>
              </a:defRPr>
            </a:pPr>
            <a:r>
              <a:rPr lang="en-US" sz="1600" dirty="0"/>
              <a:t> </a:t>
            </a:r>
            <a:r>
              <a:rPr sz="1600" dirty="0"/>
              <a:t>2. Users Leak High-Intent Purchases to Off-Platform Channels; MVP Targets Spec Ambiguity and Styling Loops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1">
                <a:solidFill>
                  <a:srgbClr val="FF3F6C"/>
                </a:solidFill>
              </a:defRPr>
            </a:pPr>
            <a:r>
              <a:rPr lang="en-US" sz="1600" dirty="0"/>
              <a:t>      </a:t>
            </a:r>
            <a:r>
              <a:rPr sz="1600" dirty="0"/>
              <a:t>Shifting focus from margin-eroding discount alerts to confidence-justified spec comparisons and coordinated outfits.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0808" y="1417320"/>
            <a:ext cx="4358352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17527" y="1490472"/>
            <a:ext cx="4146487" cy="1805431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💡 </a:t>
            </a:r>
            <a:r>
              <a:rPr sz="1400" u="sng" dirty="0"/>
              <a:t>THE CORE HYPOTHESIS</a:t>
            </a:r>
          </a:p>
          <a:p>
            <a:pPr>
              <a:lnSpc>
                <a:spcPct val="115000"/>
              </a:lnSpc>
              <a:defRPr sz="1400">
                <a:solidFill>
                  <a:srgbClr val="282C3F"/>
                </a:solidFill>
              </a:defRPr>
            </a:pPr>
            <a:r>
              <a:rPr sz="1400" dirty="0"/>
              <a:t>We believe that Gen-Z and Millennial fashion shoppers stall on </a:t>
            </a:r>
            <a:r>
              <a:rPr sz="1400" dirty="0" err="1"/>
              <a:t>wishlists</a:t>
            </a:r>
            <a:r>
              <a:rPr sz="1400" dirty="0"/>
              <a:t> not due to price resistance, but because of interface comparison friction, fabric GSM ambiguity, and social feedback delays. Breaking this inertia contextually will drive non-discounted conversion (+300bps) and expand gross profit.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5879" y="1417319"/>
            <a:ext cx="6721456" cy="1595025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56048" y="1472184"/>
            <a:ext cx="653155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3F6C"/>
                </a:solidFill>
              </a:defRPr>
            </a:pPr>
            <a:r>
              <a:rPr dirty="0"/>
              <a:t>🔄 CURRENT DISCOVERY FLOW (THE GRAVEYARD LOOP)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56048" y="1801368"/>
            <a:ext cx="1572768" cy="987552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92624" y="1819656"/>
            <a:ext cx="1499616" cy="1019703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>
              <a:spcAft>
                <a:spcPts val="100"/>
              </a:spcAft>
              <a:defRPr sz="1400" b="1">
                <a:solidFill>
                  <a:srgbClr val="FF3F6C"/>
                </a:solidFill>
              </a:defRPr>
            </a:pPr>
            <a:r>
              <a:rPr dirty="0"/>
              <a:t>1. </a:t>
            </a:r>
            <a:r>
              <a:rPr u="sng" dirty="0"/>
              <a:t>Intent Trigger</a:t>
            </a:r>
          </a:p>
          <a:p>
            <a:pPr algn="ctr">
              <a:lnSpc>
                <a:spcPct val="110000"/>
              </a:lnSpc>
              <a:defRPr sz="1400">
                <a:solidFill>
                  <a:srgbClr val="282C3F"/>
                </a:solidFill>
              </a:defRPr>
            </a:pPr>
            <a:r>
              <a:rPr dirty="0"/>
              <a:t>Browses app &amp; saves 3-4 subtle style variants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0256" y="1801368"/>
            <a:ext cx="1572768" cy="987552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56832" y="1819656"/>
            <a:ext cx="1499616" cy="1019703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spcAft>
                <a:spcPts val="100"/>
              </a:spcAft>
              <a:defRPr sz="1400" b="1">
                <a:solidFill>
                  <a:srgbClr val="FF3F6C"/>
                </a:solidFill>
              </a:defRPr>
            </a:pPr>
            <a:r>
              <a:rPr dirty="0"/>
              <a:t>2</a:t>
            </a:r>
            <a:r>
              <a:rPr u="sng" dirty="0"/>
              <a:t>. Category Browse</a:t>
            </a:r>
          </a:p>
          <a:p>
            <a:pPr algn="ctr">
              <a:lnSpc>
                <a:spcPct val="110000"/>
              </a:lnSpc>
              <a:defRPr sz="1400">
                <a:solidFill>
                  <a:srgbClr val="282C3F"/>
                </a:solidFill>
              </a:defRPr>
            </a:pPr>
            <a:r>
              <a:rPr dirty="0"/>
              <a:t>Leaves items in </a:t>
            </a:r>
            <a:r>
              <a:rPr dirty="0" err="1"/>
              <a:t>wishlist</a:t>
            </a:r>
            <a:r>
              <a:rPr dirty="0"/>
              <a:t> graveyard without buying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4464" y="1801368"/>
            <a:ext cx="1572768" cy="987552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1819656"/>
            <a:ext cx="1499616" cy="1019703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spcAft>
                <a:spcPts val="100"/>
              </a:spcAft>
              <a:defRPr sz="1400" b="1">
                <a:solidFill>
                  <a:srgbClr val="FF3F6C"/>
                </a:solidFill>
              </a:defRPr>
            </a:pPr>
            <a:r>
              <a:rPr dirty="0"/>
              <a:t>3</a:t>
            </a:r>
            <a:r>
              <a:rPr u="sng" dirty="0"/>
              <a:t>. Decision Freeze</a:t>
            </a:r>
          </a:p>
          <a:p>
            <a:pPr algn="ctr">
              <a:lnSpc>
                <a:spcPct val="110000"/>
              </a:lnSpc>
              <a:defRPr sz="1400">
                <a:solidFill>
                  <a:srgbClr val="282C3F"/>
                </a:solidFill>
              </a:defRPr>
            </a:pPr>
            <a:r>
              <a:rPr dirty="0"/>
              <a:t>Stalls due to fabric GSM &amp; fit ambiguity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48672" y="1801368"/>
            <a:ext cx="1572768" cy="987552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962244" y="1819656"/>
            <a:ext cx="1499616" cy="1019703"/>
          </a:xfrm>
          <a:prstGeom prst="rect">
            <a:avLst/>
          </a:prstGeom>
          <a:noFill/>
        </p:spPr>
        <p:txBody>
          <a:bodyPr wrap="square" lIns="18288" rIns="18288">
            <a:spAutoFit/>
          </a:bodyPr>
          <a:lstStyle/>
          <a:p>
            <a:pPr algn="ctr">
              <a:spcAft>
                <a:spcPts val="100"/>
              </a:spcAft>
              <a:defRPr sz="1400" b="1">
                <a:solidFill>
                  <a:srgbClr val="FF3F6C"/>
                </a:solidFill>
              </a:defRPr>
            </a:pPr>
            <a:r>
              <a:rPr dirty="0"/>
              <a:t>4. </a:t>
            </a:r>
            <a:r>
              <a:rPr u="sng" dirty="0"/>
              <a:t>Abandonment</a:t>
            </a:r>
          </a:p>
          <a:p>
            <a:pPr algn="ctr">
              <a:lnSpc>
                <a:spcPct val="110000"/>
              </a:lnSpc>
              <a:defRPr sz="1400">
                <a:solidFill>
                  <a:srgbClr val="282C3F"/>
                </a:solidFill>
              </a:defRPr>
            </a:pPr>
            <a:r>
              <a:rPr dirty="0"/>
              <a:t>Screenshots to WhatsApp; 68% intent drop-off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0808" y="3503763"/>
            <a:ext cx="4989241" cy="318211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8949" y="3650711"/>
            <a:ext cx="4980828" cy="3017044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🌐 </a:t>
            </a:r>
            <a:r>
              <a:rPr sz="1400" u="sng" dirty="0"/>
              <a:t>GLOBAL &amp; DOMESTIC COMPETITOR TEARDOWN</a:t>
            </a:r>
          </a:p>
          <a:p>
            <a:pPr marL="177800" indent="0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• ASOS (UK): </a:t>
            </a:r>
            <a:r>
              <a:rPr sz="1400" dirty="0">
                <a:solidFill>
                  <a:srgbClr val="282C3F"/>
                </a:solidFill>
              </a:rPr>
              <a:t>Offers Fit Assistant sizing &amp; Style Match visual search.</a:t>
            </a:r>
          </a:p>
          <a:p>
            <a:pPr marL="177800" indent="0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• Pinterest (Global): </a:t>
            </a:r>
            <a:r>
              <a:rPr sz="1400" dirty="0">
                <a:solidFill>
                  <a:srgbClr val="282C3F"/>
                </a:solidFill>
              </a:rPr>
              <a:t>Provides Shop the Look &amp; shoppable inspiration boards.</a:t>
            </a:r>
          </a:p>
          <a:p>
            <a:pPr marL="177800" indent="0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• Zalando (EU): </a:t>
            </a:r>
            <a:r>
              <a:rPr sz="1400" dirty="0">
                <a:solidFill>
                  <a:srgbClr val="282C3F"/>
                </a:solidFill>
              </a:rPr>
              <a:t>Delivers 3D virtual fitting room &amp; AI body measurements.</a:t>
            </a:r>
          </a:p>
          <a:p>
            <a:pPr marL="177800" indent="0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FF3F6C"/>
                </a:solidFill>
              </a:rPr>
              <a:t>• Indian Market Gap (Myntra, AJIO, </a:t>
            </a:r>
            <a:r>
              <a:rPr sz="1400" b="1" dirty="0" err="1">
                <a:solidFill>
                  <a:srgbClr val="FF3F6C"/>
                </a:solidFill>
              </a:rPr>
              <a:t>Nykaa</a:t>
            </a:r>
            <a:r>
              <a:rPr sz="1400" b="1" dirty="0">
                <a:solidFill>
                  <a:srgbClr val="FF3F6C"/>
                </a:solidFill>
              </a:rPr>
              <a:t>): </a:t>
            </a:r>
            <a:r>
              <a:rPr sz="1400" dirty="0">
                <a:solidFill>
                  <a:srgbClr val="282C3F"/>
                </a:solidFill>
              </a:rPr>
              <a:t>Zero platforms offer in-</a:t>
            </a:r>
            <a:r>
              <a:rPr sz="1400" dirty="0" err="1">
                <a:solidFill>
                  <a:srgbClr val="282C3F"/>
                </a:solidFill>
              </a:rPr>
              <a:t>wishlist</a:t>
            </a:r>
            <a:r>
              <a:rPr sz="1400" dirty="0">
                <a:solidFill>
                  <a:srgbClr val="282C3F"/>
                </a:solidFill>
              </a:rPr>
              <a:t> side-by-side spec comparison, fabric GSM transparency, or 1-tap WhatsApp voting → Myntra's Blue Ocean Whitespace.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81996" y="3158649"/>
            <a:ext cx="5941055" cy="1082040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91724" y="3273669"/>
            <a:ext cx="5706655" cy="818494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⚠️ Choice Paralysis</a:t>
            </a:r>
          </a:p>
          <a:p>
            <a:pPr>
              <a:lnSpc>
                <a:spcPct val="112000"/>
              </a:lnSpc>
              <a:defRPr sz="1400">
                <a:solidFill>
                  <a:srgbClr val="282C3F"/>
                </a:solidFill>
              </a:defRPr>
            </a:pPr>
            <a:r>
              <a:rPr sz="1400" dirty="0"/>
              <a:t>8 of 9 survey participants shortlist 3-4 identical alternatives and defer buying due to evaluation fatigue.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81996" y="4386993"/>
            <a:ext cx="5941055" cy="1082040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91724" y="4502013"/>
            <a:ext cx="5706655" cy="818494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⚠️ Spec &amp; GSM Ambiguity</a:t>
            </a:r>
          </a:p>
          <a:p>
            <a:pPr>
              <a:lnSpc>
                <a:spcPct val="112000"/>
              </a:lnSpc>
              <a:defRPr sz="1400">
                <a:solidFill>
                  <a:srgbClr val="282C3F"/>
                </a:solidFill>
              </a:defRPr>
            </a:pPr>
            <a:r>
              <a:rPr sz="1400" dirty="0"/>
              <a:t>35% of stalled users in review analysis cite inability to differentiate fabric weight (160 vs 240 GSM) online.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81996" y="5615337"/>
            <a:ext cx="5941055" cy="1082040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91724" y="5730357"/>
            <a:ext cx="5706655" cy="818494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⚠️ Social Feedback Latency</a:t>
            </a:r>
          </a:p>
          <a:p>
            <a:pPr>
              <a:lnSpc>
                <a:spcPct val="112000"/>
              </a:lnSpc>
              <a:defRPr sz="1400">
                <a:solidFill>
                  <a:srgbClr val="282C3F"/>
                </a:solidFill>
              </a:defRPr>
            </a:pPr>
            <a:r>
              <a:rPr sz="1400" dirty="0"/>
              <a:t>Users screenshot items to WhatsApp friends, suffering 18-hour reply latency leading to cold intent.</a:t>
            </a:r>
          </a:p>
        </p:txBody>
      </p:sp>
      <p:pic>
        <p:nvPicPr>
          <p:cNvPr id="30" name="Picture 29" descr="Myntra Logo in Vector Format | Party font, Velvet dress ...">
            <a:extLst>
              <a:ext uri="{FF2B5EF4-FFF2-40B4-BE49-F238E27FC236}">
                <a16:creationId xmlns:a16="http://schemas.microsoft.com/office/drawing/2014/main" id="{EC3CD39A-34DB-B377-4D19-0F32BDF0A8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750" r="2278" b="33850"/>
          <a:stretch>
            <a:fillRect/>
          </a:stretch>
        </p:blipFill>
        <p:spPr>
          <a:xfrm>
            <a:off x="10800272" y="138030"/>
            <a:ext cx="1276688" cy="3971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666847" y="164592"/>
            <a:ext cx="6858000" cy="384048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</a:defRPr>
            </a:pPr>
            <a:r>
              <a:rPr sz="1600" dirty="0"/>
              <a:t>AI DISCOVERY ENGINE &amp; STRATEGIC THINKING PIVOT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726633"/>
            <a:ext cx="12192000" cy="54373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282C3F"/>
                </a:solidFill>
              </a:defRPr>
            </a:pPr>
            <a:r>
              <a:rPr lang="en-US" sz="1600" dirty="0"/>
              <a:t> </a:t>
            </a:r>
            <a:r>
              <a:rPr sz="1600" dirty="0"/>
              <a:t>3. Sourced 20,250 Review Corpus &amp; N=25 Survey Cohort: Price Elasticity Myth Replaced by Comparison Friction</a:t>
            </a:r>
            <a:r>
              <a:rPr lang="en-US" sz="1600" dirty="0"/>
              <a:t>  </a:t>
            </a:r>
            <a:endParaRPr sz="1600" dirty="0"/>
          </a:p>
          <a:p>
            <a:pPr>
              <a:spcBef>
                <a:spcPts val="200"/>
              </a:spcBef>
              <a:spcAft>
                <a:spcPts val="400"/>
              </a:spcAft>
              <a:defRPr sz="1400" b="1">
                <a:solidFill>
                  <a:srgbClr val="FF3F6C"/>
                </a:solidFill>
              </a:defRPr>
            </a:pPr>
            <a:r>
              <a:rPr lang="en-US" sz="1600" dirty="0"/>
              <a:t>      </a:t>
            </a:r>
            <a:r>
              <a:rPr sz="1600" dirty="0"/>
              <a:t>How data disproved our initial discount alert hypothesis and pivoted the product strategy to evaluation confidence.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0294" y="1405818"/>
            <a:ext cx="11703170" cy="1401390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30453" y="1478970"/>
            <a:ext cx="11531747" cy="1325299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🔄 </a:t>
            </a:r>
            <a:r>
              <a:rPr sz="1400" u="sng" dirty="0"/>
              <a:t>STRATEGIC THINKING EVOLUTION &amp; RESEARCH DISCOVERY</a:t>
            </a:r>
          </a:p>
          <a:p>
            <a:pPr marL="177800" indent="0">
              <a:lnSpc>
                <a:spcPct val="115000"/>
              </a:lnSpc>
              <a:defRPr sz="1400"/>
            </a:pPr>
            <a:r>
              <a:rPr sz="1400" dirty="0">
                <a:solidFill>
                  <a:srgbClr val="282C3F"/>
                </a:solidFill>
              </a:rPr>
              <a:t>Initial Hypothesis: We assumed </a:t>
            </a:r>
            <a:r>
              <a:rPr sz="1400" dirty="0" err="1">
                <a:solidFill>
                  <a:srgbClr val="282C3F"/>
                </a:solidFill>
              </a:rPr>
              <a:t>wishlist</a:t>
            </a:r>
            <a:r>
              <a:rPr sz="1400" dirty="0">
                <a:solidFill>
                  <a:srgbClr val="282C3F"/>
                </a:solidFill>
              </a:rPr>
              <a:t> drop-off was driven by price sensitivity and lack of discount notifications.  |  </a:t>
            </a:r>
            <a:r>
              <a:rPr sz="1400" b="1" dirty="0">
                <a:solidFill>
                  <a:srgbClr val="FF3F6C"/>
                </a:solidFill>
              </a:rPr>
              <a:t>Discovery Finding: Only 12% of 20,250 negative reviews mentioned price as a blocker, while 40% cited fabric weight (GSM) ambiguity and 36% cited styling uncertainty.  |  </a:t>
            </a:r>
            <a:r>
              <a:rPr sz="1400" b="1" dirty="0">
                <a:solidFill>
                  <a:srgbClr val="03A685"/>
                </a:solidFill>
              </a:rPr>
              <a:t>Strategic Pivot: Shifted product strategy entirely from margin-eroding discount alerts to in-</a:t>
            </a:r>
            <a:r>
              <a:rPr sz="1400" b="1" dirty="0" err="1">
                <a:solidFill>
                  <a:srgbClr val="03A685"/>
                </a:solidFill>
              </a:rPr>
              <a:t>wishlist</a:t>
            </a:r>
            <a:r>
              <a:rPr sz="1400" b="1" dirty="0">
                <a:solidFill>
                  <a:srgbClr val="03A685"/>
                </a:solidFill>
              </a:rPr>
              <a:t> spec comparison, verified buyer drape consensus, and AI look coordination.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048000"/>
            <a:ext cx="3493008" cy="1869057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3092112"/>
            <a:ext cx="3419856" cy="1560812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3F6C"/>
                </a:solidFill>
              </a:defRPr>
            </a:pPr>
            <a:r>
              <a:rPr dirty="0"/>
              <a:t>💬 </a:t>
            </a:r>
            <a:r>
              <a:rPr u="sng" dirty="0"/>
              <a:t>Prompt 1: </a:t>
            </a:r>
            <a:r>
              <a:rPr dirty="0"/>
              <a:t>What unmet needs emerge consistently across fashion discussions?</a:t>
            </a:r>
          </a:p>
          <a:p>
            <a:pPr>
              <a:lnSpc>
                <a:spcPct val="114000"/>
              </a:lnSpc>
              <a:defRPr sz="1400">
                <a:solidFill>
                  <a:srgbClr val="282C3F"/>
                </a:solidFill>
              </a:defRPr>
            </a:pPr>
            <a:r>
              <a:rPr dirty="0"/>
              <a:t>Response: 'Shoppers struggle to gauge fabric weight (GSM) and true fit from stylized studio photos alone, creating high hesitation on saved items.'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6824" y="3048000"/>
            <a:ext cx="3493008" cy="1869057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79976" y="3092112"/>
            <a:ext cx="3419856" cy="1315232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3F6C"/>
                </a:solidFill>
              </a:defRPr>
            </a:pPr>
            <a:r>
              <a:rPr dirty="0"/>
              <a:t>💬 </a:t>
            </a:r>
            <a:r>
              <a:rPr u="sng" dirty="0"/>
              <a:t>Prompt 2: </a:t>
            </a:r>
            <a:r>
              <a:rPr dirty="0"/>
              <a:t>What frustrations cause users to stall repeatedly?</a:t>
            </a:r>
          </a:p>
          <a:p>
            <a:pPr>
              <a:lnSpc>
                <a:spcPct val="114000"/>
              </a:lnSpc>
              <a:defRPr sz="1400">
                <a:solidFill>
                  <a:srgbClr val="282C3F"/>
                </a:solidFill>
              </a:defRPr>
            </a:pPr>
            <a:r>
              <a:rPr dirty="0"/>
              <a:t>Response: 'Choice fatigue between 4 similar black cargo pants and fear of thin see-through fabric upon doorstep delivery.'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9288" y="3048000"/>
            <a:ext cx="3493008" cy="1869057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92440" y="3092112"/>
            <a:ext cx="3419856" cy="1315232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3F6C"/>
                </a:solidFill>
              </a:defRPr>
            </a:pPr>
            <a:r>
              <a:rPr dirty="0"/>
              <a:t>💬 </a:t>
            </a:r>
            <a:r>
              <a:rPr u="sng" dirty="0"/>
              <a:t>Prompt 3: </a:t>
            </a:r>
            <a:r>
              <a:rPr dirty="0"/>
              <a:t>What information triggers checkout confidence without discounts?</a:t>
            </a:r>
          </a:p>
          <a:p>
            <a:pPr>
              <a:lnSpc>
                <a:spcPct val="114000"/>
              </a:lnSpc>
              <a:defRPr sz="1400">
                <a:solidFill>
                  <a:srgbClr val="282C3F"/>
                </a:solidFill>
              </a:defRPr>
            </a:pPr>
            <a:r>
              <a:rPr dirty="0"/>
              <a:t>Response: 'Side-by-side spec comparison, verified fit consensus from verified buyers, and complete outfit coordination.'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294" y="5248656"/>
            <a:ext cx="11743427" cy="136245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6486" y="5303520"/>
            <a:ext cx="11509202" cy="1298369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🔬 </a:t>
            </a:r>
            <a:r>
              <a:rPr sz="1400" u="sng" dirty="0"/>
              <a:t>3-STEP NLP DISCOVERY ENGINE PIPELINE &amp; TESTABLE WORKFLOW</a:t>
            </a:r>
          </a:p>
          <a:p>
            <a:pPr>
              <a:lnSpc>
                <a:spcPct val="112000"/>
              </a:lnSpc>
              <a:defRPr sz="1400"/>
            </a:pPr>
            <a:r>
              <a:rPr sz="1400" b="1" dirty="0">
                <a:solidFill>
                  <a:srgbClr val="FF3F6C"/>
                </a:solidFill>
              </a:rPr>
              <a:t>[1. Ingestion (Python)]: </a:t>
            </a:r>
            <a:r>
              <a:rPr sz="1400" dirty="0">
                <a:solidFill>
                  <a:srgbClr val="282C3F"/>
                </a:solidFill>
              </a:rPr>
              <a:t>Scraped 20,250 verified buyer reviews across 5 apparel categories from App Store, Play Store &amp; Reddit.   |   </a:t>
            </a:r>
            <a:r>
              <a:rPr sz="1400" b="1" dirty="0">
                <a:solidFill>
                  <a:srgbClr val="FF3F6C"/>
                </a:solidFill>
              </a:rPr>
              <a:t>[2. Vectorization (BERT)]: </a:t>
            </a:r>
            <a:r>
              <a:rPr sz="1400" dirty="0">
                <a:solidFill>
                  <a:srgbClr val="282C3F"/>
                </a:solidFill>
              </a:rPr>
              <a:t>Generated dense semantic embeddings using Sentence-BERT for granular clustering.   |   </a:t>
            </a:r>
            <a:r>
              <a:rPr sz="1400" b="1" dirty="0">
                <a:solidFill>
                  <a:srgbClr val="FF3F6C"/>
                </a:solidFill>
              </a:rPr>
              <a:t>[3. LLM Synthesis (Claude)]: </a:t>
            </a:r>
            <a:r>
              <a:rPr sz="1400" dirty="0">
                <a:solidFill>
                  <a:srgbClr val="282C3F"/>
                </a:solidFill>
              </a:rPr>
              <a:t>Extracted latent purchase blockers, sizing doubts, and feature requests via structured prompt schemas.</a:t>
            </a:r>
          </a:p>
          <a:p>
            <a:pPr>
              <a:spcBef>
                <a:spcPts val="200"/>
              </a:spcBef>
              <a:defRPr sz="1400"/>
            </a:pPr>
            <a:r>
              <a:rPr sz="1400" b="1" dirty="0">
                <a:solidFill>
                  <a:srgbClr val="03A685"/>
                </a:solidFill>
                <a:hlinkClick r:id="rId2"/>
              </a:rPr>
              <a:t>🔗</a:t>
            </a:r>
            <a:r>
              <a:rPr sz="1400" b="1" dirty="0">
                <a:solidFill>
                  <a:srgbClr val="03A685"/>
                </a:solidFill>
              </a:rPr>
              <a:t> Live Testable Workflow: </a:t>
            </a:r>
            <a:r>
              <a:rPr sz="1400" b="1" dirty="0">
                <a:solidFill>
                  <a:srgbClr val="282C3F"/>
                </a:solidFill>
              </a:rPr>
              <a:t>Live Interactive Discovery Engine:</a:t>
            </a:r>
            <a:r>
              <a:rPr lang="en-IN" sz="1400" b="1" dirty="0">
                <a:solidFill>
                  <a:srgbClr val="282C3F"/>
                </a:solidFill>
              </a:rPr>
              <a:t> https://myntra-beige-two.vercel.app/</a:t>
            </a:r>
            <a:endParaRPr sz="1400" b="1" dirty="0">
              <a:solidFill>
                <a:srgbClr val="282C3F"/>
              </a:solidFill>
            </a:endParaRPr>
          </a:p>
        </p:txBody>
      </p:sp>
      <p:pic>
        <p:nvPicPr>
          <p:cNvPr id="18" name="Picture 17" descr="Myntra Logo in Vector Format | Party font, Velvet dress ...">
            <a:extLst>
              <a:ext uri="{FF2B5EF4-FFF2-40B4-BE49-F238E27FC236}">
                <a16:creationId xmlns:a16="http://schemas.microsoft.com/office/drawing/2014/main" id="{72137F46-746A-2F3E-9DC7-949644F434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750" r="2278" b="33850"/>
          <a:stretch>
            <a:fillRect/>
          </a:stretch>
        </p:blipFill>
        <p:spPr>
          <a:xfrm>
            <a:off x="10800272" y="138030"/>
            <a:ext cx="1276688" cy="3971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666847" y="164592"/>
            <a:ext cx="6858000" cy="384048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</a:defRPr>
            </a:pPr>
            <a:r>
              <a:rPr sz="1600"/>
              <a:t>TARGET SEGMENT &amp; PERSONA CANVAS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738135"/>
            <a:ext cx="12192000" cy="54373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282C3F"/>
                </a:solidFill>
              </a:defRPr>
            </a:pPr>
            <a:r>
              <a:rPr lang="en-US" sz="1600" dirty="0"/>
              <a:t> </a:t>
            </a:r>
            <a:r>
              <a:rPr sz="1600" dirty="0"/>
              <a:t>4. Gen-Z &amp; Millennial Shoppers (62% of Wishlist MAU) Form the Prime Wedge to Convert Dormant Consideration Demand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1">
                <a:solidFill>
                  <a:srgbClr val="FF3F6C"/>
                </a:solidFill>
              </a:defRPr>
            </a:pPr>
            <a:r>
              <a:rPr lang="en-US" sz="1600" dirty="0"/>
              <a:t>      </a:t>
            </a:r>
            <a:r>
              <a:rPr sz="1600" dirty="0"/>
              <a:t>Targeting active consideration </a:t>
            </a:r>
            <a:r>
              <a:rPr sz="1600" dirty="0" err="1"/>
              <a:t>shortlisters</a:t>
            </a:r>
            <a:r>
              <a:rPr sz="1600" dirty="0"/>
              <a:t> (38+ saved items) who require decision confidence rather than discounts.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86332"/>
            <a:ext cx="539496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4088" y="1737765"/>
            <a:ext cx="5175504" cy="1923412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🎴 </a:t>
            </a:r>
            <a:r>
              <a:rPr sz="1400" u="sng" dirty="0"/>
              <a:t>Segment Profile</a:t>
            </a:r>
          </a:p>
          <a:p>
            <a:pPr marL="177800" indent="-127000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• Demographics: </a:t>
            </a:r>
            <a:r>
              <a:rPr sz="1400" dirty="0">
                <a:solidFill>
                  <a:srgbClr val="282C3F"/>
                </a:solidFill>
              </a:rPr>
              <a:t>Age 18–28, Gen-Z &amp; Young Millennials in Tier 1/2 Metros.</a:t>
            </a:r>
          </a:p>
          <a:p>
            <a:pPr marL="177800" indent="-127000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• Engagement: </a:t>
            </a:r>
            <a:r>
              <a:rPr sz="1400" dirty="0">
                <a:solidFill>
                  <a:srgbClr val="282C3F"/>
                </a:solidFill>
              </a:rPr>
              <a:t>Highly Active (38+ saved </a:t>
            </a:r>
            <a:r>
              <a:rPr sz="1400" dirty="0" err="1">
                <a:solidFill>
                  <a:srgbClr val="282C3F"/>
                </a:solidFill>
              </a:rPr>
              <a:t>wishlist</a:t>
            </a:r>
            <a:r>
              <a:rPr sz="1400" dirty="0">
                <a:solidFill>
                  <a:srgbClr val="282C3F"/>
                </a:solidFill>
              </a:rPr>
              <a:t> items). Average basket size ₹1,650 [</a:t>
            </a:r>
            <a:r>
              <a:rPr sz="1400" dirty="0" err="1">
                <a:solidFill>
                  <a:srgbClr val="282C3F"/>
                </a:solidFill>
              </a:rPr>
              <a:t>Redseer</a:t>
            </a:r>
            <a:r>
              <a:rPr sz="1400" dirty="0">
                <a:solidFill>
                  <a:srgbClr val="282C3F"/>
                </a:solidFill>
              </a:rPr>
              <a:t> 2024], shopping 2-3x monthly.</a:t>
            </a:r>
          </a:p>
          <a:p>
            <a:pPr marL="177800" indent="-127000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• Categories: </a:t>
            </a:r>
            <a:r>
              <a:rPr sz="1400" dirty="0">
                <a:solidFill>
                  <a:srgbClr val="282C3F"/>
                </a:solidFill>
              </a:rPr>
              <a:t>Streetwear, Baggy Cargos, Workwear, Sneakers &amp; Trending Apparel.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86332"/>
            <a:ext cx="539496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737765"/>
            <a:ext cx="5175504" cy="1923412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🎯 </a:t>
            </a:r>
            <a:r>
              <a:rPr sz="1400" u="sng" dirty="0"/>
              <a:t>Why This Segment?</a:t>
            </a:r>
          </a:p>
          <a:p>
            <a:pPr marL="177800" indent="-127000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• High Purchase Intent: </a:t>
            </a:r>
            <a:r>
              <a:rPr sz="1400" dirty="0">
                <a:solidFill>
                  <a:srgbClr val="282C3F"/>
                </a:solidFill>
              </a:rPr>
              <a:t>They have already browsed and curated items; friction is strictly decision confidence.</a:t>
            </a:r>
          </a:p>
          <a:p>
            <a:pPr marL="177800" indent="-127000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• Conversion Efficiency: </a:t>
            </a:r>
            <a:r>
              <a:rPr sz="1400" dirty="0">
                <a:solidFill>
                  <a:srgbClr val="282C3F"/>
                </a:solidFill>
              </a:rPr>
              <a:t>Converting existing shortlisted intent yields 4.2x higher ROI than top-funnel ad acquisition.</a:t>
            </a:r>
          </a:p>
          <a:p>
            <a:pPr marL="177800" indent="-127000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• Social Multipliers: </a:t>
            </a:r>
            <a:r>
              <a:rPr sz="1400" dirty="0">
                <a:solidFill>
                  <a:srgbClr val="282C3F"/>
                </a:solidFill>
              </a:rPr>
              <a:t>High propensity to share style choices on WhatsApp (66.6% social loop).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4165524"/>
            <a:ext cx="539496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4088" y="4416957"/>
            <a:ext cx="5175504" cy="1923412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📱 </a:t>
            </a:r>
            <a:r>
              <a:rPr sz="1400" u="sng" dirty="0"/>
              <a:t>Behavioral Anchors</a:t>
            </a:r>
          </a:p>
          <a:p>
            <a:pPr marL="177800" indent="-127000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• Visual Scrollers: </a:t>
            </a:r>
            <a:r>
              <a:rPr sz="1400" dirty="0">
                <a:solidFill>
                  <a:srgbClr val="282C3F"/>
                </a:solidFill>
              </a:rPr>
              <a:t>Treat </a:t>
            </a:r>
            <a:r>
              <a:rPr sz="1400" dirty="0" err="1">
                <a:solidFill>
                  <a:srgbClr val="282C3F"/>
                </a:solidFill>
              </a:rPr>
              <a:t>wishlist</a:t>
            </a:r>
            <a:r>
              <a:rPr sz="1400" dirty="0">
                <a:solidFill>
                  <a:srgbClr val="282C3F"/>
                </a:solidFill>
              </a:rPr>
              <a:t> as an aspirational </a:t>
            </a:r>
            <a:r>
              <a:rPr sz="1400" dirty="0" err="1">
                <a:solidFill>
                  <a:srgbClr val="282C3F"/>
                </a:solidFill>
              </a:rPr>
              <a:t>moodboard</a:t>
            </a:r>
            <a:r>
              <a:rPr sz="1400" dirty="0">
                <a:solidFill>
                  <a:srgbClr val="282C3F"/>
                </a:solidFill>
              </a:rPr>
              <a:t>, saving multiple subtle variations.</a:t>
            </a:r>
          </a:p>
          <a:p>
            <a:pPr marL="177800" indent="-127000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• Comparison Paralysis: </a:t>
            </a:r>
            <a:r>
              <a:rPr sz="1400" dirty="0">
                <a:solidFill>
                  <a:srgbClr val="282C3F"/>
                </a:solidFill>
              </a:rPr>
              <a:t>Switch tabs and screenshot to friends to compare fabric weight and fit.</a:t>
            </a:r>
          </a:p>
          <a:p>
            <a:pPr marL="177800" indent="-127000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• Return Hesitation: </a:t>
            </a:r>
            <a:r>
              <a:rPr sz="1400" dirty="0">
                <a:solidFill>
                  <a:srgbClr val="282C3F"/>
                </a:solidFill>
              </a:rPr>
              <a:t>Fear of receiving flimsy fabric causes high cart abandonment.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4165524"/>
            <a:ext cx="539496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4416957"/>
            <a:ext cx="5175504" cy="1923412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📈 </a:t>
            </a:r>
            <a:r>
              <a:rPr sz="1400" u="sng" dirty="0"/>
              <a:t>The Growth Opportunity</a:t>
            </a:r>
          </a:p>
          <a:p>
            <a:pPr marL="177800" indent="-127000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• Unlocking Dormant GMV: </a:t>
            </a:r>
            <a:r>
              <a:rPr sz="1400" dirty="0">
                <a:solidFill>
                  <a:srgbClr val="282C3F"/>
                </a:solidFill>
              </a:rPr>
              <a:t>Converts ₹123 Cr baseline into ₹173 Cr monthly GMV (+₹49.5 Cr/</a:t>
            </a:r>
            <a:r>
              <a:rPr sz="1400" dirty="0" err="1">
                <a:solidFill>
                  <a:srgbClr val="282C3F"/>
                </a:solidFill>
              </a:rPr>
              <a:t>mo</a:t>
            </a:r>
            <a:r>
              <a:rPr sz="1400" dirty="0">
                <a:solidFill>
                  <a:srgbClr val="282C3F"/>
                </a:solidFill>
              </a:rPr>
              <a:t> lift).</a:t>
            </a:r>
          </a:p>
          <a:p>
            <a:pPr marL="177800" indent="-127000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• Zero Margin Erosion: </a:t>
            </a:r>
            <a:r>
              <a:rPr sz="1400" dirty="0">
                <a:solidFill>
                  <a:srgbClr val="282C3F"/>
                </a:solidFill>
              </a:rPr>
              <a:t>Delivers 100% non-discounted lift, protecting full 38% platform gross margin.</a:t>
            </a:r>
          </a:p>
          <a:p>
            <a:pPr marL="177800" indent="-127000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• Return Cost Reduction: </a:t>
            </a:r>
            <a:r>
              <a:rPr sz="1400" dirty="0">
                <a:solidFill>
                  <a:srgbClr val="282C3F"/>
                </a:solidFill>
              </a:rPr>
              <a:t>Saves ₹73.5 Lakh/</a:t>
            </a:r>
            <a:r>
              <a:rPr sz="1400" dirty="0" err="1">
                <a:solidFill>
                  <a:srgbClr val="282C3F"/>
                </a:solidFill>
              </a:rPr>
              <a:t>mo</a:t>
            </a:r>
            <a:r>
              <a:rPr sz="1400" dirty="0">
                <a:solidFill>
                  <a:srgbClr val="282C3F"/>
                </a:solidFill>
              </a:rPr>
              <a:t> by cutting fit-related reverse logistics.</a:t>
            </a:r>
          </a:p>
        </p:txBody>
      </p:sp>
      <p:pic>
        <p:nvPicPr>
          <p:cNvPr id="14" name="Picture 13" descr="Myntra Logo in Vector Format | Party font, Velvet dress ...">
            <a:extLst>
              <a:ext uri="{FF2B5EF4-FFF2-40B4-BE49-F238E27FC236}">
                <a16:creationId xmlns:a16="http://schemas.microsoft.com/office/drawing/2014/main" id="{8E0F0F55-A35A-392B-834A-B5D087F7CB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750" r="2278" b="33850"/>
          <a:stretch>
            <a:fillRect/>
          </a:stretch>
        </p:blipFill>
        <p:spPr>
          <a:xfrm>
            <a:off x="10800272" y="138030"/>
            <a:ext cx="1276688" cy="3971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666847" y="164592"/>
            <a:ext cx="6858000" cy="384048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</a:defRPr>
            </a:pPr>
            <a:r>
              <a:rPr sz="1600" dirty="0"/>
              <a:t>QUALITATIVE USER RESEARCH INTERVIEW SYNTHESIS (2x3 GRID)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749637"/>
            <a:ext cx="12192000" cy="54373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282C3F"/>
                </a:solidFill>
              </a:defRPr>
            </a:pPr>
            <a:r>
              <a:rPr lang="en-US" sz="1600" dirty="0"/>
              <a:t> </a:t>
            </a:r>
            <a:r>
              <a:rPr sz="1600" dirty="0"/>
              <a:t>5. Primary User Research (N=25 Survey + N=9 Interviews) Confirms Comparison Paralysis &amp; Sizing Uncertainty</a:t>
            </a:r>
            <a:r>
              <a:rPr lang="en-US" sz="1600" dirty="0"/>
              <a:t>              </a:t>
            </a:r>
            <a:endParaRPr sz="1600" dirty="0"/>
          </a:p>
          <a:p>
            <a:pPr>
              <a:spcBef>
                <a:spcPts val="200"/>
              </a:spcBef>
              <a:spcAft>
                <a:spcPts val="400"/>
              </a:spcAft>
              <a:defRPr sz="1400" b="1">
                <a:solidFill>
                  <a:srgbClr val="FF3F6C"/>
                </a:solidFill>
              </a:defRPr>
            </a:pPr>
            <a:r>
              <a:rPr lang="en-US" sz="1600" dirty="0"/>
              <a:t>     </a:t>
            </a:r>
            <a:r>
              <a:rPr sz="1600" dirty="0"/>
              <a:t>Authentic qualitative interview quotes from 6 representative participants in the 2026 Online Fashion Shopping Survey Cohort.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59" y="1423071"/>
            <a:ext cx="11002975" cy="438912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487" y="1459647"/>
            <a:ext cx="10783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3F6C"/>
                </a:solidFill>
              </a:defRPr>
            </a:pPr>
            <a:r>
              <a:rPr dirty="0"/>
              <a:t>📋 Methodology: N=25 Survey Responses + N=9 Semi-Structured Qualitative Interviews + 20,250 Review NLP Corpus.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113" y="1965960"/>
            <a:ext cx="3970504" cy="23670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8875" y="2179771"/>
            <a:ext cx="3807611" cy="1798826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👤 Participant 1 (23, Tech Consultant, Bengaluru • Saves 4-5 formal pants / session)</a:t>
            </a:r>
          </a:p>
          <a:p>
            <a:pPr>
              <a:lnSpc>
                <a:spcPct val="112000"/>
              </a:lnSpc>
              <a:spcAft>
                <a:spcPts val="200"/>
              </a:spcAft>
              <a:defRPr sz="1400"/>
            </a:pPr>
            <a:r>
              <a:rPr sz="1400" b="1" dirty="0">
                <a:solidFill>
                  <a:srgbClr val="FF3F6C"/>
                </a:solidFill>
              </a:rPr>
              <a:t>Quote: </a:t>
            </a:r>
            <a:r>
              <a:rPr sz="1400" i="1" dirty="0">
                <a:solidFill>
                  <a:srgbClr val="282C3F"/>
                </a:solidFill>
              </a:rPr>
              <a:t>"I literally can't tell which one is thicker fabric from the studio photos. If I could see the GSM weight side by side, I'd buy in 30 seconds."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400"/>
            </a:pPr>
            <a:r>
              <a:rPr sz="1400" b="1" dirty="0">
                <a:solidFill>
                  <a:srgbClr val="03A685"/>
                </a:solidFill>
              </a:rPr>
              <a:t>Key Insight: Decision paralysis across subtle fabric variants, not price resistance, blocks checkout.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9645" y="2000466"/>
            <a:ext cx="3883170" cy="234086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24300" y="2130093"/>
            <a:ext cx="3690217" cy="204011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dirty="0"/>
              <a:t>👤 Participant 2 (21, Student, New Delhi • Streetwear, Cargos &amp; Oversized Tees)</a:t>
            </a:r>
          </a:p>
          <a:p>
            <a:pPr>
              <a:lnSpc>
                <a:spcPct val="112000"/>
              </a:lnSpc>
              <a:spcAft>
                <a:spcPts val="200"/>
              </a:spcAft>
              <a:defRPr sz="1400"/>
            </a:pPr>
            <a:r>
              <a:rPr b="1" dirty="0">
                <a:solidFill>
                  <a:srgbClr val="FF3F6C"/>
                </a:solidFill>
              </a:rPr>
              <a:t>Quote: </a:t>
            </a:r>
            <a:r>
              <a:rPr i="1" dirty="0">
                <a:solidFill>
                  <a:srgbClr val="282C3F"/>
                </a:solidFill>
              </a:rPr>
              <a:t>"All cargo pants look stylized under studio lights. I worry the fabric will arrive flimsy and see-through upon delivery."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400"/>
            </a:pPr>
            <a:r>
              <a:rPr b="1" dirty="0">
                <a:solidFill>
                  <a:srgbClr val="03A685"/>
                </a:solidFill>
              </a:rPr>
              <a:t>Key Insight: Unfiltered buyer photos and verified GSM weight directly eliminate return anxiety.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5384" y="1960208"/>
            <a:ext cx="3867741" cy="2381121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87109" y="2158848"/>
            <a:ext cx="3736016" cy="204011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👤 Participant 3 (27, Brand Marketing </a:t>
            </a:r>
            <a:r>
              <a:rPr sz="1400" dirty="0" err="1"/>
              <a:t>Mgr</a:t>
            </a:r>
            <a:r>
              <a:rPr sz="1400" dirty="0"/>
              <a:t>, Mumbai • Festive &amp; Occasion Wear)</a:t>
            </a:r>
          </a:p>
          <a:p>
            <a:pPr>
              <a:lnSpc>
                <a:spcPct val="112000"/>
              </a:lnSpc>
              <a:spcAft>
                <a:spcPts val="200"/>
              </a:spcAft>
              <a:defRPr sz="1400"/>
            </a:pPr>
            <a:r>
              <a:rPr sz="1400" b="1" dirty="0">
                <a:solidFill>
                  <a:srgbClr val="FF3F6C"/>
                </a:solidFill>
              </a:rPr>
              <a:t>Quote: </a:t>
            </a:r>
            <a:r>
              <a:rPr sz="1400" i="1" dirty="0">
                <a:solidFill>
                  <a:srgbClr val="282C3F"/>
                </a:solidFill>
              </a:rPr>
              <a:t>"I abandon </a:t>
            </a:r>
            <a:r>
              <a:rPr sz="1400" i="1" dirty="0" err="1">
                <a:solidFill>
                  <a:srgbClr val="282C3F"/>
                </a:solidFill>
              </a:rPr>
              <a:t>wishlisted</a:t>
            </a:r>
            <a:r>
              <a:rPr sz="1400" i="1" dirty="0">
                <a:solidFill>
                  <a:srgbClr val="282C3F"/>
                </a:solidFill>
              </a:rPr>
              <a:t> tops because I don't know what footwear or jacket will match from my existing wardrobe."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400"/>
            </a:pPr>
            <a:r>
              <a:rPr sz="1400" b="1" dirty="0">
                <a:solidFill>
                  <a:srgbClr val="03A685"/>
                </a:solidFill>
              </a:rPr>
              <a:t>Key Insight: 1-Tap complete 3-piece curated outfit builder unlocks multi-item basket conversion.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113" y="4442713"/>
            <a:ext cx="4020942" cy="233765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47290" y="4662810"/>
            <a:ext cx="3628847" cy="204011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👤 Participant 4 (25, UI/UX Designer, Pune • Minimalist Casuals &amp; Sneakers)</a:t>
            </a:r>
          </a:p>
          <a:p>
            <a:pPr>
              <a:lnSpc>
                <a:spcPct val="112000"/>
              </a:lnSpc>
              <a:spcAft>
                <a:spcPts val="200"/>
              </a:spcAft>
              <a:defRPr sz="1400"/>
            </a:pPr>
            <a:r>
              <a:rPr sz="1400" b="1" dirty="0">
                <a:solidFill>
                  <a:srgbClr val="FF3F6C"/>
                </a:solidFill>
              </a:rPr>
              <a:t>Quote: </a:t>
            </a:r>
            <a:r>
              <a:rPr sz="1400" i="1" dirty="0">
                <a:solidFill>
                  <a:srgbClr val="282C3F"/>
                </a:solidFill>
              </a:rPr>
              <a:t>"I screenshot pairs to my WhatsApp group, but friends take 18 hours to reply—by then I lose shopping momentum."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400"/>
            </a:pPr>
            <a:r>
              <a:rPr sz="1400" b="1" dirty="0">
                <a:solidFill>
                  <a:srgbClr val="03A685"/>
                </a:solidFill>
              </a:rPr>
              <a:t>Key Insight: Interactive WhatsApp voting card with instant 2s AI consensus unblocks delayed intent.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9645" y="4469232"/>
            <a:ext cx="3836888" cy="2311133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16316" y="4662810"/>
            <a:ext cx="3690217" cy="1768048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👤 Participant 5 (22, Post-Grad Student, Hyderabad • Trending Gen-Z Fast Fashion)</a:t>
            </a:r>
          </a:p>
          <a:p>
            <a:pPr>
              <a:lnSpc>
                <a:spcPct val="112000"/>
              </a:lnSpc>
              <a:spcAft>
                <a:spcPts val="200"/>
              </a:spcAft>
              <a:defRPr sz="1400"/>
            </a:pPr>
            <a:r>
              <a:rPr sz="1400" b="1" dirty="0">
                <a:solidFill>
                  <a:srgbClr val="FF3F6C"/>
                </a:solidFill>
              </a:rPr>
              <a:t>Quote: </a:t>
            </a:r>
            <a:r>
              <a:rPr sz="1400" i="1" dirty="0">
                <a:solidFill>
                  <a:srgbClr val="282C3F"/>
                </a:solidFill>
              </a:rPr>
              <a:t>"I hate the repackaging hassle and return friction if the waist runs small across different brand sizing."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400"/>
            </a:pPr>
            <a:r>
              <a:rPr sz="1400" b="1" dirty="0">
                <a:solidFill>
                  <a:srgbClr val="03A685"/>
                </a:solidFill>
              </a:rPr>
              <a:t>Key Insight: Zero-Risk Fit Guarantee &amp; consensus fit ratings neutralize purchase hesitation.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5384" y="4474349"/>
            <a:ext cx="3867741" cy="230601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69856" y="4662810"/>
            <a:ext cx="3724514" cy="1798826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👤 Participant 6 (26, Corporate Lawyer, Gurgaon • Premium Workwear &amp; Handbags)</a:t>
            </a:r>
          </a:p>
          <a:p>
            <a:pPr>
              <a:lnSpc>
                <a:spcPct val="112000"/>
              </a:lnSpc>
              <a:spcAft>
                <a:spcPts val="200"/>
              </a:spcAft>
              <a:defRPr sz="1400"/>
            </a:pPr>
            <a:r>
              <a:rPr sz="1400" b="1" dirty="0">
                <a:solidFill>
                  <a:srgbClr val="FF3F6C"/>
                </a:solidFill>
              </a:rPr>
              <a:t>Quote: </a:t>
            </a:r>
            <a:r>
              <a:rPr sz="1400" i="1" dirty="0">
                <a:solidFill>
                  <a:srgbClr val="282C3F"/>
                </a:solidFill>
              </a:rPr>
              <a:t>"I have 4 blazers in my </a:t>
            </a:r>
            <a:r>
              <a:rPr sz="1400" i="1" dirty="0" err="1">
                <a:solidFill>
                  <a:srgbClr val="282C3F"/>
                </a:solidFill>
              </a:rPr>
              <a:t>wishlist</a:t>
            </a:r>
            <a:r>
              <a:rPr sz="1400" i="1" dirty="0">
                <a:solidFill>
                  <a:srgbClr val="282C3F"/>
                </a:solidFill>
              </a:rPr>
              <a:t>. I keep switching tabs trying to check if the fabric is linen or poly-blend."</a:t>
            </a:r>
          </a:p>
          <a:p>
            <a:pPr>
              <a:lnSpc>
                <a:spcPct val="112000"/>
              </a:lnSpc>
              <a:spcAft>
                <a:spcPts val="0"/>
              </a:spcAft>
              <a:defRPr sz="1400"/>
            </a:pPr>
            <a:r>
              <a:rPr sz="1400" b="1" dirty="0">
                <a:solidFill>
                  <a:srgbClr val="03A685"/>
                </a:solidFill>
              </a:rPr>
              <a:t>Key Insight: Inline spec comparison matrix directly replaces browser tab toggling.</a:t>
            </a:r>
          </a:p>
        </p:txBody>
      </p:sp>
      <p:pic>
        <p:nvPicPr>
          <p:cNvPr id="20" name="Picture 19" descr="Myntra Logo in Vector Format | Party font, Velvet dress ...">
            <a:extLst>
              <a:ext uri="{FF2B5EF4-FFF2-40B4-BE49-F238E27FC236}">
                <a16:creationId xmlns:a16="http://schemas.microsoft.com/office/drawing/2014/main" id="{6A59C073-3021-2E00-208F-06B9B1472D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750" r="2278" b="33850"/>
          <a:stretch>
            <a:fillRect/>
          </a:stretch>
        </p:blipFill>
        <p:spPr>
          <a:xfrm>
            <a:off x="10800272" y="138030"/>
            <a:ext cx="1276688" cy="397152"/>
          </a:xfrm>
          <a:prstGeom prst="rect">
            <a:avLst/>
          </a:prstGeom>
        </p:spPr>
      </p:pic>
      <p:pic>
        <p:nvPicPr>
          <p:cNvPr id="21" name="Picture 20" descr="File:Chain link icon slanted.png - Wikimedia Commons">
            <a:hlinkClick r:id="rId3"/>
            <a:extLst>
              <a:ext uri="{FF2B5EF4-FFF2-40B4-BE49-F238E27FC236}">
                <a16:creationId xmlns:a16="http://schemas.microsoft.com/office/drawing/2014/main" id="{13BB82F9-AA88-158B-3A7B-69B8FB8DB734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6200000" flipV="1">
            <a:off x="10793699" y="1260983"/>
            <a:ext cx="434070" cy="432083"/>
          </a:xfrm>
          <a:prstGeom prst="rect">
            <a:avLst/>
          </a:prstGeom>
        </p:spPr>
      </p:pic>
      <p:pic>
        <p:nvPicPr>
          <p:cNvPr id="23" name="Picture 22" descr="File:Chain link icon slanted.png - Wikimedia Commons">
            <a:hlinkClick r:id="rId5"/>
            <a:extLst>
              <a:ext uri="{FF2B5EF4-FFF2-40B4-BE49-F238E27FC236}">
                <a16:creationId xmlns:a16="http://schemas.microsoft.com/office/drawing/2014/main" id="{562D2A6C-5EE6-06AB-FE46-C1AB9CCA7784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6200000" flipV="1">
            <a:off x="11492439" y="1784424"/>
            <a:ext cx="434070" cy="43208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666847" y="164592"/>
            <a:ext cx="6858000" cy="384048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</a:defRPr>
            </a:pPr>
            <a:r>
              <a:rPr sz="1600"/>
              <a:t>PROBLEM FRAMING (5 CORE PM QUESTIONS)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755388"/>
            <a:ext cx="12192000" cy="54373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282C3F"/>
                </a:solidFill>
              </a:defRPr>
            </a:pPr>
            <a:r>
              <a:rPr lang="en-US" sz="1600" dirty="0"/>
              <a:t> </a:t>
            </a:r>
            <a:r>
              <a:rPr sz="1600" dirty="0"/>
              <a:t>6. Problem Framing: Solving Wishlist Graveyard Inertia by Neutralizing Spec Ambiguity and Social Latency</a:t>
            </a:r>
            <a:r>
              <a:rPr lang="en-US" sz="1600" dirty="0"/>
              <a:t> </a:t>
            </a:r>
            <a:endParaRPr sz="1600" dirty="0"/>
          </a:p>
          <a:p>
            <a:pPr>
              <a:spcBef>
                <a:spcPts val="200"/>
              </a:spcBef>
              <a:spcAft>
                <a:spcPts val="400"/>
              </a:spcAft>
              <a:defRPr sz="1400" b="1">
                <a:solidFill>
                  <a:srgbClr val="FF3F6C"/>
                </a:solidFill>
              </a:defRPr>
            </a:pPr>
            <a:r>
              <a:rPr lang="en-US" sz="1600" dirty="0"/>
              <a:t>     </a:t>
            </a:r>
            <a:r>
              <a:rPr sz="1600" dirty="0"/>
              <a:t>Rigorous 5-question problem definition grounding user pain points, business value, and strategic urgency.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32340"/>
            <a:ext cx="356616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2018" y="1834497"/>
            <a:ext cx="3419856" cy="1805751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Q1: What is the true Problem?</a:t>
            </a:r>
          </a:p>
          <a:p>
            <a:pPr>
              <a:lnSpc>
                <a:spcPct val="114000"/>
              </a:lnSpc>
              <a:defRPr sz="1400">
                <a:solidFill>
                  <a:srgbClr val="282C3F"/>
                </a:solidFill>
              </a:defRPr>
            </a:pPr>
            <a:r>
              <a:rPr sz="1400" dirty="0"/>
              <a:t>Users shortlist high-intent items but abandon them in </a:t>
            </a:r>
            <a:r>
              <a:rPr sz="1400" dirty="0" err="1"/>
              <a:t>wishlist</a:t>
            </a:r>
            <a:r>
              <a:rPr sz="1400" dirty="0"/>
              <a:t> graveyards (66.7% stall rate [Myntra analytics est.]) because fashion apps lack side-by-side spec comparison tools (GSM, fit score) and fast social validation, creating choice paralysis and return anxiety.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6824" y="1532340"/>
            <a:ext cx="356616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14482" y="1834497"/>
            <a:ext cx="3419856" cy="1775614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Q2: Who are the customers facing the problem?</a:t>
            </a:r>
          </a:p>
          <a:p>
            <a:pPr>
              <a:lnSpc>
                <a:spcPct val="114000"/>
              </a:lnSpc>
              <a:defRPr sz="1400">
                <a:solidFill>
                  <a:srgbClr val="282C3F"/>
                </a:solidFill>
              </a:defRPr>
            </a:pPr>
            <a:r>
              <a:rPr sz="1400" dirty="0"/>
              <a:t>'Active </a:t>
            </a:r>
            <a:r>
              <a:rPr sz="1400" dirty="0" err="1"/>
              <a:t>Shortlisters</a:t>
            </a:r>
            <a:r>
              <a:rPr sz="1400" dirty="0"/>
              <a:t>' — Gen-Z &amp; Millennial urban shoppers (aged 18–28) who use Myntra 3-4 times a month, accumulating 38+ saved items but hesitating at checkout threshold due to evaluation uncertainty.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9288" y="1532340"/>
            <a:ext cx="356616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26946" y="1834497"/>
            <a:ext cx="3419856" cy="1805751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Q3: How do we know it is a real problem?</a:t>
            </a:r>
          </a:p>
          <a:p>
            <a:pPr>
              <a:lnSpc>
                <a:spcPct val="114000"/>
              </a:lnSpc>
              <a:defRPr sz="1400">
                <a:solidFill>
                  <a:srgbClr val="282C3F"/>
                </a:solidFill>
              </a:defRPr>
            </a:pPr>
            <a:r>
              <a:rPr sz="1400" dirty="0"/>
              <a:t>Primary research (N=25 survey cohort &amp; 8 of 9 interviewees) and 20,250 Review NLP corpus show that 92.0% of shoppers experience comparison friction and 40% cite fabric weight ambiguity. 88% of users rejected price as the primary blocker.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4211532"/>
            <a:ext cx="539496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2018" y="4513689"/>
            <a:ext cx="5248656" cy="1831399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Q4: What is the value generated by solving this problem?</a:t>
            </a:r>
          </a:p>
          <a:p>
            <a:pPr>
              <a:lnSpc>
                <a:spcPct val="114000"/>
              </a:lnSpc>
              <a:spcAft>
                <a:spcPts val="2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Customer Value: </a:t>
            </a:r>
            <a:r>
              <a:rPr sz="1400" dirty="0">
                <a:solidFill>
                  <a:srgbClr val="282C3F"/>
                </a:solidFill>
              </a:rPr>
              <a:t>For Target Customers: Instant 60-second evaluation clarity, zero return anxiety with verified fit consensus, and effortless 1-tap complete outfit styling.</a:t>
            </a:r>
          </a:p>
          <a:p>
            <a:pPr>
              <a:lnSpc>
                <a:spcPct val="114000"/>
              </a:lnSpc>
              <a:defRPr sz="1400"/>
            </a:pPr>
            <a:r>
              <a:rPr sz="1400" b="1" dirty="0">
                <a:solidFill>
                  <a:srgbClr val="03A685"/>
                </a:solidFill>
              </a:rPr>
              <a:t>Business Value: </a:t>
            </a:r>
            <a:r>
              <a:rPr sz="1400" dirty="0">
                <a:solidFill>
                  <a:srgbClr val="282C3F"/>
                </a:solidFill>
              </a:rPr>
              <a:t>For the Business: Expands 30-day conversion from 7.5% to 10.5% (+300bps), generating +₹18.81 Cr monthly gross profit at 38% margin and saving ₹73.5L/</a:t>
            </a:r>
            <a:r>
              <a:rPr sz="1400" dirty="0" err="1">
                <a:solidFill>
                  <a:srgbClr val="282C3F"/>
                </a:solidFill>
              </a:rPr>
              <a:t>mo</a:t>
            </a:r>
            <a:r>
              <a:rPr sz="1400" dirty="0">
                <a:solidFill>
                  <a:srgbClr val="282C3F"/>
                </a:solidFill>
              </a:rPr>
              <a:t> in reverse logistics.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211532"/>
            <a:ext cx="539496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07290" y="4513689"/>
            <a:ext cx="5248656" cy="1314591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Q5: Why should we solve this problem now?</a:t>
            </a:r>
          </a:p>
          <a:p>
            <a:pPr>
              <a:lnSpc>
                <a:spcPct val="114000"/>
              </a:lnSpc>
              <a:defRPr sz="1400">
                <a:solidFill>
                  <a:srgbClr val="282C3F"/>
                </a:solidFill>
              </a:defRPr>
            </a:pPr>
            <a:r>
              <a:rPr sz="1400" dirty="0"/>
              <a:t>Myntra captures massive top-funnel consideration (50M+ MAUs), but P&amp;L discount subsidies erode margins. Converting dormant </a:t>
            </a:r>
            <a:r>
              <a:rPr sz="1400" dirty="0" err="1"/>
              <a:t>wishlist</a:t>
            </a:r>
            <a:r>
              <a:rPr sz="1400" dirty="0"/>
              <a:t> intent is 4.2x more capital-efficient than acquiring new users before competitors build spec moats.</a:t>
            </a:r>
          </a:p>
        </p:txBody>
      </p:sp>
      <p:pic>
        <p:nvPicPr>
          <p:cNvPr id="16" name="Picture 15" descr="Myntra Logo in Vector Format | Party font, Velvet dress ...">
            <a:extLst>
              <a:ext uri="{FF2B5EF4-FFF2-40B4-BE49-F238E27FC236}">
                <a16:creationId xmlns:a16="http://schemas.microsoft.com/office/drawing/2014/main" id="{24DEB9DF-8F80-03C5-2B55-08D21B4D96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750" r="2278" b="33850"/>
          <a:stretch>
            <a:fillRect/>
          </a:stretch>
        </p:blipFill>
        <p:spPr>
          <a:xfrm>
            <a:off x="10800272" y="138030"/>
            <a:ext cx="1276688" cy="3971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666847" y="164592"/>
            <a:ext cx="6858000" cy="384048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</a:defRPr>
            </a:pPr>
            <a:r>
              <a:rPr sz="1600"/>
              <a:t>IDEATION, PRINCIPLES &amp; QUANTITATIVE RICE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893412"/>
            <a:ext cx="12192000" cy="54373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282C3F"/>
                </a:solidFill>
              </a:defRPr>
            </a:pPr>
            <a:r>
              <a:rPr lang="en-US" sz="1600" dirty="0"/>
              <a:t> </a:t>
            </a:r>
            <a:r>
              <a:rPr sz="1600" dirty="0"/>
              <a:t>7. Ideation Framework: Solving Root-Cause Comparison Friction via Spec Matrix, AI Styling, and WhatsApp Voting</a:t>
            </a:r>
            <a:r>
              <a:rPr lang="en-US" sz="1600" dirty="0"/>
              <a:t>  </a:t>
            </a:r>
            <a:endParaRPr sz="1600" dirty="0"/>
          </a:p>
          <a:p>
            <a:pPr>
              <a:spcBef>
                <a:spcPts val="200"/>
              </a:spcBef>
              <a:spcAft>
                <a:spcPts val="400"/>
              </a:spcAft>
              <a:defRPr sz="1400" b="1">
                <a:solidFill>
                  <a:srgbClr val="FF3F6C"/>
                </a:solidFill>
              </a:defRPr>
            </a:pPr>
            <a:r>
              <a:rPr lang="en-US" sz="1600" dirty="0"/>
              <a:t>      </a:t>
            </a:r>
            <a:r>
              <a:rPr sz="1600" dirty="0"/>
              <a:t>Evaluating solution hypotheses against core principles using the quantitative RICE scoring framework.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5127" y="1811547"/>
            <a:ext cx="11002975" cy="1461033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7092" y="1938015"/>
            <a:ext cx="10783519" cy="1170432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✨ </a:t>
            </a:r>
            <a:r>
              <a:rPr sz="1400" u="sng" dirty="0"/>
              <a:t>3 CORE PRODUCT DESIGN PRINCIPLES</a:t>
            </a:r>
          </a:p>
          <a:p>
            <a:pPr marL="152400" indent="0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FF3F6C"/>
                </a:solidFill>
              </a:rPr>
              <a:t>★ 1. Spec Clarity Principle: </a:t>
            </a:r>
            <a:r>
              <a:rPr sz="1400" dirty="0">
                <a:solidFill>
                  <a:srgbClr val="282C3F"/>
                </a:solidFill>
              </a:rPr>
              <a:t>Must display objective fabric GSM weight, fit consensus, and real buyer photos directly at point of comparison.</a:t>
            </a:r>
          </a:p>
          <a:p>
            <a:pPr marL="152400" indent="0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FF3F6C"/>
                </a:solidFill>
              </a:rPr>
              <a:t>★ 2. Zero-Discount Margin Principle: </a:t>
            </a:r>
            <a:r>
              <a:rPr sz="1400" dirty="0">
                <a:solidFill>
                  <a:srgbClr val="282C3F"/>
                </a:solidFill>
              </a:rPr>
              <a:t>Must drive checkout velocity through purchase confidence—zero P&amp;L margin-eroding flash coupons.</a:t>
            </a:r>
          </a:p>
          <a:p>
            <a:pPr marL="152400" indent="0">
              <a:lnSpc>
                <a:spcPct val="112000"/>
              </a:lnSpc>
              <a:spcBef>
                <a:spcPts val="100"/>
              </a:spcBef>
              <a:spcAft>
                <a:spcPts val="200"/>
              </a:spcAft>
              <a:defRPr sz="1400"/>
            </a:pPr>
            <a:r>
              <a:rPr sz="1400" b="1" dirty="0">
                <a:solidFill>
                  <a:srgbClr val="FF3F6C"/>
                </a:solidFill>
              </a:rPr>
              <a:t>★ 3. Social Speed Principle: </a:t>
            </a:r>
            <a:r>
              <a:rPr sz="1400" dirty="0">
                <a:solidFill>
                  <a:srgbClr val="282C3F"/>
                </a:solidFill>
              </a:rPr>
              <a:t>Must slash friend validation latency from 18 hours to 2 seconds via interactive WhatsApp voting cards.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1437" y="3452355"/>
            <a:ext cx="10905897" cy="2587155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7873" y="3721041"/>
            <a:ext cx="10688377" cy="2000356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📊 </a:t>
            </a:r>
            <a:r>
              <a:rPr sz="1400" u="sng" dirty="0"/>
              <a:t>QUANTITATIVE RICE PRIORITIZATION MATRIX &amp; ROADMAP</a:t>
            </a:r>
          </a:p>
          <a:p>
            <a:pPr marL="177800" indent="0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S1: Static Discount Push Alerts: </a:t>
            </a:r>
            <a:r>
              <a:rPr sz="1400" dirty="0">
                <a:solidFill>
                  <a:srgbClr val="282C3F"/>
                </a:solidFill>
              </a:rPr>
              <a:t>Send 10% coupon push notifications on saved items — </a:t>
            </a:r>
            <a:r>
              <a:rPr sz="1400" dirty="0">
                <a:solidFill>
                  <a:srgbClr val="535766"/>
                </a:solidFill>
              </a:rPr>
              <a:t>Reach: 10/10 | Impact: 1/5 | Conf: 80% | Effort: 1/5 → </a:t>
            </a:r>
            <a:r>
              <a:rPr sz="1400" b="1" dirty="0">
                <a:solidFill>
                  <a:srgbClr val="FF3F6C"/>
                </a:solidFill>
              </a:rPr>
              <a:t>Score: 8.0 </a:t>
            </a:r>
            <a:r>
              <a:rPr sz="1400" b="1" dirty="0">
                <a:solidFill>
                  <a:srgbClr val="535766"/>
                </a:solidFill>
              </a:rPr>
              <a:t>[Discard (Erodes 38% Gross Margin)]</a:t>
            </a:r>
          </a:p>
          <a:p>
            <a:pPr marL="177800" indent="0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  <a:defRPr sz="1400"/>
            </a:pPr>
            <a:r>
              <a:rPr sz="1400" b="1" dirty="0">
                <a:solidFill>
                  <a:srgbClr val="282C3F"/>
                </a:solidFill>
              </a:rPr>
              <a:t>S2: Post-Wishlist Flash Popup: </a:t>
            </a:r>
            <a:r>
              <a:rPr sz="1400" dirty="0">
                <a:solidFill>
                  <a:srgbClr val="282C3F"/>
                </a:solidFill>
              </a:rPr>
              <a:t>Show limited-time urgency popups on </a:t>
            </a:r>
            <a:r>
              <a:rPr sz="1400" dirty="0" err="1">
                <a:solidFill>
                  <a:srgbClr val="282C3F"/>
                </a:solidFill>
              </a:rPr>
              <a:t>wishlist</a:t>
            </a:r>
            <a:r>
              <a:rPr sz="1400" dirty="0">
                <a:solidFill>
                  <a:srgbClr val="282C3F"/>
                </a:solidFill>
              </a:rPr>
              <a:t> exit — </a:t>
            </a:r>
            <a:r>
              <a:rPr sz="1400" dirty="0">
                <a:solidFill>
                  <a:srgbClr val="535766"/>
                </a:solidFill>
              </a:rPr>
              <a:t>Reach: 10/10 | Impact: 2/5 | Conf: 60% | Effort: 2/5 → </a:t>
            </a:r>
            <a:r>
              <a:rPr sz="1400" b="1" dirty="0">
                <a:solidFill>
                  <a:srgbClr val="FF3F6C"/>
                </a:solidFill>
              </a:rPr>
              <a:t>Score: 6.0 </a:t>
            </a:r>
            <a:r>
              <a:rPr sz="1400" b="1" dirty="0">
                <a:solidFill>
                  <a:srgbClr val="535766"/>
                </a:solidFill>
              </a:rPr>
              <a:t>[Backup (High Drop-off &amp; Annoyance)]</a:t>
            </a:r>
          </a:p>
          <a:p>
            <a:pPr marL="177800" indent="0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  <a:defRPr sz="1400"/>
            </a:pPr>
            <a:r>
              <a:rPr sz="1400" b="1" dirty="0">
                <a:solidFill>
                  <a:srgbClr val="FF3F6C"/>
                </a:solidFill>
              </a:rPr>
              <a:t>S3: Wishlist Studio Suite (MVP): </a:t>
            </a:r>
            <a:r>
              <a:rPr sz="1400" dirty="0">
                <a:solidFill>
                  <a:srgbClr val="282C3F"/>
                </a:solidFill>
              </a:rPr>
              <a:t>Side-by-Side Spec Matrix + AI Look Builder + WhatsApp Poll — </a:t>
            </a:r>
            <a:r>
              <a:rPr sz="1400" dirty="0">
                <a:solidFill>
                  <a:srgbClr val="535766"/>
                </a:solidFill>
              </a:rPr>
              <a:t>Reach: 10/10 | Impact: 4/5 | Conf: 80% | Effort: 3/5 → </a:t>
            </a:r>
            <a:r>
              <a:rPr sz="1400" b="1" dirty="0">
                <a:solidFill>
                  <a:srgbClr val="FF3F6C"/>
                </a:solidFill>
              </a:rPr>
              <a:t>Score: 10.6 </a:t>
            </a:r>
            <a:r>
              <a:rPr sz="1400" b="1" dirty="0">
                <a:solidFill>
                  <a:srgbClr val="03A685"/>
                </a:solidFill>
              </a:rPr>
              <a:t>[Winner (Addresses Root-Cause Friction)]</a:t>
            </a:r>
          </a:p>
        </p:txBody>
      </p:sp>
      <p:pic>
        <p:nvPicPr>
          <p:cNvPr id="10" name="Picture 9" descr="Myntra Logo in Vector Format | Party font, Velvet dress ...">
            <a:extLst>
              <a:ext uri="{FF2B5EF4-FFF2-40B4-BE49-F238E27FC236}">
                <a16:creationId xmlns:a16="http://schemas.microsoft.com/office/drawing/2014/main" id="{D920AE58-29D6-11F4-7424-28935A63CF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750" r="2278" b="33850"/>
          <a:stretch>
            <a:fillRect/>
          </a:stretch>
        </p:blipFill>
        <p:spPr>
          <a:xfrm>
            <a:off x="10800272" y="138030"/>
            <a:ext cx="1276688" cy="3971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666847" y="164592"/>
            <a:ext cx="6858000" cy="384048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</a:defRPr>
            </a:pPr>
            <a:r>
              <a:rPr sz="1600"/>
              <a:t>MVP SHOWCASE &amp; TECHNICAL ARCHITECTURE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772641"/>
            <a:ext cx="12192000" cy="54373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282C3F"/>
                </a:solidFill>
              </a:defRPr>
            </a:pPr>
            <a:r>
              <a:rPr lang="en-US" sz="1600" dirty="0"/>
              <a:t> </a:t>
            </a:r>
            <a:r>
              <a:rPr sz="1600" dirty="0"/>
              <a:t>8. The Wishlist Studio MVP: Technical Architecture Pipeline and Live Feature Showcase</a:t>
            </a:r>
            <a:r>
              <a:rPr lang="en-US" sz="1600" dirty="0"/>
              <a:t>   </a:t>
            </a:r>
            <a:endParaRPr sz="1600" dirty="0"/>
          </a:p>
          <a:p>
            <a:pPr>
              <a:spcBef>
                <a:spcPts val="200"/>
              </a:spcBef>
              <a:spcAft>
                <a:spcPts val="400"/>
              </a:spcAft>
              <a:defRPr sz="1400" b="1">
                <a:solidFill>
                  <a:srgbClr val="FF3F6C"/>
                </a:solidFill>
              </a:defRPr>
            </a:pPr>
            <a:r>
              <a:rPr lang="en-US" sz="1600" dirty="0"/>
              <a:t>      </a:t>
            </a:r>
            <a:r>
              <a:rPr sz="1600" dirty="0"/>
              <a:t>Full-stack client architecture and 4-step ML inference pipeline validating sub-180ms interaction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7291" y="1469079"/>
            <a:ext cx="11697417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3941" y="1523943"/>
            <a:ext cx="11464111" cy="1353312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dirty="0"/>
              <a:t>🏗️ </a:t>
            </a:r>
            <a:r>
              <a:rPr u="sng" dirty="0"/>
              <a:t>TECHNICAL ARCHITECTURE PIPELINE (LATENCY &lt;180ms)</a:t>
            </a:r>
          </a:p>
          <a:p>
            <a:pPr>
              <a:lnSpc>
                <a:spcPct val="115000"/>
              </a:lnSpc>
              <a:defRPr sz="1400"/>
            </a:pPr>
            <a:r>
              <a:rPr b="1" dirty="0">
                <a:solidFill>
                  <a:srgbClr val="FF3F6C"/>
                </a:solidFill>
              </a:rPr>
              <a:t>[1. Event Trigger]: </a:t>
            </a:r>
            <a:r>
              <a:rPr dirty="0">
                <a:solidFill>
                  <a:srgbClr val="282C3F"/>
                </a:solidFill>
              </a:rPr>
              <a:t>Frontend fires payload on </a:t>
            </a:r>
            <a:r>
              <a:rPr dirty="0" err="1">
                <a:solidFill>
                  <a:srgbClr val="282C3F"/>
                </a:solidFill>
              </a:rPr>
              <a:t>wishlist</a:t>
            </a:r>
            <a:r>
              <a:rPr dirty="0">
                <a:solidFill>
                  <a:srgbClr val="282C3F"/>
                </a:solidFill>
              </a:rPr>
              <a:t> view containing saved product IDs, timestamp, and category. → </a:t>
            </a:r>
            <a:r>
              <a:rPr b="1" dirty="0">
                <a:solidFill>
                  <a:srgbClr val="FF3F6C"/>
                </a:solidFill>
              </a:rPr>
              <a:t>[2. Inference Engine]: </a:t>
            </a:r>
            <a:r>
              <a:rPr dirty="0">
                <a:solidFill>
                  <a:srgbClr val="282C3F"/>
                </a:solidFill>
              </a:rPr>
              <a:t>Review NLP normalizes fabric GSM weight, fit consensus %, and return friction score from 20k reviews. → </a:t>
            </a:r>
            <a:r>
              <a:rPr b="1" dirty="0">
                <a:solidFill>
                  <a:srgbClr val="FF3F6C"/>
                </a:solidFill>
              </a:rPr>
              <a:t>[3. Constrained Catalog]: </a:t>
            </a:r>
            <a:r>
              <a:rPr dirty="0">
                <a:solidFill>
                  <a:srgbClr val="282C3F"/>
                </a:solidFill>
              </a:rPr>
              <a:t>Maps item to pre-approved, high-margin styling catalog for complete 3-piece look builder. → </a:t>
            </a:r>
            <a:r>
              <a:rPr b="1" dirty="0">
                <a:solidFill>
                  <a:srgbClr val="FF3F6C"/>
                </a:solidFill>
              </a:rPr>
              <a:t>[4. Real-time UI Render]: </a:t>
            </a:r>
            <a:r>
              <a:rPr dirty="0">
                <a:solidFill>
                  <a:srgbClr val="282C3F"/>
                </a:solidFill>
              </a:rPr>
              <a:t>Returns clean JSON payload and renders interactive Spec Matrix and WhatsApp Poll card in &lt;180ms.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4874" y="3048632"/>
            <a:ext cx="3566160" cy="3766235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5536" y="3201264"/>
            <a:ext cx="3419856" cy="1044388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📱 1. </a:t>
            </a:r>
            <a:r>
              <a:rPr sz="1400" u="sng" dirty="0"/>
              <a:t>Side-by-Side Spec Matrix</a:t>
            </a:r>
          </a:p>
          <a:p>
            <a:pPr>
              <a:lnSpc>
                <a:spcPct val="112000"/>
              </a:lnSpc>
              <a:spcAft>
                <a:spcPts val="200"/>
              </a:spcAft>
              <a:defRPr sz="1400"/>
            </a:pPr>
            <a:r>
              <a:rPr sz="1400" dirty="0">
                <a:solidFill>
                  <a:srgbClr val="282C3F"/>
                </a:solidFill>
              </a:rPr>
              <a:t>Compare fabric GSM (240 vs 160 GSM), fit consensus (88% True to Size), and real buyer photos side-by-side.</a:t>
            </a:r>
          </a:p>
        </p:txBody>
      </p:sp>
      <p:pic>
        <p:nvPicPr>
          <p:cNvPr id="9" name="Picture 8" descr="01_Figma_Mobile_Spec_Comparis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5751" y="4243968"/>
            <a:ext cx="1535511" cy="24597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387338" y="3048633"/>
            <a:ext cx="3566160" cy="3766234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18000" y="3201264"/>
            <a:ext cx="3419856" cy="1044388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📱 2. </a:t>
            </a:r>
            <a:r>
              <a:rPr sz="1400" u="sng" dirty="0"/>
              <a:t>AI Outfit Coordinator</a:t>
            </a:r>
          </a:p>
          <a:p>
            <a:pPr>
              <a:lnSpc>
                <a:spcPct val="112000"/>
              </a:lnSpc>
              <a:spcAft>
                <a:spcPts val="200"/>
              </a:spcAft>
              <a:defRPr sz="1400"/>
            </a:pPr>
            <a:r>
              <a:rPr sz="1400" dirty="0">
                <a:solidFill>
                  <a:srgbClr val="282C3F"/>
                </a:solidFill>
              </a:rPr>
              <a:t>Generates 3 curated complete looks per item (Tee + Cargo + Sneakers + Bag) with 1-tap add to bag.</a:t>
            </a:r>
          </a:p>
        </p:txBody>
      </p:sp>
      <p:pic>
        <p:nvPicPr>
          <p:cNvPr id="12" name="Picture 11" descr="02_Figma_Mobile_AI_Outfit_Coordin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2137" y="4232466"/>
            <a:ext cx="1531534" cy="245973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040298" y="3048633"/>
            <a:ext cx="3625664" cy="3766234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30464" y="3201264"/>
            <a:ext cx="3419856" cy="1044388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📱 3. </a:t>
            </a:r>
            <a:r>
              <a:rPr sz="1400" u="sng" dirty="0"/>
              <a:t>1-Tap WhatsApp Poll</a:t>
            </a:r>
          </a:p>
          <a:p>
            <a:pPr>
              <a:lnSpc>
                <a:spcPct val="112000"/>
              </a:lnSpc>
              <a:spcAft>
                <a:spcPts val="200"/>
              </a:spcAft>
              <a:defRPr sz="1400"/>
            </a:pPr>
            <a:r>
              <a:rPr sz="1400" dirty="0">
                <a:solidFill>
                  <a:srgbClr val="282C3F"/>
                </a:solidFill>
              </a:rPr>
              <a:t>Generates interactive Option A vs B voting card with 2-second AI consensus fallback (78% agreement).</a:t>
            </a:r>
          </a:p>
        </p:txBody>
      </p:sp>
      <p:pic>
        <p:nvPicPr>
          <p:cNvPr id="15" name="Picture 14" descr="03_Figma_Mobile_WhatsApp_Voting_Card.png"/>
          <p:cNvPicPr>
            <a:picLocks noChangeAspect="1"/>
          </p:cNvPicPr>
          <p:nvPr/>
        </p:nvPicPr>
        <p:blipFill>
          <a:blip r:embed="rId4"/>
          <a:srcRect r="2659" b="31954"/>
          <a:stretch>
            <a:fillRect/>
          </a:stretch>
        </p:blipFill>
        <p:spPr>
          <a:xfrm>
            <a:off x="9035145" y="4226715"/>
            <a:ext cx="1529339" cy="2459735"/>
          </a:xfrm>
          <a:prstGeom prst="rect">
            <a:avLst/>
          </a:prstGeom>
        </p:spPr>
      </p:pic>
      <p:pic>
        <p:nvPicPr>
          <p:cNvPr id="17" name="Picture 16" descr="Myntra Logo in Vector Format | Party font, Velvet dress ...">
            <a:extLst>
              <a:ext uri="{FF2B5EF4-FFF2-40B4-BE49-F238E27FC236}">
                <a16:creationId xmlns:a16="http://schemas.microsoft.com/office/drawing/2014/main" id="{621913FC-93B0-D448-BE76-366AC0FC168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5750" r="2278" b="33850"/>
          <a:stretch>
            <a:fillRect/>
          </a:stretch>
        </p:blipFill>
        <p:spPr>
          <a:xfrm>
            <a:off x="10800272" y="138030"/>
            <a:ext cx="1276688" cy="397152"/>
          </a:xfrm>
          <a:prstGeom prst="rect">
            <a:avLst/>
          </a:prstGeom>
        </p:spPr>
      </p:pic>
      <p:pic>
        <p:nvPicPr>
          <p:cNvPr id="19" name="Picture 18" descr="File:Chain link icon slanted.png - Wikimedia Commons">
            <a:hlinkClick r:id="rId6"/>
            <a:extLst>
              <a:ext uri="{FF2B5EF4-FFF2-40B4-BE49-F238E27FC236}">
                <a16:creationId xmlns:a16="http://schemas.microsoft.com/office/drawing/2014/main" id="{8EECC407-9BB2-7FED-1505-DBA3A4F4A994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16200000" flipV="1">
            <a:off x="11569959" y="1322504"/>
            <a:ext cx="434070" cy="43208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666847" y="164592"/>
            <a:ext cx="6858000" cy="384048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</a:defRPr>
            </a:pPr>
            <a:r>
              <a:rPr sz="1600" dirty="0"/>
              <a:t>SUCCESS METRICS, GUARDRAILS &amp; A/B EXPERIMENTATION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743886"/>
            <a:ext cx="12192000" cy="54373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282C3F"/>
                </a:solidFill>
              </a:defRPr>
            </a:pPr>
            <a:r>
              <a:rPr lang="en-US" sz="1600" dirty="0"/>
              <a:t> </a:t>
            </a:r>
            <a:r>
              <a:rPr sz="1600" dirty="0"/>
              <a:t>9. Success Metrics Hierarchy: 200,000-User RCT Validating +300bps Conversion and Return Guardrails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1">
                <a:solidFill>
                  <a:srgbClr val="FF3F6C"/>
                </a:solidFill>
              </a:defRPr>
            </a:pPr>
            <a:r>
              <a:rPr lang="en-US" sz="1600" dirty="0"/>
              <a:t>     </a:t>
            </a:r>
            <a:r>
              <a:rPr sz="1600" dirty="0"/>
              <a:t>Comprehensive metric hierarchy with operational guardrails, Amplitude telemetry schema, and kill thresholds.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6217920" cy="519379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5333" y="1881540"/>
            <a:ext cx="5998464" cy="3303277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🎯 </a:t>
            </a:r>
            <a:r>
              <a:rPr sz="1400" u="sng" dirty="0"/>
              <a:t>SUCCESS METRICS HIERARCHY</a:t>
            </a:r>
          </a:p>
          <a:p>
            <a:pPr marL="463550" indent="-285750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  <a:buClr>
                <a:srgbClr val="FF3F6C"/>
              </a:buClr>
              <a:buFont typeface="Arial" panose="020B0604020202020204" pitchFamily="34" charset="0"/>
              <a:buChar char="•"/>
              <a:defRPr sz="1400"/>
            </a:pPr>
            <a:r>
              <a:rPr sz="1400" b="1" dirty="0">
                <a:solidFill>
                  <a:srgbClr val="FF3F6C"/>
                </a:solidFill>
              </a:rPr>
              <a:t>[North Star (Primary)] </a:t>
            </a:r>
            <a:r>
              <a:rPr sz="1400" b="1" dirty="0">
                <a:solidFill>
                  <a:srgbClr val="282C3F"/>
                </a:solidFill>
              </a:rPr>
              <a:t>30-Day Wishlist-to-Purchase Conversion Rate: </a:t>
            </a:r>
            <a:r>
              <a:rPr sz="1400" b="1" dirty="0">
                <a:solidFill>
                  <a:srgbClr val="03A685"/>
                </a:solidFill>
              </a:rPr>
              <a:t>Baseline: 7.5% → Target: 10.5% (+300bps) [Myntra analytics est.] </a:t>
            </a:r>
            <a:r>
              <a:rPr sz="1400" dirty="0">
                <a:solidFill>
                  <a:srgbClr val="535766"/>
                </a:solidFill>
              </a:rPr>
              <a:t>(Drive recurring non-discounted buying &amp; LTV.)</a:t>
            </a:r>
          </a:p>
          <a:p>
            <a:pPr marL="463550" indent="-285750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  <a:buClr>
                <a:srgbClr val="FF3F6C"/>
              </a:buClr>
              <a:buFont typeface="Arial" panose="020B0604020202020204" pitchFamily="34" charset="0"/>
              <a:buChar char="•"/>
              <a:defRPr sz="1400"/>
            </a:pPr>
            <a:r>
              <a:rPr sz="1400" b="1" dirty="0">
                <a:solidFill>
                  <a:srgbClr val="FF3F6C"/>
                </a:solidFill>
              </a:rPr>
              <a:t>[Secondary (Conversion)] </a:t>
            </a:r>
            <a:r>
              <a:rPr sz="1400" b="1" dirty="0">
                <a:solidFill>
                  <a:srgbClr val="282C3F"/>
                </a:solidFill>
              </a:rPr>
              <a:t>Spec Matrix Adoption &amp; AI Look Move-to-Bag: </a:t>
            </a:r>
            <a:r>
              <a:rPr sz="1400" b="1" dirty="0">
                <a:solidFill>
                  <a:srgbClr val="03A685"/>
                </a:solidFill>
              </a:rPr>
              <a:t>Matrix: ≥35% | AI Look: ≥22% Move-to-Bag </a:t>
            </a:r>
            <a:r>
              <a:rPr sz="1400" dirty="0">
                <a:solidFill>
                  <a:srgbClr val="535766"/>
                </a:solidFill>
              </a:rPr>
              <a:t>(Validate evaluation clarity &amp; AOV basket expansion.)</a:t>
            </a:r>
          </a:p>
          <a:p>
            <a:pPr marL="463550" indent="-285750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  <a:buClr>
                <a:srgbClr val="FF3F6C"/>
              </a:buClr>
              <a:buFont typeface="Arial" panose="020B0604020202020204" pitchFamily="34" charset="0"/>
              <a:buChar char="•"/>
              <a:defRPr sz="1400"/>
            </a:pPr>
            <a:r>
              <a:rPr sz="1400" b="1" dirty="0">
                <a:solidFill>
                  <a:srgbClr val="FF3F6C"/>
                </a:solidFill>
              </a:rPr>
              <a:t>[Guardrail 1 (Quality)] </a:t>
            </a:r>
            <a:r>
              <a:rPr sz="1400" b="1" dirty="0">
                <a:solidFill>
                  <a:srgbClr val="282C3F"/>
                </a:solidFill>
              </a:rPr>
              <a:t>Sizing &amp; Fit Return Rate: </a:t>
            </a:r>
            <a:r>
              <a:rPr sz="1400" b="1" dirty="0">
                <a:solidFill>
                  <a:srgbClr val="03A685"/>
                </a:solidFill>
              </a:rPr>
              <a:t>Baseline: 24% → Target: ≤18% (-600bps drop) </a:t>
            </a:r>
            <a:r>
              <a:rPr sz="1400" dirty="0">
                <a:solidFill>
                  <a:srgbClr val="535766"/>
                </a:solidFill>
              </a:rPr>
              <a:t>(Ensure GSM specs reduce reverse logistics waste.)</a:t>
            </a:r>
          </a:p>
          <a:p>
            <a:pPr marL="463550" indent="-285750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  <a:buClr>
                <a:srgbClr val="FF3F6C"/>
              </a:buClr>
              <a:buFont typeface="Arial" panose="020B0604020202020204" pitchFamily="34" charset="0"/>
              <a:buChar char="•"/>
              <a:defRPr sz="1400"/>
            </a:pPr>
            <a:r>
              <a:rPr sz="1400" b="1" dirty="0">
                <a:solidFill>
                  <a:srgbClr val="FF3F6C"/>
                </a:solidFill>
              </a:rPr>
              <a:t>[Guardrail 2 (System)] </a:t>
            </a:r>
            <a:r>
              <a:rPr sz="1400" b="1" dirty="0">
                <a:solidFill>
                  <a:srgbClr val="282C3F"/>
                </a:solidFill>
              </a:rPr>
              <a:t>p95 API Latency &amp; Margin Integrity Floor: </a:t>
            </a:r>
            <a:r>
              <a:rPr sz="1400" b="1" dirty="0">
                <a:solidFill>
                  <a:srgbClr val="03A685"/>
                </a:solidFill>
              </a:rPr>
              <a:t>Latency: &lt;300ms | Margin: 38% Gross Margin Floor </a:t>
            </a:r>
            <a:r>
              <a:rPr sz="1400" dirty="0">
                <a:solidFill>
                  <a:srgbClr val="535766"/>
                </a:solidFill>
              </a:rPr>
              <a:t>(Preserve sub-second UI speed &amp; zero discount erosion.)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417320"/>
            <a:ext cx="4647895" cy="5193792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2125" y="1881540"/>
            <a:ext cx="4465015" cy="3535648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FF3F6C"/>
                </a:solidFill>
              </a:defRPr>
            </a:pPr>
            <a:r>
              <a:rPr sz="1400" dirty="0"/>
              <a:t>🧪 </a:t>
            </a:r>
            <a:r>
              <a:rPr sz="1400" u="sng" dirty="0"/>
              <a:t>200,000-USER RCT A/B TESTING DESIGN</a:t>
            </a:r>
          </a:p>
          <a:p>
            <a:pPr marL="336550" indent="-285750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  <a:buClr>
                <a:srgbClr val="FF3F6C"/>
              </a:buClr>
              <a:buFont typeface="Arial" panose="020B0604020202020204" pitchFamily="34" charset="0"/>
              <a:buChar char="•"/>
              <a:defRPr sz="1400"/>
            </a:pPr>
            <a:r>
              <a:rPr sz="1400" b="1" dirty="0">
                <a:solidFill>
                  <a:srgbClr val="282C3F"/>
                </a:solidFill>
              </a:rPr>
              <a:t>Sample Size &amp; Power: </a:t>
            </a:r>
            <a:r>
              <a:rPr sz="1400" dirty="0">
                <a:solidFill>
                  <a:srgbClr val="282C3F"/>
                </a:solidFill>
              </a:rPr>
              <a:t>200,000 Active Wishlist Users (100k Control vs 100k Variant), 95% Confidence, 80% Statistical Power.</a:t>
            </a:r>
          </a:p>
          <a:p>
            <a:pPr marL="336550" indent="-285750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  <a:buClr>
                <a:srgbClr val="FF3F6C"/>
              </a:buClr>
              <a:buFont typeface="Arial" panose="020B0604020202020204" pitchFamily="34" charset="0"/>
              <a:buChar char="•"/>
              <a:defRPr sz="1400"/>
            </a:pPr>
            <a:r>
              <a:rPr sz="1400" b="1" dirty="0">
                <a:solidFill>
                  <a:srgbClr val="282C3F"/>
                </a:solidFill>
              </a:rPr>
              <a:t>Control vs Variant: </a:t>
            </a:r>
            <a:r>
              <a:rPr sz="1400" dirty="0">
                <a:solidFill>
                  <a:srgbClr val="282C3F"/>
                </a:solidFill>
              </a:rPr>
              <a:t>Control sees standard passive </a:t>
            </a:r>
            <a:r>
              <a:rPr sz="1400" dirty="0" err="1">
                <a:solidFill>
                  <a:srgbClr val="282C3F"/>
                </a:solidFill>
              </a:rPr>
              <a:t>wishlist</a:t>
            </a:r>
            <a:r>
              <a:rPr sz="1400" dirty="0">
                <a:solidFill>
                  <a:srgbClr val="282C3F"/>
                </a:solidFill>
              </a:rPr>
              <a:t>; Variant receives Wishlist Studio (Spec Matrix + Looks + Poll).</a:t>
            </a:r>
          </a:p>
          <a:p>
            <a:pPr marL="336550" indent="-285750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  <a:buClr>
                <a:srgbClr val="FF3F6C"/>
              </a:buClr>
              <a:buFont typeface="Arial" panose="020B0604020202020204" pitchFamily="34" charset="0"/>
              <a:buChar char="•"/>
              <a:defRPr sz="1400"/>
            </a:pPr>
            <a:r>
              <a:rPr sz="1400" b="1" dirty="0">
                <a:solidFill>
                  <a:srgbClr val="282C3F"/>
                </a:solidFill>
              </a:rPr>
              <a:t>Automated Kill Threshold 1: </a:t>
            </a:r>
            <a:r>
              <a:rPr sz="1400" dirty="0">
                <a:solidFill>
                  <a:srgbClr val="282C3F"/>
                </a:solidFill>
              </a:rPr>
              <a:t>If Spec Matrix adoption &lt; 15% at Day 30 → pause rollout and refine top 5 category spec schemas.</a:t>
            </a:r>
          </a:p>
          <a:p>
            <a:pPr marL="336550" indent="-285750">
              <a:lnSpc>
                <a:spcPct val="115000"/>
              </a:lnSpc>
              <a:spcBef>
                <a:spcPts val="200"/>
              </a:spcBef>
              <a:spcAft>
                <a:spcPts val="300"/>
              </a:spcAft>
              <a:buClr>
                <a:srgbClr val="FF3F6C"/>
              </a:buClr>
              <a:buFont typeface="Arial" panose="020B0604020202020204" pitchFamily="34" charset="0"/>
              <a:buChar char="•"/>
              <a:defRPr sz="1400"/>
            </a:pPr>
            <a:r>
              <a:rPr sz="1400" b="1" dirty="0">
                <a:solidFill>
                  <a:srgbClr val="282C3F"/>
                </a:solidFill>
              </a:rPr>
              <a:t>Automated Kill Threshold 2: </a:t>
            </a:r>
            <a:r>
              <a:rPr sz="1400" dirty="0">
                <a:solidFill>
                  <a:srgbClr val="282C3F"/>
                </a:solidFill>
              </a:rPr>
              <a:t>If Return Rate exceeds 24% or p95 latency &gt; 800ms → automated circuit breaker rolls back within 60s.</a:t>
            </a:r>
          </a:p>
        </p:txBody>
      </p:sp>
      <p:pic>
        <p:nvPicPr>
          <p:cNvPr id="10" name="Picture 9" descr="Myntra Logo in Vector Format | Party font, Velvet dress ...">
            <a:extLst>
              <a:ext uri="{FF2B5EF4-FFF2-40B4-BE49-F238E27FC236}">
                <a16:creationId xmlns:a16="http://schemas.microsoft.com/office/drawing/2014/main" id="{14CFCCE4-9FDA-0458-1525-C2442D670F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750" r="2278" b="33850"/>
          <a:stretch>
            <a:fillRect/>
          </a:stretch>
        </p:blipFill>
        <p:spPr>
          <a:xfrm>
            <a:off x="10800272" y="138030"/>
            <a:ext cx="1276688" cy="3971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666847" y="164592"/>
            <a:ext cx="6858000" cy="384048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18288" bIns="18288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</a:defRPr>
            </a:pPr>
            <a:r>
              <a:rPr sz="1600"/>
              <a:t>PITFALLS, MITIGATIONS &amp; PHASED ROLLOUT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709380"/>
            <a:ext cx="12192000" cy="54373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800" b="1">
                <a:solidFill>
                  <a:srgbClr val="282C3F"/>
                </a:solidFill>
              </a:defRPr>
            </a:pPr>
            <a:r>
              <a:rPr lang="en-US" sz="1600" dirty="0"/>
              <a:t> </a:t>
            </a:r>
            <a:r>
              <a:rPr sz="1600" dirty="0"/>
              <a:t>10. Pitfalls, Mitigations, and Phased GTM Rollout: Delivering ₹18.81 Cr Profit with 60-Second Circuit Breakers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400" b="1">
                <a:solidFill>
                  <a:srgbClr val="FF3F6C"/>
                </a:solidFill>
              </a:defRPr>
            </a:pPr>
            <a:r>
              <a:rPr lang="en-US" sz="1600" dirty="0"/>
              <a:t>        </a:t>
            </a:r>
            <a:r>
              <a:rPr sz="1600" dirty="0"/>
              <a:t>Risk mitigation matrix and 3-phase rollout roadmap with explicit success gates and automated safeguards.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356616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67512" y="1610208"/>
            <a:ext cx="3419856" cy="1588384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dirty="0"/>
              <a:t>⚠️ </a:t>
            </a:r>
            <a:r>
              <a:rPr u="sng" dirty="0"/>
              <a:t>Vendor GSM Data Gaps</a:t>
            </a:r>
          </a:p>
          <a:p>
            <a:pPr marL="127000" indent="0">
              <a:lnSpc>
                <a:spcPct val="114000"/>
              </a:lnSpc>
              <a:spcAft>
                <a:spcPts val="200"/>
              </a:spcAft>
              <a:defRPr sz="1400"/>
            </a:pPr>
            <a:r>
              <a:rPr b="1" dirty="0">
                <a:solidFill>
                  <a:srgbClr val="282C3F"/>
                </a:solidFill>
              </a:rPr>
              <a:t>Pitfall: </a:t>
            </a:r>
            <a:r>
              <a:rPr dirty="0">
                <a:solidFill>
                  <a:srgbClr val="282C3F"/>
                </a:solidFill>
              </a:rPr>
              <a:t>Missing or inaccurate fabric GSM specifications from tier-2 apparel vendors.</a:t>
            </a:r>
          </a:p>
          <a:p>
            <a:pPr marL="127000" indent="0">
              <a:lnSpc>
                <a:spcPct val="114000"/>
              </a:lnSpc>
              <a:spcAft>
                <a:spcPts val="0"/>
              </a:spcAft>
              <a:defRPr sz="1400"/>
            </a:pPr>
            <a:r>
              <a:rPr b="1" dirty="0">
                <a:solidFill>
                  <a:srgbClr val="03A685"/>
                </a:solidFill>
              </a:rPr>
              <a:t>Mitigation: </a:t>
            </a:r>
            <a:r>
              <a:rPr dirty="0">
                <a:solidFill>
                  <a:srgbClr val="282C3F"/>
                </a:solidFill>
              </a:rPr>
              <a:t>Heuristic textile weave model infers GSM from fabric composition and yarn density with 94% accuracy.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6824" y="1417320"/>
            <a:ext cx="356616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379976" y="1610208"/>
            <a:ext cx="3419856" cy="1833964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dirty="0"/>
              <a:t>⚠️ </a:t>
            </a:r>
            <a:r>
              <a:rPr u="sng" dirty="0"/>
              <a:t>Social Polling Latency</a:t>
            </a:r>
          </a:p>
          <a:p>
            <a:pPr marL="127000" indent="0">
              <a:lnSpc>
                <a:spcPct val="114000"/>
              </a:lnSpc>
              <a:spcAft>
                <a:spcPts val="200"/>
              </a:spcAft>
              <a:defRPr sz="1400"/>
            </a:pPr>
            <a:r>
              <a:rPr b="1" dirty="0">
                <a:solidFill>
                  <a:srgbClr val="282C3F"/>
                </a:solidFill>
              </a:rPr>
              <a:t>Pitfall: </a:t>
            </a:r>
            <a:r>
              <a:rPr dirty="0">
                <a:solidFill>
                  <a:srgbClr val="282C3F"/>
                </a:solidFill>
              </a:rPr>
              <a:t>Friends take hours to vote on WhatsApp, causing shopping momentum to decay.</a:t>
            </a:r>
          </a:p>
          <a:p>
            <a:pPr marL="127000" indent="0">
              <a:lnSpc>
                <a:spcPct val="114000"/>
              </a:lnSpc>
              <a:spcAft>
                <a:spcPts val="0"/>
              </a:spcAft>
              <a:defRPr sz="1400"/>
            </a:pPr>
            <a:r>
              <a:rPr b="1" dirty="0">
                <a:solidFill>
                  <a:srgbClr val="03A685"/>
                </a:solidFill>
              </a:rPr>
              <a:t>Mitigation: </a:t>
            </a:r>
            <a:r>
              <a:rPr dirty="0">
                <a:solidFill>
                  <a:srgbClr val="282C3F"/>
                </a:solidFill>
              </a:rPr>
              <a:t>2-Second Instant AI Consensus Backup surfaces community agreement ('78% Choice') to unblock purchase.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9288" y="1417320"/>
            <a:ext cx="3566160" cy="2514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1610208"/>
            <a:ext cx="3419856" cy="1833964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u="sng" dirty="0"/>
              <a:t>⚠️ Sizing &amp; Fit Return Spikes</a:t>
            </a:r>
          </a:p>
          <a:p>
            <a:pPr marL="127000" indent="0">
              <a:lnSpc>
                <a:spcPct val="114000"/>
              </a:lnSpc>
              <a:spcAft>
                <a:spcPts val="200"/>
              </a:spcAft>
              <a:defRPr sz="1400"/>
            </a:pPr>
            <a:r>
              <a:rPr b="1" dirty="0">
                <a:solidFill>
                  <a:srgbClr val="282C3F"/>
                </a:solidFill>
              </a:rPr>
              <a:t>Pitfall: </a:t>
            </a:r>
            <a:r>
              <a:rPr dirty="0">
                <a:solidFill>
                  <a:srgbClr val="282C3F"/>
                </a:solidFill>
              </a:rPr>
              <a:t>Users misinterpret baggy fit ratings leading to unexpected reverse logistics costs.</a:t>
            </a:r>
          </a:p>
          <a:p>
            <a:pPr marL="127000" indent="0">
              <a:lnSpc>
                <a:spcPct val="114000"/>
              </a:lnSpc>
              <a:spcAft>
                <a:spcPts val="0"/>
              </a:spcAft>
              <a:defRPr sz="1400"/>
            </a:pPr>
            <a:r>
              <a:rPr b="1" dirty="0">
                <a:solidFill>
                  <a:srgbClr val="03A685"/>
                </a:solidFill>
              </a:rPr>
              <a:t>Mitigation: </a:t>
            </a:r>
            <a:r>
              <a:rPr dirty="0">
                <a:solidFill>
                  <a:srgbClr val="282C3F"/>
                </a:solidFill>
              </a:rPr>
              <a:t>Zero-Risk Fit Guarantee + Verified Buyer Drape Photos + Automated 60-second rollback circuit breaker.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4096512"/>
            <a:ext cx="3566160" cy="2514600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" y="4289400"/>
            <a:ext cx="3419856" cy="1859612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u="sng" dirty="0"/>
              <a:t>🚀 Phase 1 - Beta (30 Days)</a:t>
            </a:r>
          </a:p>
          <a:p>
            <a:pPr marL="127000" indent="0">
              <a:lnSpc>
                <a:spcPct val="114000"/>
              </a:lnSpc>
              <a:spcAft>
                <a:spcPts val="200"/>
              </a:spcAft>
              <a:defRPr sz="1400"/>
            </a:pPr>
            <a:r>
              <a:rPr b="1" dirty="0">
                <a:solidFill>
                  <a:srgbClr val="282C3F"/>
                </a:solidFill>
              </a:rPr>
              <a:t>Target: </a:t>
            </a:r>
            <a:r>
              <a:rPr dirty="0">
                <a:solidFill>
                  <a:srgbClr val="282C3F"/>
                </a:solidFill>
              </a:rPr>
              <a:t>Top 20 Apparel Brands in Bengaluru &amp; Mumbai.</a:t>
            </a:r>
          </a:p>
          <a:p>
            <a:pPr marL="127000" indent="0">
              <a:lnSpc>
                <a:spcPct val="114000"/>
              </a:lnSpc>
              <a:spcAft>
                <a:spcPts val="200"/>
              </a:spcAft>
              <a:defRPr sz="1400"/>
            </a:pPr>
            <a:r>
              <a:rPr b="1" dirty="0">
                <a:solidFill>
                  <a:srgbClr val="282C3F"/>
                </a:solidFill>
              </a:rPr>
              <a:t>Scope: </a:t>
            </a:r>
            <a:r>
              <a:rPr dirty="0">
                <a:solidFill>
                  <a:srgbClr val="282C3F"/>
                </a:solidFill>
              </a:rPr>
              <a:t>Spec Matrix + WhatsApp Voting active for baskets &gt; ₹1,000.</a:t>
            </a:r>
          </a:p>
          <a:p>
            <a:pPr marL="127000" indent="0">
              <a:lnSpc>
                <a:spcPct val="114000"/>
              </a:lnSpc>
              <a:spcAft>
                <a:spcPts val="0"/>
              </a:spcAft>
              <a:defRPr sz="1400"/>
            </a:pPr>
            <a:r>
              <a:rPr b="1" dirty="0">
                <a:solidFill>
                  <a:srgbClr val="03A685"/>
                </a:solidFill>
              </a:rPr>
              <a:t>Gate: </a:t>
            </a:r>
            <a:r>
              <a:rPr dirty="0">
                <a:solidFill>
                  <a:srgbClr val="282C3F"/>
                </a:solidFill>
              </a:rPr>
              <a:t>Matrix Adoption ≥ 30% | Checkout Friction &lt; 2% drop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6824" y="4096512"/>
            <a:ext cx="3566160" cy="2514600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79976" y="4289400"/>
            <a:ext cx="3419856" cy="1859612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dirty="0"/>
              <a:t>🚀 </a:t>
            </a:r>
            <a:r>
              <a:rPr u="sng" dirty="0"/>
              <a:t>Phase 2 - Metro Rollout (90 Days)</a:t>
            </a:r>
          </a:p>
          <a:p>
            <a:pPr marL="127000" indent="0">
              <a:lnSpc>
                <a:spcPct val="114000"/>
              </a:lnSpc>
              <a:spcAft>
                <a:spcPts val="200"/>
              </a:spcAft>
              <a:defRPr sz="1400"/>
            </a:pPr>
            <a:r>
              <a:rPr b="1" dirty="0">
                <a:solidFill>
                  <a:srgbClr val="282C3F"/>
                </a:solidFill>
              </a:rPr>
              <a:t>Target: </a:t>
            </a:r>
            <a:r>
              <a:rPr dirty="0">
                <a:solidFill>
                  <a:srgbClr val="282C3F"/>
                </a:solidFill>
              </a:rPr>
              <a:t>Top 500 Brands across all Tier-1 Metros.</a:t>
            </a:r>
          </a:p>
          <a:p>
            <a:pPr marL="127000" indent="0">
              <a:lnSpc>
                <a:spcPct val="114000"/>
              </a:lnSpc>
              <a:spcAft>
                <a:spcPts val="200"/>
              </a:spcAft>
              <a:defRPr sz="1400"/>
            </a:pPr>
            <a:r>
              <a:rPr b="1" dirty="0">
                <a:solidFill>
                  <a:srgbClr val="282C3F"/>
                </a:solidFill>
              </a:rPr>
              <a:t>Scope: </a:t>
            </a:r>
            <a:r>
              <a:rPr dirty="0">
                <a:solidFill>
                  <a:srgbClr val="282C3F"/>
                </a:solidFill>
              </a:rPr>
              <a:t>AI Look Coordinator active; 500+ vendor catalogs onboarded.</a:t>
            </a:r>
          </a:p>
          <a:p>
            <a:pPr marL="127000" indent="0">
              <a:lnSpc>
                <a:spcPct val="114000"/>
              </a:lnSpc>
              <a:spcAft>
                <a:spcPts val="0"/>
              </a:spcAft>
              <a:defRPr sz="1400"/>
            </a:pPr>
            <a:r>
              <a:rPr b="1" dirty="0">
                <a:solidFill>
                  <a:srgbClr val="03A685"/>
                </a:solidFill>
              </a:rPr>
              <a:t>Gate: </a:t>
            </a:r>
            <a:r>
              <a:rPr dirty="0">
                <a:solidFill>
                  <a:srgbClr val="282C3F"/>
                </a:solidFill>
              </a:rPr>
              <a:t>AI Look Move-to-Bag ≥ 22% | Conversion Lift ≥ +200bps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9288" y="4096512"/>
            <a:ext cx="3566160" cy="2514600"/>
          </a:xfrm>
          <a:prstGeom prst="roundRect">
            <a:avLst/>
          </a:prstGeom>
          <a:solidFill>
            <a:srgbClr val="FFF0F4"/>
          </a:solidFill>
          <a:ln w="1905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92440" y="4289400"/>
            <a:ext cx="3419856" cy="2090444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>
              <a:spcAft>
                <a:spcPts val="200"/>
              </a:spcAft>
              <a:defRPr sz="1500" b="1">
                <a:solidFill>
                  <a:srgbClr val="FF3F6C"/>
                </a:solidFill>
              </a:defRPr>
            </a:pPr>
            <a:r>
              <a:rPr dirty="0"/>
              <a:t>🚀 </a:t>
            </a:r>
            <a:r>
              <a:rPr u="sng" dirty="0"/>
              <a:t>Phase 3 - General Availability (180 Days)</a:t>
            </a:r>
          </a:p>
          <a:p>
            <a:pPr marL="127000" indent="0">
              <a:lnSpc>
                <a:spcPct val="114000"/>
              </a:lnSpc>
              <a:spcAft>
                <a:spcPts val="200"/>
              </a:spcAft>
              <a:defRPr sz="1400"/>
            </a:pPr>
            <a:r>
              <a:rPr b="1" dirty="0">
                <a:solidFill>
                  <a:srgbClr val="282C3F"/>
                </a:solidFill>
              </a:rPr>
              <a:t>Target: </a:t>
            </a:r>
            <a:r>
              <a:rPr dirty="0">
                <a:solidFill>
                  <a:srgbClr val="282C3F"/>
                </a:solidFill>
              </a:rPr>
              <a:t>100% Rollout across all 10M Wishlist MAU.</a:t>
            </a:r>
          </a:p>
          <a:p>
            <a:pPr marL="127000" indent="0">
              <a:lnSpc>
                <a:spcPct val="114000"/>
              </a:lnSpc>
              <a:spcAft>
                <a:spcPts val="200"/>
              </a:spcAft>
              <a:defRPr sz="1400"/>
            </a:pPr>
            <a:r>
              <a:rPr b="1" dirty="0">
                <a:solidFill>
                  <a:srgbClr val="282C3F"/>
                </a:solidFill>
              </a:rPr>
              <a:t>Scope: </a:t>
            </a:r>
            <a:r>
              <a:rPr dirty="0">
                <a:solidFill>
                  <a:srgbClr val="282C3F"/>
                </a:solidFill>
              </a:rPr>
              <a:t>Full catalog unlocked; Horizon 2 Occasion Auto-Folders live.</a:t>
            </a:r>
          </a:p>
          <a:p>
            <a:pPr marL="127000" indent="0">
              <a:lnSpc>
                <a:spcPct val="114000"/>
              </a:lnSpc>
              <a:spcAft>
                <a:spcPts val="0"/>
              </a:spcAft>
              <a:defRPr sz="1400"/>
            </a:pPr>
            <a:r>
              <a:rPr b="1" dirty="0">
                <a:solidFill>
                  <a:srgbClr val="03A685"/>
                </a:solidFill>
              </a:rPr>
              <a:t>Gate: </a:t>
            </a:r>
            <a:r>
              <a:rPr dirty="0">
                <a:solidFill>
                  <a:srgbClr val="282C3F"/>
                </a:solidFill>
              </a:rPr>
              <a:t>NSM: 10.5% Conversion (+300bps) | Gross Profit: +₹18.81 Cr/</a:t>
            </a:r>
            <a:r>
              <a:rPr dirty="0" err="1">
                <a:solidFill>
                  <a:srgbClr val="282C3F"/>
                </a:solidFill>
              </a:rPr>
              <a:t>mo</a:t>
            </a:r>
            <a:endParaRPr dirty="0">
              <a:solidFill>
                <a:srgbClr val="282C3F"/>
              </a:solidFill>
            </a:endParaRPr>
          </a:p>
        </p:txBody>
      </p:sp>
      <p:pic>
        <p:nvPicPr>
          <p:cNvPr id="18" name="Picture 17" descr="Myntra Logo in Vector Format | Party font, Velvet dress ...">
            <a:extLst>
              <a:ext uri="{FF2B5EF4-FFF2-40B4-BE49-F238E27FC236}">
                <a16:creationId xmlns:a16="http://schemas.microsoft.com/office/drawing/2014/main" id="{8A0E9085-29DA-7E64-214B-8367F8D729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750" r="2278" b="33850"/>
          <a:stretch>
            <a:fillRect/>
          </a:stretch>
        </p:blipFill>
        <p:spPr>
          <a:xfrm>
            <a:off x="10800272" y="138030"/>
            <a:ext cx="1276688" cy="3971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3034</Words>
  <Application>Microsoft Office PowerPoint</Application>
  <PresentationFormat>Widescreen</PresentationFormat>
  <Paragraphs>175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Akhya Shukla</cp:lastModifiedBy>
  <cp:revision>61</cp:revision>
  <dcterms:created xsi:type="dcterms:W3CDTF">2013-01-27T09:14:16Z</dcterms:created>
  <dcterms:modified xsi:type="dcterms:W3CDTF">2026-09-05T09:40:11Z</dcterms:modified>
  <cp:category/>
</cp:coreProperties>
</file>